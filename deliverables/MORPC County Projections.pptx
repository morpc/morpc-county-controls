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theme/themeOverride1.xml" ContentType="application/vnd.openxmlformats-officedocument.themeOverride+xml"/>
  <Override PartName="/ppt/charts/chart2.xml" ContentType="application/vnd.openxmlformats-officedocument.drawingml.chart+xml"/>
  <Override PartName="/ppt/theme/themeOverride2.xml" ContentType="application/vnd.openxmlformats-officedocument.themeOverride+xml"/>
  <Override PartName="/ppt/charts/chart3.xml" ContentType="application/vnd.openxmlformats-officedocument.drawingml.chart+xml"/>
  <Override PartName="/ppt/theme/themeOverride3.xml" ContentType="application/vnd.openxmlformats-officedocument.themeOverride+xml"/>
  <Override PartName="/ppt/charts/chart4.xml" ContentType="application/vnd.openxmlformats-officedocument.drawingml.chart+xml"/>
  <Override PartName="/ppt/theme/themeOverride4.xml" ContentType="application/vnd.openxmlformats-officedocument.themeOverride+xml"/>
  <Override PartName="/ppt/charts/chart5.xml" ContentType="application/vnd.openxmlformats-officedocument.drawingml.chart+xml"/>
  <Override PartName="/ppt/theme/themeOverride5.xml" ContentType="application/vnd.openxmlformats-officedocument.themeOverride+xml"/>
  <Override PartName="/ppt/charts/chart6.xml" ContentType="application/vnd.openxmlformats-officedocument.drawingml.chart+xml"/>
  <Override PartName="/ppt/theme/themeOverride6.xml" ContentType="application/vnd.openxmlformats-officedocument.themeOverride+xml"/>
  <Override PartName="/ppt/charts/chart7.xml" ContentType="application/vnd.openxmlformats-officedocument.drawingml.chart+xml"/>
  <Override PartName="/ppt/theme/themeOverride7.xml" ContentType="application/vnd.openxmlformats-officedocument.themeOverride+xml"/>
  <Override PartName="/ppt/charts/chart8.xml" ContentType="application/vnd.openxmlformats-officedocument.drawingml.chart+xml"/>
  <Override PartName="/ppt/theme/themeOverride8.xml" ContentType="application/vnd.openxmlformats-officedocument.themeOverride+xml"/>
  <Override PartName="/ppt/charts/chart9.xml" ContentType="application/vnd.openxmlformats-officedocument.drawingml.chart+xml"/>
  <Override PartName="/ppt/theme/themeOverride9.xml" ContentType="application/vnd.openxmlformats-officedocument.themeOverride+xml"/>
  <Override PartName="/ppt/charts/chart10.xml" ContentType="application/vnd.openxmlformats-officedocument.drawingml.chart+xml"/>
  <Override PartName="/ppt/theme/themeOverride10.xml" ContentType="application/vnd.openxmlformats-officedocument.themeOverride+xml"/>
  <Override PartName="/ppt/charts/chart11.xml" ContentType="application/vnd.openxmlformats-officedocument.drawingml.chart+xml"/>
  <Override PartName="/ppt/theme/themeOverride11.xml" ContentType="application/vnd.openxmlformats-officedocument.themeOverride+xml"/>
  <Override PartName="/ppt/charts/chart12.xml" ContentType="application/vnd.openxmlformats-officedocument.drawingml.chart+xml"/>
  <Override PartName="/ppt/theme/themeOverride12.xml" ContentType="application/vnd.openxmlformats-officedocument.themeOverride+xml"/>
  <Override PartName="/ppt/charts/chart13.xml" ContentType="application/vnd.openxmlformats-officedocument.drawingml.chart+xml"/>
  <Override PartName="/ppt/theme/themeOverride13.xml" ContentType="application/vnd.openxmlformats-officedocument.themeOverride+xml"/>
  <Override PartName="/ppt/charts/chart14.xml" ContentType="application/vnd.openxmlformats-officedocument.drawingml.chart+xml"/>
  <Override PartName="/ppt/theme/themeOverride14.xml" ContentType="application/vnd.openxmlformats-officedocument.themeOverride+xml"/>
  <Override PartName="/ppt/charts/chart15.xml" ContentType="application/vnd.openxmlformats-officedocument.drawingml.chart+xml"/>
  <Override PartName="/ppt/theme/themeOverride15.xml" ContentType="application/vnd.openxmlformats-officedocument.themeOverride+xml"/>
  <Override PartName="/ppt/charts/chart16.xml" ContentType="application/vnd.openxmlformats-officedocument.drawingml.chart+xml"/>
  <Override PartName="/ppt/theme/themeOverride16.xml" ContentType="application/vnd.openxmlformats-officedocument.themeOverride+xml"/>
  <Override PartName="/ppt/charts/chart17.xml" ContentType="application/vnd.openxmlformats-officedocument.drawingml.chart+xml"/>
  <Override PartName="/ppt/theme/themeOverride17.xml" ContentType="application/vnd.openxmlformats-officedocument.themeOverride+xml"/>
  <Override PartName="/ppt/charts/chart18.xml" ContentType="application/vnd.openxmlformats-officedocument.drawingml.chart+xml"/>
  <Override PartName="/ppt/theme/themeOverride18.xml" ContentType="application/vnd.openxmlformats-officedocument.themeOverride+xml"/>
  <Override PartName="/ppt/charts/chart19.xml" ContentType="application/vnd.openxmlformats-officedocument.drawingml.chart+xml"/>
  <Override PartName="/ppt/theme/themeOverride19.xml" ContentType="application/vnd.openxmlformats-officedocument.themeOverride+xml"/>
  <Override PartName="/ppt/charts/chart20.xml" ContentType="application/vnd.openxmlformats-officedocument.drawingml.chart+xml"/>
  <Override PartName="/ppt/theme/themeOverride20.xml" ContentType="application/vnd.openxmlformats-officedocument.themeOverride+xml"/>
  <Override PartName="/ppt/charts/chart21.xml" ContentType="application/vnd.openxmlformats-officedocument.drawingml.chart+xml"/>
  <Override PartName="/ppt/theme/themeOverride21.xml" ContentType="application/vnd.openxmlformats-officedocument.themeOverride+xml"/>
  <Override PartName="/ppt/charts/chart22.xml" ContentType="application/vnd.openxmlformats-officedocument.drawingml.chart+xml"/>
  <Override PartName="/ppt/theme/themeOverride22.xml" ContentType="application/vnd.openxmlformats-officedocument.themeOverride+xml"/>
  <Override PartName="/ppt/charts/chart23.xml" ContentType="application/vnd.openxmlformats-officedocument.drawingml.chart+xml"/>
  <Override PartName="/ppt/theme/themeOverride23.xml" ContentType="application/vnd.openxmlformats-officedocument.themeOverr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98"/>
  </p:notesMasterIdLst>
  <p:sldIdLst>
    <p:sldId id="2696" r:id="rId5"/>
    <p:sldId id="2698" r:id="rId6"/>
    <p:sldId id="2721" r:id="rId7"/>
    <p:sldId id="2744" r:id="rId8"/>
    <p:sldId id="2745" r:id="rId9"/>
    <p:sldId id="2699" r:id="rId10"/>
    <p:sldId id="2722" r:id="rId11"/>
    <p:sldId id="2746" r:id="rId12"/>
    <p:sldId id="2747" r:id="rId13"/>
    <p:sldId id="2700" r:id="rId14"/>
    <p:sldId id="2723" r:id="rId15"/>
    <p:sldId id="2748" r:id="rId16"/>
    <p:sldId id="2749" r:id="rId17"/>
    <p:sldId id="2701" r:id="rId18"/>
    <p:sldId id="2724" r:id="rId19"/>
    <p:sldId id="2750" r:id="rId20"/>
    <p:sldId id="2751" r:id="rId21"/>
    <p:sldId id="2702" r:id="rId22"/>
    <p:sldId id="2725" r:id="rId23"/>
    <p:sldId id="2752" r:id="rId24"/>
    <p:sldId id="2753" r:id="rId25"/>
    <p:sldId id="2703" r:id="rId26"/>
    <p:sldId id="2726" r:id="rId27"/>
    <p:sldId id="2754" r:id="rId28"/>
    <p:sldId id="2755" r:id="rId29"/>
    <p:sldId id="2704" r:id="rId30"/>
    <p:sldId id="2727" r:id="rId31"/>
    <p:sldId id="2756" r:id="rId32"/>
    <p:sldId id="2757" r:id="rId33"/>
    <p:sldId id="2705" r:id="rId34"/>
    <p:sldId id="2728" r:id="rId35"/>
    <p:sldId id="2758" r:id="rId36"/>
    <p:sldId id="2759" r:id="rId37"/>
    <p:sldId id="2706" r:id="rId38"/>
    <p:sldId id="2729" r:id="rId39"/>
    <p:sldId id="2760" r:id="rId40"/>
    <p:sldId id="2761" r:id="rId41"/>
    <p:sldId id="2707" r:id="rId42"/>
    <p:sldId id="2730" r:id="rId43"/>
    <p:sldId id="2762" r:id="rId44"/>
    <p:sldId id="2763" r:id="rId45"/>
    <p:sldId id="2708" r:id="rId46"/>
    <p:sldId id="2731" r:id="rId47"/>
    <p:sldId id="2764" r:id="rId48"/>
    <p:sldId id="2765" r:id="rId49"/>
    <p:sldId id="2709" r:id="rId50"/>
    <p:sldId id="2732" r:id="rId51"/>
    <p:sldId id="2766" r:id="rId52"/>
    <p:sldId id="2767" r:id="rId53"/>
    <p:sldId id="2710" r:id="rId54"/>
    <p:sldId id="2733" r:id="rId55"/>
    <p:sldId id="2768" r:id="rId56"/>
    <p:sldId id="2769" r:id="rId57"/>
    <p:sldId id="2711" r:id="rId58"/>
    <p:sldId id="2734" r:id="rId59"/>
    <p:sldId id="2770" r:id="rId60"/>
    <p:sldId id="2771" r:id="rId61"/>
    <p:sldId id="2712" r:id="rId62"/>
    <p:sldId id="2735" r:id="rId63"/>
    <p:sldId id="2772" r:id="rId64"/>
    <p:sldId id="2773" r:id="rId65"/>
    <p:sldId id="2713" r:id="rId66"/>
    <p:sldId id="2736" r:id="rId67"/>
    <p:sldId id="2774" r:id="rId68"/>
    <p:sldId id="2775" r:id="rId69"/>
    <p:sldId id="2714" r:id="rId70"/>
    <p:sldId id="2737" r:id="rId71"/>
    <p:sldId id="2776" r:id="rId72"/>
    <p:sldId id="2777" r:id="rId73"/>
    <p:sldId id="2715" r:id="rId74"/>
    <p:sldId id="2738" r:id="rId75"/>
    <p:sldId id="2778" r:id="rId76"/>
    <p:sldId id="2779" r:id="rId77"/>
    <p:sldId id="2716" r:id="rId78"/>
    <p:sldId id="2739" r:id="rId79"/>
    <p:sldId id="2780" r:id="rId80"/>
    <p:sldId id="2781" r:id="rId81"/>
    <p:sldId id="2717" r:id="rId82"/>
    <p:sldId id="2740" r:id="rId83"/>
    <p:sldId id="2782" r:id="rId84"/>
    <p:sldId id="2783" r:id="rId85"/>
    <p:sldId id="2718" r:id="rId86"/>
    <p:sldId id="2741" r:id="rId87"/>
    <p:sldId id="2784" r:id="rId88"/>
    <p:sldId id="2785" r:id="rId89"/>
    <p:sldId id="2719" r:id="rId90"/>
    <p:sldId id="2742" r:id="rId91"/>
    <p:sldId id="2786" r:id="rId92"/>
    <p:sldId id="2787" r:id="rId93"/>
    <p:sldId id="2720" r:id="rId94"/>
    <p:sldId id="2743" r:id="rId95"/>
    <p:sldId id="2788" r:id="rId96"/>
    <p:sldId id="2789" r:id="rId9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954723B-545D-40E6-BF5F-95EED73E44A6}" v="96" dt="2026-07-30T15:41:03.23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60" d="100"/>
          <a:sy n="60" d="100"/>
        </p:scale>
        <p:origin x="96" y="10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84" Type="http://schemas.openxmlformats.org/officeDocument/2006/relationships/slide" Target="slides/slide80.xml"/><Relationship Id="rId89" Type="http://schemas.openxmlformats.org/officeDocument/2006/relationships/slide" Target="slides/slide85.xml"/><Relationship Id="rId16" Type="http://schemas.openxmlformats.org/officeDocument/2006/relationships/slide" Target="slides/slide12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slide" Target="slides/slide75.xml"/><Relationship Id="rId102" Type="http://schemas.openxmlformats.org/officeDocument/2006/relationships/tableStyles" Target="tableStyles.xml"/><Relationship Id="rId5" Type="http://schemas.openxmlformats.org/officeDocument/2006/relationships/slide" Target="slides/slide1.xml"/><Relationship Id="rId90" Type="http://schemas.openxmlformats.org/officeDocument/2006/relationships/slide" Target="slides/slide86.xml"/><Relationship Id="rId95" Type="http://schemas.openxmlformats.org/officeDocument/2006/relationships/slide" Target="slides/slide91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80" Type="http://schemas.openxmlformats.org/officeDocument/2006/relationships/slide" Target="slides/slide76.xml"/><Relationship Id="rId85" Type="http://schemas.openxmlformats.org/officeDocument/2006/relationships/slide" Target="slides/slide81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103" Type="http://schemas.microsoft.com/office/2016/11/relationships/changesInfo" Target="changesInfos/changesInfo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83" Type="http://schemas.openxmlformats.org/officeDocument/2006/relationships/slide" Target="slides/slide79.xml"/><Relationship Id="rId88" Type="http://schemas.openxmlformats.org/officeDocument/2006/relationships/slide" Target="slides/slide84.xml"/><Relationship Id="rId91" Type="http://schemas.openxmlformats.org/officeDocument/2006/relationships/slide" Target="slides/slide87.xml"/><Relationship Id="rId96" Type="http://schemas.openxmlformats.org/officeDocument/2006/relationships/slide" Target="slides/slide9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slide" Target="slides/slide74.xml"/><Relationship Id="rId81" Type="http://schemas.openxmlformats.org/officeDocument/2006/relationships/slide" Target="slides/slide77.xml"/><Relationship Id="rId86" Type="http://schemas.openxmlformats.org/officeDocument/2006/relationships/slide" Target="slides/slide82.xml"/><Relationship Id="rId94" Type="http://schemas.openxmlformats.org/officeDocument/2006/relationships/slide" Target="slides/slide90.xml"/><Relationship Id="rId99" Type="http://schemas.openxmlformats.org/officeDocument/2006/relationships/presProps" Target="presProps.xml"/><Relationship Id="rId10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97" Type="http://schemas.openxmlformats.org/officeDocument/2006/relationships/slide" Target="slides/slide93.xml"/><Relationship Id="rId104" Type="http://schemas.microsoft.com/office/2015/10/relationships/revisionInfo" Target="revisionInfo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92" Type="http://schemas.openxmlformats.org/officeDocument/2006/relationships/slide" Target="slides/slide88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Relationship Id="rId87" Type="http://schemas.openxmlformats.org/officeDocument/2006/relationships/slide" Target="slides/slide83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56" Type="http://schemas.openxmlformats.org/officeDocument/2006/relationships/slide" Target="slides/slide52.xml"/><Relationship Id="rId77" Type="http://schemas.openxmlformats.org/officeDocument/2006/relationships/slide" Target="slides/slide73.xml"/><Relationship Id="rId100" Type="http://schemas.openxmlformats.org/officeDocument/2006/relationships/viewProps" Target="view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slide" Target="slides/slide89.xml"/><Relationship Id="rId98" Type="http://schemas.openxmlformats.org/officeDocument/2006/relationships/notesMaster" Target="notesMasters/notesMaster1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dam Porr" userId="176b239e-e1e8-4fc8-9bbc-5d53f6ce273d" providerId="ADAL" clId="{DFB54312-AE8C-4EE7-AD0F-90252FC88277}"/>
    <pc:docChg chg="custSel addSld delSld modSld">
      <pc:chgData name="Adam Porr" userId="176b239e-e1e8-4fc8-9bbc-5d53f6ce273d" providerId="ADAL" clId="{DFB54312-AE8C-4EE7-AD0F-90252FC88277}" dt="2026-07-30T15:48:20.820" v="228" actId="1076"/>
      <pc:docMkLst>
        <pc:docMk/>
      </pc:docMkLst>
      <pc:sldChg chg="addSp delSp modSp mod">
        <pc:chgData name="Adam Porr" userId="176b239e-e1e8-4fc8-9bbc-5d53f6ce273d" providerId="ADAL" clId="{DFB54312-AE8C-4EE7-AD0F-90252FC88277}" dt="2026-07-30T15:36:05.375" v="11" actId="1076"/>
        <pc:sldMkLst>
          <pc:docMk/>
          <pc:sldMk cId="268520736" sldId="2698"/>
        </pc:sldMkLst>
        <pc:graphicFrameChg chg="add mod">
          <ac:chgData name="Adam Porr" userId="176b239e-e1e8-4fc8-9bbc-5d53f6ce273d" providerId="ADAL" clId="{DFB54312-AE8C-4EE7-AD0F-90252FC88277}" dt="2026-07-30T15:35:47.736" v="6"/>
          <ac:graphicFrameMkLst>
            <pc:docMk/>
            <pc:sldMk cId="268520736" sldId="2698"/>
            <ac:graphicFrameMk id="2" creationId="{00000000-0008-0000-0000-000002000000}"/>
          </ac:graphicFrameMkLst>
        </pc:graphicFrameChg>
        <pc:graphicFrameChg chg="add mod">
          <ac:chgData name="Adam Porr" userId="176b239e-e1e8-4fc8-9bbc-5d53f6ce273d" providerId="ADAL" clId="{DFB54312-AE8C-4EE7-AD0F-90252FC88277}" dt="2026-07-30T15:36:05.375" v="11" actId="1076"/>
          <ac:graphicFrameMkLst>
            <pc:docMk/>
            <pc:sldMk cId="268520736" sldId="2698"/>
            <ac:graphicFrameMk id="3" creationId="{00000000-0008-0000-0000-000002000000}"/>
          </ac:graphicFrameMkLst>
        </pc:graphicFrameChg>
        <pc:graphicFrameChg chg="del mod">
          <ac:chgData name="Adam Porr" userId="176b239e-e1e8-4fc8-9bbc-5d53f6ce273d" providerId="ADAL" clId="{DFB54312-AE8C-4EE7-AD0F-90252FC88277}" dt="2026-07-30T15:35:25.269" v="3" actId="478"/>
          <ac:graphicFrameMkLst>
            <pc:docMk/>
            <pc:sldMk cId="268520736" sldId="2698"/>
            <ac:graphicFrameMk id="4" creationId="{00000000-0008-0000-0000-000002000000}"/>
          </ac:graphicFrameMkLst>
        </pc:graphicFrameChg>
      </pc:sldChg>
      <pc:sldChg chg="addSp delSp modSp new mod">
        <pc:chgData name="Adam Porr" userId="176b239e-e1e8-4fc8-9bbc-5d53f6ce273d" providerId="ADAL" clId="{DFB54312-AE8C-4EE7-AD0F-90252FC88277}" dt="2026-07-30T15:41:25.031" v="160" actId="1076"/>
        <pc:sldMkLst>
          <pc:docMk/>
          <pc:sldMk cId="3263190862" sldId="2699"/>
        </pc:sldMkLst>
        <pc:spChg chg="del">
          <ac:chgData name="Adam Porr" userId="176b239e-e1e8-4fc8-9bbc-5d53f6ce273d" providerId="ADAL" clId="{DFB54312-AE8C-4EE7-AD0F-90252FC88277}" dt="2026-07-30T15:36:11.896" v="13" actId="478"/>
          <ac:spMkLst>
            <pc:docMk/>
            <pc:sldMk cId="3263190862" sldId="2699"/>
            <ac:spMk id="2" creationId="{1BF4424F-4D93-B601-7DE3-BF8DA9EABDCE}"/>
          </ac:spMkLst>
        </pc:spChg>
        <pc:graphicFrameChg chg="add mod">
          <ac:chgData name="Adam Porr" userId="176b239e-e1e8-4fc8-9bbc-5d53f6ce273d" providerId="ADAL" clId="{DFB54312-AE8C-4EE7-AD0F-90252FC88277}" dt="2026-07-30T15:36:32.436" v="35"/>
          <ac:graphicFrameMkLst>
            <pc:docMk/>
            <pc:sldMk cId="3263190862" sldId="2699"/>
            <ac:graphicFrameMk id="3" creationId="{00000000-0008-0000-0100-000002000000}"/>
          </ac:graphicFrameMkLst>
        </pc:graphicFrameChg>
        <pc:graphicFrameChg chg="add mod">
          <ac:chgData name="Adam Porr" userId="176b239e-e1e8-4fc8-9bbc-5d53f6ce273d" providerId="ADAL" clId="{DFB54312-AE8C-4EE7-AD0F-90252FC88277}" dt="2026-07-30T15:41:25.031" v="160" actId="1076"/>
          <ac:graphicFrameMkLst>
            <pc:docMk/>
            <pc:sldMk cId="3263190862" sldId="2699"/>
            <ac:graphicFrameMk id="4" creationId="{00000000-0008-0000-0100-000002000000}"/>
          </ac:graphicFrameMkLst>
        </pc:graphicFrameChg>
      </pc:sldChg>
      <pc:sldChg chg="addSp modSp add mod">
        <pc:chgData name="Adam Porr" userId="176b239e-e1e8-4fc8-9bbc-5d53f6ce273d" providerId="ADAL" clId="{DFB54312-AE8C-4EE7-AD0F-90252FC88277}" dt="2026-07-30T15:41:47.301" v="163" actId="1076"/>
        <pc:sldMkLst>
          <pc:docMk/>
          <pc:sldMk cId="2186728268" sldId="2700"/>
        </pc:sldMkLst>
        <pc:graphicFrameChg chg="add mod">
          <ac:chgData name="Adam Porr" userId="176b239e-e1e8-4fc8-9bbc-5d53f6ce273d" providerId="ADAL" clId="{DFB54312-AE8C-4EE7-AD0F-90252FC88277}" dt="2026-07-30T15:36:47.996" v="40"/>
          <ac:graphicFrameMkLst>
            <pc:docMk/>
            <pc:sldMk cId="2186728268" sldId="2700"/>
            <ac:graphicFrameMk id="2" creationId="{00000000-0008-0000-0200-000002000000}"/>
          </ac:graphicFrameMkLst>
        </pc:graphicFrameChg>
        <pc:graphicFrameChg chg="add mod">
          <ac:chgData name="Adam Porr" userId="176b239e-e1e8-4fc8-9bbc-5d53f6ce273d" providerId="ADAL" clId="{DFB54312-AE8C-4EE7-AD0F-90252FC88277}" dt="2026-07-30T15:41:47.301" v="163" actId="1076"/>
          <ac:graphicFrameMkLst>
            <pc:docMk/>
            <pc:sldMk cId="2186728268" sldId="2700"/>
            <ac:graphicFrameMk id="3" creationId="{00000000-0008-0000-0200-000002000000}"/>
          </ac:graphicFrameMkLst>
        </pc:graphicFrameChg>
      </pc:sldChg>
      <pc:sldChg chg="addSp modSp add mod">
        <pc:chgData name="Adam Porr" userId="176b239e-e1e8-4fc8-9bbc-5d53f6ce273d" providerId="ADAL" clId="{DFB54312-AE8C-4EE7-AD0F-90252FC88277}" dt="2026-07-30T15:42:09.245" v="166" actId="1076"/>
        <pc:sldMkLst>
          <pc:docMk/>
          <pc:sldMk cId="1804723570" sldId="2701"/>
        </pc:sldMkLst>
        <pc:graphicFrameChg chg="add mod">
          <ac:chgData name="Adam Porr" userId="176b239e-e1e8-4fc8-9bbc-5d53f6ce273d" providerId="ADAL" clId="{DFB54312-AE8C-4EE7-AD0F-90252FC88277}" dt="2026-07-30T15:36:59.735" v="45"/>
          <ac:graphicFrameMkLst>
            <pc:docMk/>
            <pc:sldMk cId="1804723570" sldId="2701"/>
            <ac:graphicFrameMk id="2" creationId="{00000000-0008-0000-0300-000002000000}"/>
          </ac:graphicFrameMkLst>
        </pc:graphicFrameChg>
        <pc:graphicFrameChg chg="add mod">
          <ac:chgData name="Adam Porr" userId="176b239e-e1e8-4fc8-9bbc-5d53f6ce273d" providerId="ADAL" clId="{DFB54312-AE8C-4EE7-AD0F-90252FC88277}" dt="2026-07-30T15:42:09.245" v="166" actId="1076"/>
          <ac:graphicFrameMkLst>
            <pc:docMk/>
            <pc:sldMk cId="1804723570" sldId="2701"/>
            <ac:graphicFrameMk id="3" creationId="{00000000-0008-0000-0300-000002000000}"/>
          </ac:graphicFrameMkLst>
        </pc:graphicFrameChg>
      </pc:sldChg>
      <pc:sldChg chg="addSp modSp add mod">
        <pc:chgData name="Adam Porr" userId="176b239e-e1e8-4fc8-9bbc-5d53f6ce273d" providerId="ADAL" clId="{DFB54312-AE8C-4EE7-AD0F-90252FC88277}" dt="2026-07-30T15:43:36.448" v="169" actId="1076"/>
        <pc:sldMkLst>
          <pc:docMk/>
          <pc:sldMk cId="1283480115" sldId="2702"/>
        </pc:sldMkLst>
        <pc:graphicFrameChg chg="add mod">
          <ac:chgData name="Adam Porr" userId="176b239e-e1e8-4fc8-9bbc-5d53f6ce273d" providerId="ADAL" clId="{DFB54312-AE8C-4EE7-AD0F-90252FC88277}" dt="2026-07-30T15:37:12.098" v="50"/>
          <ac:graphicFrameMkLst>
            <pc:docMk/>
            <pc:sldMk cId="1283480115" sldId="2702"/>
            <ac:graphicFrameMk id="2" creationId="{00000000-0008-0000-0400-000002000000}"/>
          </ac:graphicFrameMkLst>
        </pc:graphicFrameChg>
        <pc:graphicFrameChg chg="add mod">
          <ac:chgData name="Adam Porr" userId="176b239e-e1e8-4fc8-9bbc-5d53f6ce273d" providerId="ADAL" clId="{DFB54312-AE8C-4EE7-AD0F-90252FC88277}" dt="2026-07-30T15:43:36.448" v="169" actId="1076"/>
          <ac:graphicFrameMkLst>
            <pc:docMk/>
            <pc:sldMk cId="1283480115" sldId="2702"/>
            <ac:graphicFrameMk id="3" creationId="{00000000-0008-0000-0400-000002000000}"/>
          </ac:graphicFrameMkLst>
        </pc:graphicFrameChg>
      </pc:sldChg>
      <pc:sldChg chg="addSp modSp add mod">
        <pc:chgData name="Adam Porr" userId="176b239e-e1e8-4fc8-9bbc-5d53f6ce273d" providerId="ADAL" clId="{DFB54312-AE8C-4EE7-AD0F-90252FC88277}" dt="2026-07-30T15:43:49.112" v="172" actId="1076"/>
        <pc:sldMkLst>
          <pc:docMk/>
          <pc:sldMk cId="1467955201" sldId="2703"/>
        </pc:sldMkLst>
        <pc:graphicFrameChg chg="add mod">
          <ac:chgData name="Adam Porr" userId="176b239e-e1e8-4fc8-9bbc-5d53f6ce273d" providerId="ADAL" clId="{DFB54312-AE8C-4EE7-AD0F-90252FC88277}" dt="2026-07-30T15:37:21.987" v="55"/>
          <ac:graphicFrameMkLst>
            <pc:docMk/>
            <pc:sldMk cId="1467955201" sldId="2703"/>
            <ac:graphicFrameMk id="2" creationId="{00000000-0008-0000-0500-000002000000}"/>
          </ac:graphicFrameMkLst>
        </pc:graphicFrameChg>
        <pc:graphicFrameChg chg="add mod">
          <ac:chgData name="Adam Porr" userId="176b239e-e1e8-4fc8-9bbc-5d53f6ce273d" providerId="ADAL" clId="{DFB54312-AE8C-4EE7-AD0F-90252FC88277}" dt="2026-07-30T15:43:49.112" v="172" actId="1076"/>
          <ac:graphicFrameMkLst>
            <pc:docMk/>
            <pc:sldMk cId="1467955201" sldId="2703"/>
            <ac:graphicFrameMk id="3" creationId="{00000000-0008-0000-0500-000002000000}"/>
          </ac:graphicFrameMkLst>
        </pc:graphicFrameChg>
      </pc:sldChg>
      <pc:sldChg chg="addSp modSp add mod">
        <pc:chgData name="Adam Porr" userId="176b239e-e1e8-4fc8-9bbc-5d53f6ce273d" providerId="ADAL" clId="{DFB54312-AE8C-4EE7-AD0F-90252FC88277}" dt="2026-07-30T15:44:03.562" v="175" actId="1076"/>
        <pc:sldMkLst>
          <pc:docMk/>
          <pc:sldMk cId="3264979567" sldId="2704"/>
        </pc:sldMkLst>
        <pc:graphicFrameChg chg="add mod">
          <ac:chgData name="Adam Porr" userId="176b239e-e1e8-4fc8-9bbc-5d53f6ce273d" providerId="ADAL" clId="{DFB54312-AE8C-4EE7-AD0F-90252FC88277}" dt="2026-07-30T15:37:31.046" v="60"/>
          <ac:graphicFrameMkLst>
            <pc:docMk/>
            <pc:sldMk cId="3264979567" sldId="2704"/>
            <ac:graphicFrameMk id="2" creationId="{00000000-0008-0000-0600-000002000000}"/>
          </ac:graphicFrameMkLst>
        </pc:graphicFrameChg>
        <pc:graphicFrameChg chg="add mod">
          <ac:chgData name="Adam Porr" userId="176b239e-e1e8-4fc8-9bbc-5d53f6ce273d" providerId="ADAL" clId="{DFB54312-AE8C-4EE7-AD0F-90252FC88277}" dt="2026-07-30T15:44:03.562" v="175" actId="1076"/>
          <ac:graphicFrameMkLst>
            <pc:docMk/>
            <pc:sldMk cId="3264979567" sldId="2704"/>
            <ac:graphicFrameMk id="3" creationId="{00000000-0008-0000-0600-000002000000}"/>
          </ac:graphicFrameMkLst>
        </pc:graphicFrameChg>
      </pc:sldChg>
      <pc:sldChg chg="addSp modSp add mod">
        <pc:chgData name="Adam Porr" userId="176b239e-e1e8-4fc8-9bbc-5d53f6ce273d" providerId="ADAL" clId="{DFB54312-AE8C-4EE7-AD0F-90252FC88277}" dt="2026-07-30T15:44:22.294" v="179" actId="1076"/>
        <pc:sldMkLst>
          <pc:docMk/>
          <pc:sldMk cId="3572952178" sldId="2705"/>
        </pc:sldMkLst>
        <pc:graphicFrameChg chg="add mod">
          <ac:chgData name="Adam Porr" userId="176b239e-e1e8-4fc8-9bbc-5d53f6ce273d" providerId="ADAL" clId="{DFB54312-AE8C-4EE7-AD0F-90252FC88277}" dt="2026-07-30T15:37:40.756" v="65"/>
          <ac:graphicFrameMkLst>
            <pc:docMk/>
            <pc:sldMk cId="3572952178" sldId="2705"/>
            <ac:graphicFrameMk id="2" creationId="{00000000-0008-0000-0700-000002000000}"/>
          </ac:graphicFrameMkLst>
        </pc:graphicFrameChg>
        <pc:graphicFrameChg chg="add mod">
          <ac:chgData name="Adam Porr" userId="176b239e-e1e8-4fc8-9bbc-5d53f6ce273d" providerId="ADAL" clId="{DFB54312-AE8C-4EE7-AD0F-90252FC88277}" dt="2026-07-30T15:44:22.294" v="179" actId="1076"/>
          <ac:graphicFrameMkLst>
            <pc:docMk/>
            <pc:sldMk cId="3572952178" sldId="2705"/>
            <ac:graphicFrameMk id="3" creationId="{00000000-0008-0000-0700-000002000000}"/>
          </ac:graphicFrameMkLst>
        </pc:graphicFrameChg>
      </pc:sldChg>
      <pc:sldChg chg="addSp modSp add mod">
        <pc:chgData name="Adam Porr" userId="176b239e-e1e8-4fc8-9bbc-5d53f6ce273d" providerId="ADAL" clId="{DFB54312-AE8C-4EE7-AD0F-90252FC88277}" dt="2026-07-30T15:44:36.131" v="182" actId="1076"/>
        <pc:sldMkLst>
          <pc:docMk/>
          <pc:sldMk cId="2213114250" sldId="2706"/>
        </pc:sldMkLst>
        <pc:graphicFrameChg chg="add mod">
          <ac:chgData name="Adam Porr" userId="176b239e-e1e8-4fc8-9bbc-5d53f6ce273d" providerId="ADAL" clId="{DFB54312-AE8C-4EE7-AD0F-90252FC88277}" dt="2026-07-30T15:37:50.014" v="70"/>
          <ac:graphicFrameMkLst>
            <pc:docMk/>
            <pc:sldMk cId="2213114250" sldId="2706"/>
            <ac:graphicFrameMk id="2" creationId="{00000000-0008-0000-0800-000002000000}"/>
          </ac:graphicFrameMkLst>
        </pc:graphicFrameChg>
        <pc:graphicFrameChg chg="add mod">
          <ac:chgData name="Adam Porr" userId="176b239e-e1e8-4fc8-9bbc-5d53f6ce273d" providerId="ADAL" clId="{DFB54312-AE8C-4EE7-AD0F-90252FC88277}" dt="2026-07-30T15:44:36.131" v="182" actId="1076"/>
          <ac:graphicFrameMkLst>
            <pc:docMk/>
            <pc:sldMk cId="2213114250" sldId="2706"/>
            <ac:graphicFrameMk id="3" creationId="{00000000-0008-0000-0800-000002000000}"/>
          </ac:graphicFrameMkLst>
        </pc:graphicFrameChg>
      </pc:sldChg>
      <pc:sldChg chg="addSp modSp add mod">
        <pc:chgData name="Adam Porr" userId="176b239e-e1e8-4fc8-9bbc-5d53f6ce273d" providerId="ADAL" clId="{DFB54312-AE8C-4EE7-AD0F-90252FC88277}" dt="2026-07-30T15:44:49.624" v="185" actId="1076"/>
        <pc:sldMkLst>
          <pc:docMk/>
          <pc:sldMk cId="3952555965" sldId="2707"/>
        </pc:sldMkLst>
        <pc:graphicFrameChg chg="add mod">
          <ac:chgData name="Adam Porr" userId="176b239e-e1e8-4fc8-9bbc-5d53f6ce273d" providerId="ADAL" clId="{DFB54312-AE8C-4EE7-AD0F-90252FC88277}" dt="2026-07-30T15:38:00.259" v="75"/>
          <ac:graphicFrameMkLst>
            <pc:docMk/>
            <pc:sldMk cId="3952555965" sldId="2707"/>
            <ac:graphicFrameMk id="2" creationId="{00000000-0008-0000-0900-000002000000}"/>
          </ac:graphicFrameMkLst>
        </pc:graphicFrameChg>
        <pc:graphicFrameChg chg="add mod">
          <ac:chgData name="Adam Porr" userId="176b239e-e1e8-4fc8-9bbc-5d53f6ce273d" providerId="ADAL" clId="{DFB54312-AE8C-4EE7-AD0F-90252FC88277}" dt="2026-07-30T15:44:49.624" v="185" actId="1076"/>
          <ac:graphicFrameMkLst>
            <pc:docMk/>
            <pc:sldMk cId="3952555965" sldId="2707"/>
            <ac:graphicFrameMk id="3" creationId="{00000000-0008-0000-0900-000002000000}"/>
          </ac:graphicFrameMkLst>
        </pc:graphicFrameChg>
      </pc:sldChg>
      <pc:sldChg chg="addSp modSp add mod">
        <pc:chgData name="Adam Porr" userId="176b239e-e1e8-4fc8-9bbc-5d53f6ce273d" providerId="ADAL" clId="{DFB54312-AE8C-4EE7-AD0F-90252FC88277}" dt="2026-07-30T15:45:09.586" v="188" actId="1076"/>
        <pc:sldMkLst>
          <pc:docMk/>
          <pc:sldMk cId="965419946" sldId="2708"/>
        </pc:sldMkLst>
        <pc:graphicFrameChg chg="add mod">
          <ac:chgData name="Adam Porr" userId="176b239e-e1e8-4fc8-9bbc-5d53f6ce273d" providerId="ADAL" clId="{DFB54312-AE8C-4EE7-AD0F-90252FC88277}" dt="2026-07-30T15:38:10.954" v="80"/>
          <ac:graphicFrameMkLst>
            <pc:docMk/>
            <pc:sldMk cId="965419946" sldId="2708"/>
            <ac:graphicFrameMk id="2" creationId="{00000000-0008-0000-0A00-000002000000}"/>
          </ac:graphicFrameMkLst>
        </pc:graphicFrameChg>
        <pc:graphicFrameChg chg="add mod">
          <ac:chgData name="Adam Porr" userId="176b239e-e1e8-4fc8-9bbc-5d53f6ce273d" providerId="ADAL" clId="{DFB54312-AE8C-4EE7-AD0F-90252FC88277}" dt="2026-07-30T15:45:09.586" v="188" actId="1076"/>
          <ac:graphicFrameMkLst>
            <pc:docMk/>
            <pc:sldMk cId="965419946" sldId="2708"/>
            <ac:graphicFrameMk id="3" creationId="{00000000-0008-0000-0A00-000002000000}"/>
          </ac:graphicFrameMkLst>
        </pc:graphicFrameChg>
      </pc:sldChg>
      <pc:sldChg chg="addSp modSp add mod">
        <pc:chgData name="Adam Porr" userId="176b239e-e1e8-4fc8-9bbc-5d53f6ce273d" providerId="ADAL" clId="{DFB54312-AE8C-4EE7-AD0F-90252FC88277}" dt="2026-07-30T15:45:24.740" v="191" actId="1076"/>
        <pc:sldMkLst>
          <pc:docMk/>
          <pc:sldMk cId="4183447986" sldId="2709"/>
        </pc:sldMkLst>
        <pc:graphicFrameChg chg="add mod">
          <ac:chgData name="Adam Porr" userId="176b239e-e1e8-4fc8-9bbc-5d53f6ce273d" providerId="ADAL" clId="{DFB54312-AE8C-4EE7-AD0F-90252FC88277}" dt="2026-07-30T15:38:20.377" v="85"/>
          <ac:graphicFrameMkLst>
            <pc:docMk/>
            <pc:sldMk cId="4183447986" sldId="2709"/>
            <ac:graphicFrameMk id="2" creationId="{00000000-0008-0000-0B00-000002000000}"/>
          </ac:graphicFrameMkLst>
        </pc:graphicFrameChg>
        <pc:graphicFrameChg chg="add mod">
          <ac:chgData name="Adam Porr" userId="176b239e-e1e8-4fc8-9bbc-5d53f6ce273d" providerId="ADAL" clId="{DFB54312-AE8C-4EE7-AD0F-90252FC88277}" dt="2026-07-30T15:45:24.740" v="191" actId="1076"/>
          <ac:graphicFrameMkLst>
            <pc:docMk/>
            <pc:sldMk cId="4183447986" sldId="2709"/>
            <ac:graphicFrameMk id="3" creationId="{00000000-0008-0000-0B00-000002000000}"/>
          </ac:graphicFrameMkLst>
        </pc:graphicFrameChg>
      </pc:sldChg>
      <pc:sldChg chg="addSp modSp add mod">
        <pc:chgData name="Adam Porr" userId="176b239e-e1e8-4fc8-9bbc-5d53f6ce273d" providerId="ADAL" clId="{DFB54312-AE8C-4EE7-AD0F-90252FC88277}" dt="2026-07-30T15:45:47.234" v="194" actId="1076"/>
        <pc:sldMkLst>
          <pc:docMk/>
          <pc:sldMk cId="3496164201" sldId="2710"/>
        </pc:sldMkLst>
        <pc:graphicFrameChg chg="add mod">
          <ac:chgData name="Adam Porr" userId="176b239e-e1e8-4fc8-9bbc-5d53f6ce273d" providerId="ADAL" clId="{DFB54312-AE8C-4EE7-AD0F-90252FC88277}" dt="2026-07-30T15:38:32.430" v="90"/>
          <ac:graphicFrameMkLst>
            <pc:docMk/>
            <pc:sldMk cId="3496164201" sldId="2710"/>
            <ac:graphicFrameMk id="2" creationId="{00000000-0008-0000-0C00-000002000000}"/>
          </ac:graphicFrameMkLst>
        </pc:graphicFrameChg>
        <pc:graphicFrameChg chg="add mod">
          <ac:chgData name="Adam Porr" userId="176b239e-e1e8-4fc8-9bbc-5d53f6ce273d" providerId="ADAL" clId="{DFB54312-AE8C-4EE7-AD0F-90252FC88277}" dt="2026-07-30T15:45:47.234" v="194" actId="1076"/>
          <ac:graphicFrameMkLst>
            <pc:docMk/>
            <pc:sldMk cId="3496164201" sldId="2710"/>
            <ac:graphicFrameMk id="3" creationId="{00000000-0008-0000-0C00-000002000000}"/>
          </ac:graphicFrameMkLst>
        </pc:graphicFrameChg>
      </pc:sldChg>
      <pc:sldChg chg="addSp modSp add mod">
        <pc:chgData name="Adam Porr" userId="176b239e-e1e8-4fc8-9bbc-5d53f6ce273d" providerId="ADAL" clId="{DFB54312-AE8C-4EE7-AD0F-90252FC88277}" dt="2026-07-30T15:46:09.156" v="198" actId="1076"/>
        <pc:sldMkLst>
          <pc:docMk/>
          <pc:sldMk cId="1821383264" sldId="2711"/>
        </pc:sldMkLst>
        <pc:graphicFrameChg chg="add mod">
          <ac:chgData name="Adam Porr" userId="176b239e-e1e8-4fc8-9bbc-5d53f6ce273d" providerId="ADAL" clId="{DFB54312-AE8C-4EE7-AD0F-90252FC88277}" dt="2026-07-30T15:38:42.619" v="95"/>
          <ac:graphicFrameMkLst>
            <pc:docMk/>
            <pc:sldMk cId="1821383264" sldId="2711"/>
            <ac:graphicFrameMk id="2" creationId="{00000000-0008-0000-0D00-000002000000}"/>
          </ac:graphicFrameMkLst>
        </pc:graphicFrameChg>
        <pc:graphicFrameChg chg="add mod">
          <ac:chgData name="Adam Porr" userId="176b239e-e1e8-4fc8-9bbc-5d53f6ce273d" providerId="ADAL" clId="{DFB54312-AE8C-4EE7-AD0F-90252FC88277}" dt="2026-07-30T15:46:09.156" v="198" actId="1076"/>
          <ac:graphicFrameMkLst>
            <pc:docMk/>
            <pc:sldMk cId="1821383264" sldId="2711"/>
            <ac:graphicFrameMk id="3" creationId="{00000000-0008-0000-0D00-000002000000}"/>
          </ac:graphicFrameMkLst>
        </pc:graphicFrameChg>
      </pc:sldChg>
      <pc:sldChg chg="addSp modSp add mod">
        <pc:chgData name="Adam Porr" userId="176b239e-e1e8-4fc8-9bbc-5d53f6ce273d" providerId="ADAL" clId="{DFB54312-AE8C-4EE7-AD0F-90252FC88277}" dt="2026-07-30T15:46:30.785" v="203" actId="1076"/>
        <pc:sldMkLst>
          <pc:docMk/>
          <pc:sldMk cId="2456897420" sldId="2712"/>
        </pc:sldMkLst>
        <pc:graphicFrameChg chg="add mod">
          <ac:chgData name="Adam Porr" userId="176b239e-e1e8-4fc8-9bbc-5d53f6ce273d" providerId="ADAL" clId="{DFB54312-AE8C-4EE7-AD0F-90252FC88277}" dt="2026-07-30T15:38:55.081" v="100"/>
          <ac:graphicFrameMkLst>
            <pc:docMk/>
            <pc:sldMk cId="2456897420" sldId="2712"/>
            <ac:graphicFrameMk id="2" creationId="{00000000-0008-0000-0E00-000002000000}"/>
          </ac:graphicFrameMkLst>
        </pc:graphicFrameChg>
        <pc:graphicFrameChg chg="add mod">
          <ac:chgData name="Adam Porr" userId="176b239e-e1e8-4fc8-9bbc-5d53f6ce273d" providerId="ADAL" clId="{DFB54312-AE8C-4EE7-AD0F-90252FC88277}" dt="2026-07-30T15:46:30.785" v="203" actId="1076"/>
          <ac:graphicFrameMkLst>
            <pc:docMk/>
            <pc:sldMk cId="2456897420" sldId="2712"/>
            <ac:graphicFrameMk id="3" creationId="{00000000-0008-0000-0E00-000002000000}"/>
          </ac:graphicFrameMkLst>
        </pc:graphicFrameChg>
      </pc:sldChg>
      <pc:sldChg chg="addSp modSp add mod">
        <pc:chgData name="Adam Porr" userId="176b239e-e1e8-4fc8-9bbc-5d53f6ce273d" providerId="ADAL" clId="{DFB54312-AE8C-4EE7-AD0F-90252FC88277}" dt="2026-07-30T15:46:47.724" v="206" actId="1076"/>
        <pc:sldMkLst>
          <pc:docMk/>
          <pc:sldMk cId="4274511312" sldId="2713"/>
        </pc:sldMkLst>
        <pc:graphicFrameChg chg="add mod">
          <ac:chgData name="Adam Porr" userId="176b239e-e1e8-4fc8-9bbc-5d53f6ce273d" providerId="ADAL" clId="{DFB54312-AE8C-4EE7-AD0F-90252FC88277}" dt="2026-07-30T15:39:15.173" v="105"/>
          <ac:graphicFrameMkLst>
            <pc:docMk/>
            <pc:sldMk cId="4274511312" sldId="2713"/>
            <ac:graphicFrameMk id="2" creationId="{00000000-0008-0000-0F00-000002000000}"/>
          </ac:graphicFrameMkLst>
        </pc:graphicFrameChg>
        <pc:graphicFrameChg chg="add mod">
          <ac:chgData name="Adam Porr" userId="176b239e-e1e8-4fc8-9bbc-5d53f6ce273d" providerId="ADAL" clId="{DFB54312-AE8C-4EE7-AD0F-90252FC88277}" dt="2026-07-30T15:46:47.724" v="206" actId="1076"/>
          <ac:graphicFrameMkLst>
            <pc:docMk/>
            <pc:sldMk cId="4274511312" sldId="2713"/>
            <ac:graphicFrameMk id="3" creationId="{00000000-0008-0000-0F00-000002000000}"/>
          </ac:graphicFrameMkLst>
        </pc:graphicFrameChg>
      </pc:sldChg>
      <pc:sldChg chg="addSp modSp add mod">
        <pc:chgData name="Adam Porr" userId="176b239e-e1e8-4fc8-9bbc-5d53f6ce273d" providerId="ADAL" clId="{DFB54312-AE8C-4EE7-AD0F-90252FC88277}" dt="2026-07-30T15:47:00.497" v="209" actId="1076"/>
        <pc:sldMkLst>
          <pc:docMk/>
          <pc:sldMk cId="665965565" sldId="2714"/>
        </pc:sldMkLst>
        <pc:graphicFrameChg chg="add mod">
          <ac:chgData name="Adam Porr" userId="176b239e-e1e8-4fc8-9bbc-5d53f6ce273d" providerId="ADAL" clId="{DFB54312-AE8C-4EE7-AD0F-90252FC88277}" dt="2026-07-30T15:39:25.791" v="110"/>
          <ac:graphicFrameMkLst>
            <pc:docMk/>
            <pc:sldMk cId="665965565" sldId="2714"/>
            <ac:graphicFrameMk id="2" creationId="{00000000-0008-0000-1000-000002000000}"/>
          </ac:graphicFrameMkLst>
        </pc:graphicFrameChg>
        <pc:graphicFrameChg chg="add mod">
          <ac:chgData name="Adam Porr" userId="176b239e-e1e8-4fc8-9bbc-5d53f6ce273d" providerId="ADAL" clId="{DFB54312-AE8C-4EE7-AD0F-90252FC88277}" dt="2026-07-30T15:47:00.497" v="209" actId="1076"/>
          <ac:graphicFrameMkLst>
            <pc:docMk/>
            <pc:sldMk cId="665965565" sldId="2714"/>
            <ac:graphicFrameMk id="3" creationId="{00000000-0008-0000-1000-000002000000}"/>
          </ac:graphicFrameMkLst>
        </pc:graphicFrameChg>
      </pc:sldChg>
      <pc:sldChg chg="addSp modSp add mod">
        <pc:chgData name="Adam Porr" userId="176b239e-e1e8-4fc8-9bbc-5d53f6ce273d" providerId="ADAL" clId="{DFB54312-AE8C-4EE7-AD0F-90252FC88277}" dt="2026-07-30T15:47:13.604" v="212" actId="1076"/>
        <pc:sldMkLst>
          <pc:docMk/>
          <pc:sldMk cId="2869149863" sldId="2715"/>
        </pc:sldMkLst>
        <pc:graphicFrameChg chg="add mod">
          <ac:chgData name="Adam Porr" userId="176b239e-e1e8-4fc8-9bbc-5d53f6ce273d" providerId="ADAL" clId="{DFB54312-AE8C-4EE7-AD0F-90252FC88277}" dt="2026-07-30T15:39:35.299" v="115"/>
          <ac:graphicFrameMkLst>
            <pc:docMk/>
            <pc:sldMk cId="2869149863" sldId="2715"/>
            <ac:graphicFrameMk id="2" creationId="{00000000-0008-0000-1100-000002000000}"/>
          </ac:graphicFrameMkLst>
        </pc:graphicFrameChg>
        <pc:graphicFrameChg chg="add mod">
          <ac:chgData name="Adam Porr" userId="176b239e-e1e8-4fc8-9bbc-5d53f6ce273d" providerId="ADAL" clId="{DFB54312-AE8C-4EE7-AD0F-90252FC88277}" dt="2026-07-30T15:47:13.604" v="212" actId="1076"/>
          <ac:graphicFrameMkLst>
            <pc:docMk/>
            <pc:sldMk cId="2869149863" sldId="2715"/>
            <ac:graphicFrameMk id="3" creationId="{00000000-0008-0000-1100-000002000000}"/>
          </ac:graphicFrameMkLst>
        </pc:graphicFrameChg>
      </pc:sldChg>
      <pc:sldChg chg="addSp modSp add mod">
        <pc:chgData name="Adam Porr" userId="176b239e-e1e8-4fc8-9bbc-5d53f6ce273d" providerId="ADAL" clId="{DFB54312-AE8C-4EE7-AD0F-90252FC88277}" dt="2026-07-30T15:47:28.176" v="215" actId="1076"/>
        <pc:sldMkLst>
          <pc:docMk/>
          <pc:sldMk cId="2880031330" sldId="2716"/>
        </pc:sldMkLst>
        <pc:graphicFrameChg chg="add mod">
          <ac:chgData name="Adam Porr" userId="176b239e-e1e8-4fc8-9bbc-5d53f6ce273d" providerId="ADAL" clId="{DFB54312-AE8C-4EE7-AD0F-90252FC88277}" dt="2026-07-30T15:39:49.009" v="120"/>
          <ac:graphicFrameMkLst>
            <pc:docMk/>
            <pc:sldMk cId="2880031330" sldId="2716"/>
            <ac:graphicFrameMk id="2" creationId="{00000000-0008-0000-1200-000002000000}"/>
          </ac:graphicFrameMkLst>
        </pc:graphicFrameChg>
        <pc:graphicFrameChg chg="add mod">
          <ac:chgData name="Adam Porr" userId="176b239e-e1e8-4fc8-9bbc-5d53f6ce273d" providerId="ADAL" clId="{DFB54312-AE8C-4EE7-AD0F-90252FC88277}" dt="2026-07-30T15:47:28.176" v="215" actId="1076"/>
          <ac:graphicFrameMkLst>
            <pc:docMk/>
            <pc:sldMk cId="2880031330" sldId="2716"/>
            <ac:graphicFrameMk id="3" creationId="{00000000-0008-0000-1200-000002000000}"/>
          </ac:graphicFrameMkLst>
        </pc:graphicFrameChg>
      </pc:sldChg>
      <pc:sldChg chg="addSp modSp add mod">
        <pc:chgData name="Adam Porr" userId="176b239e-e1e8-4fc8-9bbc-5d53f6ce273d" providerId="ADAL" clId="{DFB54312-AE8C-4EE7-AD0F-90252FC88277}" dt="2026-07-30T15:47:41.748" v="219" actId="1076"/>
        <pc:sldMkLst>
          <pc:docMk/>
          <pc:sldMk cId="3050467541" sldId="2717"/>
        </pc:sldMkLst>
        <pc:graphicFrameChg chg="add mod">
          <ac:chgData name="Adam Porr" userId="176b239e-e1e8-4fc8-9bbc-5d53f6ce273d" providerId="ADAL" clId="{DFB54312-AE8C-4EE7-AD0F-90252FC88277}" dt="2026-07-30T15:39:59.647" v="125"/>
          <ac:graphicFrameMkLst>
            <pc:docMk/>
            <pc:sldMk cId="3050467541" sldId="2717"/>
            <ac:graphicFrameMk id="2" creationId="{00000000-0008-0000-1300-000002000000}"/>
          </ac:graphicFrameMkLst>
        </pc:graphicFrameChg>
        <pc:graphicFrameChg chg="add mod">
          <ac:chgData name="Adam Porr" userId="176b239e-e1e8-4fc8-9bbc-5d53f6ce273d" providerId="ADAL" clId="{DFB54312-AE8C-4EE7-AD0F-90252FC88277}" dt="2026-07-30T15:47:41.748" v="219" actId="1076"/>
          <ac:graphicFrameMkLst>
            <pc:docMk/>
            <pc:sldMk cId="3050467541" sldId="2717"/>
            <ac:graphicFrameMk id="3" creationId="{00000000-0008-0000-1300-000002000000}"/>
          </ac:graphicFrameMkLst>
        </pc:graphicFrameChg>
      </pc:sldChg>
      <pc:sldChg chg="addSp modSp add mod">
        <pc:chgData name="Adam Porr" userId="176b239e-e1e8-4fc8-9bbc-5d53f6ce273d" providerId="ADAL" clId="{DFB54312-AE8C-4EE7-AD0F-90252FC88277}" dt="2026-07-30T15:47:56.390" v="222" actId="1076"/>
        <pc:sldMkLst>
          <pc:docMk/>
          <pc:sldMk cId="3248738005" sldId="2718"/>
        </pc:sldMkLst>
        <pc:graphicFrameChg chg="add mod">
          <ac:chgData name="Adam Porr" userId="176b239e-e1e8-4fc8-9bbc-5d53f6ce273d" providerId="ADAL" clId="{DFB54312-AE8C-4EE7-AD0F-90252FC88277}" dt="2026-07-30T15:40:08.070" v="130"/>
          <ac:graphicFrameMkLst>
            <pc:docMk/>
            <pc:sldMk cId="3248738005" sldId="2718"/>
            <ac:graphicFrameMk id="2" creationId="{00000000-0008-0000-1400-000002000000}"/>
          </ac:graphicFrameMkLst>
        </pc:graphicFrameChg>
        <pc:graphicFrameChg chg="add mod">
          <ac:chgData name="Adam Porr" userId="176b239e-e1e8-4fc8-9bbc-5d53f6ce273d" providerId="ADAL" clId="{DFB54312-AE8C-4EE7-AD0F-90252FC88277}" dt="2026-07-30T15:47:56.390" v="222" actId="1076"/>
          <ac:graphicFrameMkLst>
            <pc:docMk/>
            <pc:sldMk cId="3248738005" sldId="2718"/>
            <ac:graphicFrameMk id="3" creationId="{00000000-0008-0000-1400-000002000000}"/>
          </ac:graphicFrameMkLst>
        </pc:graphicFrameChg>
      </pc:sldChg>
      <pc:sldChg chg="addSp delSp modSp add mod">
        <pc:chgData name="Adam Porr" userId="176b239e-e1e8-4fc8-9bbc-5d53f6ce273d" providerId="ADAL" clId="{DFB54312-AE8C-4EE7-AD0F-90252FC88277}" dt="2026-07-30T15:48:09.377" v="225" actId="1076"/>
        <pc:sldMkLst>
          <pc:docMk/>
          <pc:sldMk cId="2189945833" sldId="2719"/>
        </pc:sldMkLst>
        <pc:graphicFrameChg chg="add del mod">
          <ac:chgData name="Adam Porr" userId="176b239e-e1e8-4fc8-9bbc-5d53f6ce273d" providerId="ADAL" clId="{DFB54312-AE8C-4EE7-AD0F-90252FC88277}" dt="2026-07-30T15:40:38.228" v="141" actId="478"/>
          <ac:graphicFrameMkLst>
            <pc:docMk/>
            <pc:sldMk cId="2189945833" sldId="2719"/>
            <ac:graphicFrameMk id="2" creationId="{00000000-0008-0000-1500-000002000000}"/>
          </ac:graphicFrameMkLst>
        </pc:graphicFrameChg>
        <pc:graphicFrameChg chg="del">
          <ac:chgData name="Adam Porr" userId="176b239e-e1e8-4fc8-9bbc-5d53f6ce273d" providerId="ADAL" clId="{DFB54312-AE8C-4EE7-AD0F-90252FC88277}" dt="2026-07-30T15:40:18.723" v="134" actId="478"/>
          <ac:graphicFrameMkLst>
            <pc:docMk/>
            <pc:sldMk cId="2189945833" sldId="2719"/>
            <ac:graphicFrameMk id="3" creationId="{EA768F18-5083-2F98-6541-C00C88FEBE77}"/>
          </ac:graphicFrameMkLst>
        </pc:graphicFrameChg>
        <pc:graphicFrameChg chg="add mod">
          <ac:chgData name="Adam Porr" userId="176b239e-e1e8-4fc8-9bbc-5d53f6ce273d" providerId="ADAL" clId="{DFB54312-AE8C-4EE7-AD0F-90252FC88277}" dt="2026-07-30T15:40:46.180" v="144"/>
          <ac:graphicFrameMkLst>
            <pc:docMk/>
            <pc:sldMk cId="2189945833" sldId="2719"/>
            <ac:graphicFrameMk id="4" creationId="{00000000-0008-0000-1500-000002000000}"/>
          </ac:graphicFrameMkLst>
        </pc:graphicFrameChg>
        <pc:graphicFrameChg chg="add mod">
          <ac:chgData name="Adam Porr" userId="176b239e-e1e8-4fc8-9bbc-5d53f6ce273d" providerId="ADAL" clId="{DFB54312-AE8C-4EE7-AD0F-90252FC88277}" dt="2026-07-30T15:48:09.377" v="225" actId="1076"/>
          <ac:graphicFrameMkLst>
            <pc:docMk/>
            <pc:sldMk cId="2189945833" sldId="2719"/>
            <ac:graphicFrameMk id="5" creationId="{00000000-0008-0000-1500-000002000000}"/>
          </ac:graphicFrameMkLst>
        </pc:graphicFrameChg>
      </pc:sldChg>
      <pc:sldChg chg="addSp modSp add mod">
        <pc:chgData name="Adam Porr" userId="176b239e-e1e8-4fc8-9bbc-5d53f6ce273d" providerId="ADAL" clId="{DFB54312-AE8C-4EE7-AD0F-90252FC88277}" dt="2026-07-30T15:48:20.820" v="228" actId="1076"/>
        <pc:sldMkLst>
          <pc:docMk/>
          <pc:sldMk cId="3263476057" sldId="2720"/>
        </pc:sldMkLst>
        <pc:graphicFrameChg chg="add mod">
          <ac:chgData name="Adam Porr" userId="176b239e-e1e8-4fc8-9bbc-5d53f6ce273d" providerId="ADAL" clId="{DFB54312-AE8C-4EE7-AD0F-90252FC88277}" dt="2026-07-30T15:40:53.775" v="149"/>
          <ac:graphicFrameMkLst>
            <pc:docMk/>
            <pc:sldMk cId="3263476057" sldId="2720"/>
            <ac:graphicFrameMk id="2" creationId="{00000000-0008-0000-1500-000002000000}"/>
          </ac:graphicFrameMkLst>
        </pc:graphicFrameChg>
        <pc:graphicFrameChg chg="add mod">
          <ac:chgData name="Adam Porr" userId="176b239e-e1e8-4fc8-9bbc-5d53f6ce273d" providerId="ADAL" clId="{DFB54312-AE8C-4EE7-AD0F-90252FC88277}" dt="2026-07-30T15:41:02.536" v="152"/>
          <ac:graphicFrameMkLst>
            <pc:docMk/>
            <pc:sldMk cId="3263476057" sldId="2720"/>
            <ac:graphicFrameMk id="3" creationId="{00000000-0008-0000-1600-000002000000}"/>
          </ac:graphicFrameMkLst>
        </pc:graphicFrameChg>
        <pc:graphicFrameChg chg="add mod">
          <ac:chgData name="Adam Porr" userId="176b239e-e1e8-4fc8-9bbc-5d53f6ce273d" providerId="ADAL" clId="{DFB54312-AE8C-4EE7-AD0F-90252FC88277}" dt="2026-07-30T15:48:20.820" v="228" actId="1076"/>
          <ac:graphicFrameMkLst>
            <pc:docMk/>
            <pc:sldMk cId="3263476057" sldId="2720"/>
            <ac:graphicFrameMk id="4" creationId="{00000000-0008-0000-1600-000002000000}"/>
          </ac:graphicFrameMkLst>
        </pc:graphicFrameChg>
      </pc:sldChg>
      <pc:sldChg chg="add del">
        <pc:chgData name="Adam Porr" userId="176b239e-e1e8-4fc8-9bbc-5d53f6ce273d" providerId="ADAL" clId="{DFB54312-AE8C-4EE7-AD0F-90252FC88277}" dt="2026-07-30T15:41:05.310" v="155" actId="47"/>
        <pc:sldMkLst>
          <pc:docMk/>
          <pc:sldMk cId="380054061" sldId="2721"/>
        </pc:sldMkLst>
      </pc:sldChg>
      <pc:sldChg chg="add del">
        <pc:chgData name="Adam Porr" userId="176b239e-e1e8-4fc8-9bbc-5d53f6ce273d" providerId="ADAL" clId="{DFB54312-AE8C-4EE7-AD0F-90252FC88277}" dt="2026-07-30T15:41:05.823" v="156" actId="47"/>
        <pc:sldMkLst>
          <pc:docMk/>
          <pc:sldMk cId="115487034" sldId="2722"/>
        </pc:sldMkLst>
      </pc:sldChg>
      <pc:sldChg chg="add del">
        <pc:chgData name="Adam Porr" userId="176b239e-e1e8-4fc8-9bbc-5d53f6ce273d" providerId="ADAL" clId="{DFB54312-AE8C-4EE7-AD0F-90252FC88277}" dt="2026-07-30T15:41:06.274" v="157" actId="47"/>
        <pc:sldMkLst>
          <pc:docMk/>
          <pc:sldMk cId="463826343" sldId="2723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_Worksheet.xlsx"/><Relationship Id="rId1" Type="http://schemas.openxmlformats.org/officeDocument/2006/relationships/themeOverride" Target="../theme/themeOverride1.xml"/></Relationships>
</file>

<file path=ppt/charts/_rels/chart2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_Worksheet1.xlsx"/><Relationship Id="rId1" Type="http://schemas.openxmlformats.org/officeDocument/2006/relationships/themeOverride" Target="../theme/themeOverride2.xml"/></Relationships>
</file>

<file path=ppt/charts/_rels/chart3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_Worksheet2.xlsx"/><Relationship Id="rId1" Type="http://schemas.openxmlformats.org/officeDocument/2006/relationships/themeOverride" Target="../theme/themeOverride3.xml"/></Relationships>
</file>

<file path=ppt/charts/_rels/chart4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_Worksheet3.xlsx"/><Relationship Id="rId1" Type="http://schemas.openxmlformats.org/officeDocument/2006/relationships/themeOverride" Target="../theme/themeOverride4.xml"/></Relationships>
</file>

<file path=ppt/charts/_rels/chart5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_Worksheet4.xlsx"/><Relationship Id="rId1" Type="http://schemas.openxmlformats.org/officeDocument/2006/relationships/themeOverride" Target="../theme/themeOverride5.xml"/></Relationships>
</file>

<file path=ppt/charts/_rels/chart6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_Worksheet5.xlsx"/><Relationship Id="rId1" Type="http://schemas.openxmlformats.org/officeDocument/2006/relationships/themeOverride" Target="../theme/themeOverride6.xml"/></Relationships>
</file>

<file path=ppt/charts/_rels/chart7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_Worksheet6.xlsx"/><Relationship Id="rId1" Type="http://schemas.openxmlformats.org/officeDocument/2006/relationships/themeOverride" Target="../theme/themeOverride7.xml"/></Relationships>
</file>

<file path=ppt/charts/_rels/chart8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_Worksheet7.xlsx"/><Relationship Id="rId1" Type="http://schemas.openxmlformats.org/officeDocument/2006/relationships/themeOverride" Target="../theme/themeOverride8.xml"/></Relationships>
</file>

<file path=ppt/charts/_rels/chart9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_Worksheet8.xlsx"/><Relationship Id="rId1" Type="http://schemas.openxmlformats.org/officeDocument/2006/relationships/themeOverride" Target="../theme/themeOverride9.xml"/></Relationships>
</file>

<file path=ppt/charts/_rels/chart10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_Worksheet9.xlsx"/><Relationship Id="rId1" Type="http://schemas.openxmlformats.org/officeDocument/2006/relationships/themeOverride" Target="../theme/themeOverride10.xml"/></Relationships>
</file>

<file path=ppt/charts/_rels/chart11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_Worksheet10.xlsx"/><Relationship Id="rId1" Type="http://schemas.openxmlformats.org/officeDocument/2006/relationships/themeOverride" Target="../theme/themeOverride11.xml"/></Relationships>
</file>

<file path=ppt/charts/_rels/chart12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_Worksheet11.xlsx"/><Relationship Id="rId1" Type="http://schemas.openxmlformats.org/officeDocument/2006/relationships/themeOverride" Target="../theme/themeOverride12.xml"/></Relationships>
</file>

<file path=ppt/charts/_rels/chart13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_Worksheet12.xlsx"/><Relationship Id="rId1" Type="http://schemas.openxmlformats.org/officeDocument/2006/relationships/themeOverride" Target="../theme/themeOverride13.xml"/></Relationships>
</file>

<file path=ppt/charts/_rels/chart14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_Worksheet13.xlsx"/><Relationship Id="rId1" Type="http://schemas.openxmlformats.org/officeDocument/2006/relationships/themeOverride" Target="../theme/themeOverride14.xml"/></Relationships>
</file>

<file path=ppt/charts/_rels/chart15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_Worksheet14.xlsx"/><Relationship Id="rId1" Type="http://schemas.openxmlformats.org/officeDocument/2006/relationships/themeOverride" Target="../theme/themeOverride15.xml"/></Relationships>
</file>

<file path=ppt/charts/_rels/chart16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_Worksheet15.xlsx"/><Relationship Id="rId1" Type="http://schemas.openxmlformats.org/officeDocument/2006/relationships/themeOverride" Target="../theme/themeOverride16.xml"/></Relationships>
</file>

<file path=ppt/charts/_rels/chart17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_Worksheet16.xlsx"/><Relationship Id="rId1" Type="http://schemas.openxmlformats.org/officeDocument/2006/relationships/themeOverride" Target="../theme/themeOverride17.xml"/></Relationships>
</file>

<file path=ppt/charts/_rels/chart18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_Worksheet17.xlsx"/><Relationship Id="rId1" Type="http://schemas.openxmlformats.org/officeDocument/2006/relationships/themeOverride" Target="../theme/themeOverride18.xml"/></Relationships>
</file>

<file path=ppt/charts/_rels/chart19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_Worksheet18.xlsx"/><Relationship Id="rId1" Type="http://schemas.openxmlformats.org/officeDocument/2006/relationships/themeOverride" Target="../theme/themeOverride19.xml"/></Relationships>
</file>

<file path=ppt/charts/_rels/chart20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_Worksheet19.xlsx"/><Relationship Id="rId1" Type="http://schemas.openxmlformats.org/officeDocument/2006/relationships/themeOverride" Target="../theme/themeOverride20.xml"/></Relationships>
</file>

<file path=ppt/charts/_rels/chart21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_Worksheet20.xlsx"/><Relationship Id="rId1" Type="http://schemas.openxmlformats.org/officeDocument/2006/relationships/themeOverride" Target="../theme/themeOverride21.xml"/></Relationships>
</file>

<file path=ppt/charts/_rels/chart22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_Worksheet21.xlsx"/><Relationship Id="rId1" Type="http://schemas.openxmlformats.org/officeDocument/2006/relationships/themeOverride" Target="../theme/themeOverride22.xml"/></Relationships>
</file>

<file path=ppt/charts/_rels/chart23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_Worksheet22.xlsx"/><Relationship Id="rId1" Type="http://schemas.openxmlformats.org/officeDocument/2006/relationships/themeOverride" Target="../theme/themeOverride2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/>
          <a:lstStyle/>
          <a:p>
            <a:pPr>
              <a:defRPr/>
            </a:pPr>
            <a:r>
              <a:rPr lang="en-US" dirty="0"/>
              <a:t>Historical and Projected Population - Delaware County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13"/>
          <c:y val="0.12"/>
          <c:w val="0.75"/>
          <c:h val="0.65"/>
        </c:manualLayout>
      </c:layout>
      <c:scatterChart>
        <c:scatterStyle val="lineMarker"/>
        <c:varyColors val="0"/>
        <c:ser>
          <c:idx val="0"/>
          <c:order val="0"/>
          <c:tx>
            <c:strRef>
              <c:f>'Delaware County'!$C$1</c:f>
              <c:strCache>
                <c:ptCount val="1"/>
                <c:pt idx="0">
                  <c:v>25th percentile migration</c:v>
                </c:pt>
              </c:strCache>
            </c:strRef>
          </c:tx>
          <c:spPr>
            <a:ln w="25400">
              <a:solidFill>
                <a:srgbClr val="597C3E"/>
              </a:solidFill>
            </a:ln>
          </c:spPr>
          <c:marker>
            <c:symbol val="square"/>
            <c:size val="5"/>
            <c:spPr>
              <a:solidFill>
                <a:srgbClr val="597C3E"/>
              </a:solidFill>
              <a:ln>
                <a:solidFill>
                  <a:srgbClr val="597C3E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F621-412E-9BFA-6C8899C0AFE6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F621-412E-9BFA-6C8899C0AFE6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F621-412E-9BFA-6C8899C0AFE6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621-412E-9BFA-6C8899C0AFE6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621-412E-9BFA-6C8899C0AFE6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F621-412E-9BFA-6C8899C0AFE6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F621-412E-9BFA-6C8899C0AFE6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F621-412E-9BFA-6C8899C0AFE6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F621-412E-9BFA-6C8899C0AFE6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F621-412E-9BFA-6C8899C0AFE6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F621-412E-9BFA-6C8899C0AFE6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F621-412E-9BFA-6C8899C0AFE6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F621-412E-9BFA-6C8899C0AFE6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F621-412E-9BFA-6C8899C0AFE6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F621-412E-9BFA-6C8899C0AFE6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F621-412E-9BFA-6C8899C0AFE6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0-F621-412E-9BFA-6C8899C0AFE6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F621-412E-9BFA-6C8899C0AFE6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2-F621-412E-9BFA-6C8899C0AFE6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F621-412E-9BFA-6C8899C0AFE6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4-F621-412E-9BFA-6C8899C0AFE6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5-F621-412E-9BFA-6C8899C0AFE6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6-F621-412E-9BFA-6C8899C0AFE6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7-F621-412E-9BFA-6C8899C0AFE6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8-F621-412E-9BFA-6C8899C0AFE6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9-F621-412E-9BFA-6C8899C0AFE6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A-F621-412E-9BFA-6C8899C0AFE6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B-F621-412E-9BFA-6C8899C0AFE6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C-F621-412E-9BFA-6C8899C0AFE6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D-F621-412E-9BFA-6C8899C0AFE6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E-F621-412E-9BFA-6C8899C0AFE6}"/>
                </c:ext>
              </c:extLst>
            </c:dLbl>
            <c:dLbl>
              <c:idx val="31"/>
              <c:layout>
                <c:manualLayout>
                  <c:x val="2.6984126984126867E-2"/>
                  <c:y val="3.1630170316301706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F-F621-412E-9BFA-6C8899C0AFE6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'Delaware County'!$A$2:$A$33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'Delaware County'!$C$2:$C$33</c:f>
              <c:numCache>
                <c:formatCode>General</c:formatCode>
                <c:ptCount val="32"/>
                <c:pt idx="25" formatCode="#,##0">
                  <c:v>242032</c:v>
                </c:pt>
                <c:pt idx="26" formatCode="#,##0">
                  <c:v>258927</c:v>
                </c:pt>
                <c:pt idx="27" formatCode="#,##0">
                  <c:v>271837</c:v>
                </c:pt>
                <c:pt idx="28" formatCode="#,##0">
                  <c:v>282457</c:v>
                </c:pt>
                <c:pt idx="29" formatCode="#,##0">
                  <c:v>293027</c:v>
                </c:pt>
                <c:pt idx="30" formatCode="#,##0">
                  <c:v>304032</c:v>
                </c:pt>
                <c:pt idx="31" formatCode="#,##0">
                  <c:v>314177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20-F621-412E-9BFA-6C8899C0AFE6}"/>
            </c:ext>
          </c:extLst>
        </c:ser>
        <c:ser>
          <c:idx val="1"/>
          <c:order val="1"/>
          <c:tx>
            <c:strRef>
              <c:f>'Delaware County'!$D$1</c:f>
              <c:strCache>
                <c:ptCount val="1"/>
                <c:pt idx="0">
                  <c:v>50th percentile migration</c:v>
                </c:pt>
              </c:strCache>
            </c:strRef>
          </c:tx>
          <c:spPr>
            <a:ln w="25400">
              <a:solidFill>
                <a:srgbClr val="3D9BB1"/>
              </a:solidFill>
            </a:ln>
          </c:spPr>
          <c:marker>
            <c:symbol val="triangle"/>
            <c:size val="5"/>
            <c:spPr>
              <a:solidFill>
                <a:srgbClr val="3D9BB1"/>
              </a:solidFill>
              <a:ln>
                <a:solidFill>
                  <a:srgbClr val="3D9BB1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1-F621-412E-9BFA-6C8899C0AFE6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2-F621-412E-9BFA-6C8899C0AFE6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3-F621-412E-9BFA-6C8899C0AFE6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4-F621-412E-9BFA-6C8899C0AFE6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5-F621-412E-9BFA-6C8899C0AFE6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6-F621-412E-9BFA-6C8899C0AFE6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7-F621-412E-9BFA-6C8899C0AFE6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8-F621-412E-9BFA-6C8899C0AFE6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9-F621-412E-9BFA-6C8899C0AFE6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A-F621-412E-9BFA-6C8899C0AFE6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B-F621-412E-9BFA-6C8899C0AFE6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C-F621-412E-9BFA-6C8899C0AFE6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D-F621-412E-9BFA-6C8899C0AFE6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E-F621-412E-9BFA-6C8899C0AFE6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F-F621-412E-9BFA-6C8899C0AFE6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0-F621-412E-9BFA-6C8899C0AFE6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1-F621-412E-9BFA-6C8899C0AFE6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2-F621-412E-9BFA-6C8899C0AFE6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3-F621-412E-9BFA-6C8899C0AFE6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4-F621-412E-9BFA-6C8899C0AFE6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5-F621-412E-9BFA-6C8899C0AFE6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6-F621-412E-9BFA-6C8899C0AFE6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7-F621-412E-9BFA-6C8899C0AFE6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8-F621-412E-9BFA-6C8899C0AFE6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9-F621-412E-9BFA-6C8899C0AFE6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A-F621-412E-9BFA-6C8899C0AFE6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B-F621-412E-9BFA-6C8899C0AFE6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C-F621-412E-9BFA-6C8899C0AFE6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D-F621-412E-9BFA-6C8899C0AFE6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E-F621-412E-9BFA-6C8899C0AFE6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F-F621-412E-9BFA-6C8899C0AFE6}"/>
                </c:ext>
              </c:extLst>
            </c:dLbl>
            <c:dLbl>
              <c:idx val="31"/>
              <c:layout>
                <c:manualLayout>
                  <c:x val="3.0158730158730159E-2"/>
                  <c:y val="-1.4598540145985401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0-F621-412E-9BFA-6C8899C0AFE6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'Delaware County'!$A$2:$A$33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'Delaware County'!$D$2:$D$33</c:f>
              <c:numCache>
                <c:formatCode>General</c:formatCode>
                <c:ptCount val="32"/>
                <c:pt idx="25" formatCode="#,##0">
                  <c:v>242032</c:v>
                </c:pt>
                <c:pt idx="26" formatCode="#,##0">
                  <c:v>260452</c:v>
                </c:pt>
                <c:pt idx="27" formatCode="#,##0">
                  <c:v>274912</c:v>
                </c:pt>
                <c:pt idx="28" formatCode="#,##0">
                  <c:v>287137</c:v>
                </c:pt>
                <c:pt idx="29" formatCode="#,##0">
                  <c:v>299367</c:v>
                </c:pt>
                <c:pt idx="30" formatCode="#,##0">
                  <c:v>312067</c:v>
                </c:pt>
                <c:pt idx="31" formatCode="#,##0">
                  <c:v>324002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41-F621-412E-9BFA-6C8899C0AFE6}"/>
            </c:ext>
          </c:extLst>
        </c:ser>
        <c:ser>
          <c:idx val="2"/>
          <c:order val="2"/>
          <c:tx>
            <c:strRef>
              <c:f>'Delaware County'!$E$1</c:f>
              <c:strCache>
                <c:ptCount val="1"/>
                <c:pt idx="0">
                  <c:v>75th percentile migration</c:v>
                </c:pt>
              </c:strCache>
            </c:strRef>
          </c:tx>
          <c:spPr>
            <a:ln w="25400">
              <a:solidFill>
                <a:srgbClr val="D95F27"/>
              </a:solidFill>
            </a:ln>
          </c:spPr>
          <c:marker>
            <c:symbol val="diamond"/>
            <c:size val="5"/>
            <c:spPr>
              <a:solidFill>
                <a:srgbClr val="D95F27"/>
              </a:solidFill>
              <a:ln>
                <a:solidFill>
                  <a:srgbClr val="D95F27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2-F621-412E-9BFA-6C8899C0AFE6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3-F621-412E-9BFA-6C8899C0AFE6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4-F621-412E-9BFA-6C8899C0AFE6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5-F621-412E-9BFA-6C8899C0AFE6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6-F621-412E-9BFA-6C8899C0AFE6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7-F621-412E-9BFA-6C8899C0AFE6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8-F621-412E-9BFA-6C8899C0AFE6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9-F621-412E-9BFA-6C8899C0AFE6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A-F621-412E-9BFA-6C8899C0AFE6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B-F621-412E-9BFA-6C8899C0AFE6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C-F621-412E-9BFA-6C8899C0AFE6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D-F621-412E-9BFA-6C8899C0AFE6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E-F621-412E-9BFA-6C8899C0AFE6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F-F621-412E-9BFA-6C8899C0AFE6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0-F621-412E-9BFA-6C8899C0AFE6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1-F621-412E-9BFA-6C8899C0AFE6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2-F621-412E-9BFA-6C8899C0AFE6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3-F621-412E-9BFA-6C8899C0AFE6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4-F621-412E-9BFA-6C8899C0AFE6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5-F621-412E-9BFA-6C8899C0AFE6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6-F621-412E-9BFA-6C8899C0AFE6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7-F621-412E-9BFA-6C8899C0AFE6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8-F621-412E-9BFA-6C8899C0AFE6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9-F621-412E-9BFA-6C8899C0AFE6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A-F621-412E-9BFA-6C8899C0AFE6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B-F621-412E-9BFA-6C8899C0AFE6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C-F621-412E-9BFA-6C8899C0AFE6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D-F621-412E-9BFA-6C8899C0AFE6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E-F621-412E-9BFA-6C8899C0AFE6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F-F621-412E-9BFA-6C8899C0AFE6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0-F621-412E-9BFA-6C8899C0AFE6}"/>
                </c:ext>
              </c:extLst>
            </c:dLbl>
            <c:dLbl>
              <c:idx val="31"/>
              <c:layout>
                <c:manualLayout>
                  <c:x val="3.0158730158730159E-2"/>
                  <c:y val="-2.4330900243309004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1-F621-412E-9BFA-6C8899C0AFE6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'Delaware County'!$A$2:$A$33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'Delaware County'!$E$2:$E$33</c:f>
              <c:numCache>
                <c:formatCode>General</c:formatCode>
                <c:ptCount val="32"/>
                <c:pt idx="25" formatCode="#,##0">
                  <c:v>242032</c:v>
                </c:pt>
                <c:pt idx="26" formatCode="#,##0">
                  <c:v>265297</c:v>
                </c:pt>
                <c:pt idx="27" formatCode="#,##0">
                  <c:v>284682</c:v>
                </c:pt>
                <c:pt idx="28" formatCode="#,##0">
                  <c:v>301942</c:v>
                </c:pt>
                <c:pt idx="29" formatCode="#,##0">
                  <c:v>319357</c:v>
                </c:pt>
                <c:pt idx="30" formatCode="#,##0">
                  <c:v>337477</c:v>
                </c:pt>
                <c:pt idx="31" formatCode="#,##0">
                  <c:v>355067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62-F621-412E-9BFA-6C8899C0AFE6}"/>
            </c:ext>
          </c:extLst>
        </c:ser>
        <c:ser>
          <c:idx val="3"/>
          <c:order val="3"/>
          <c:tx>
            <c:strRef>
              <c:f>'Delaware County'!$B$1</c:f>
              <c:strCache>
                <c:ptCount val="1"/>
                <c:pt idx="0">
                  <c:v>Historical</c:v>
                </c:pt>
              </c:strCache>
            </c:strRef>
          </c:tx>
          <c:spPr>
            <a:ln w="25400">
              <a:solidFill>
                <a:srgbClr val="193764"/>
              </a:solidFill>
            </a:ln>
          </c:spPr>
          <c:marker>
            <c:symbol val="circle"/>
            <c:size val="5"/>
            <c:spPr>
              <a:solidFill>
                <a:srgbClr val="193764"/>
              </a:solidFill>
              <a:ln>
                <a:solidFill>
                  <a:srgbClr val="193764"/>
                </a:solidFill>
              </a:ln>
            </c:spPr>
          </c:marker>
          <c:dLbls>
            <c:dLbl>
              <c:idx val="0"/>
              <c:layout>
                <c:manualLayout>
                  <c:x val="2.3432445944256999E-2"/>
                  <c:y val="5.6751920608464089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3-F621-412E-9BFA-6C8899C0AFE6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4-F621-412E-9BFA-6C8899C0AFE6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5-F621-412E-9BFA-6C8899C0AFE6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6-F621-412E-9BFA-6C8899C0AFE6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7-F621-412E-9BFA-6C8899C0AFE6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8-F621-412E-9BFA-6C8899C0AFE6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9-F621-412E-9BFA-6C8899C0AFE6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A-F621-412E-9BFA-6C8899C0AFE6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B-F621-412E-9BFA-6C8899C0AFE6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C-F621-412E-9BFA-6C8899C0AFE6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D-F621-412E-9BFA-6C8899C0AFE6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E-F621-412E-9BFA-6C8899C0AFE6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F-F621-412E-9BFA-6C8899C0AFE6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0-F621-412E-9BFA-6C8899C0AFE6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1-F621-412E-9BFA-6C8899C0AFE6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2-F621-412E-9BFA-6C8899C0AFE6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3-F621-412E-9BFA-6C8899C0AFE6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4-F621-412E-9BFA-6C8899C0AFE6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5-F621-412E-9BFA-6C8899C0AFE6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6-F621-412E-9BFA-6C8899C0AFE6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7-F621-412E-9BFA-6C8899C0AFE6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8-F621-412E-9BFA-6C8899C0AFE6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9-F621-412E-9BFA-6C8899C0AFE6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A-F621-412E-9BFA-6C8899C0AFE6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B-F621-412E-9BFA-6C8899C0AFE6}"/>
                </c:ext>
              </c:extLst>
            </c:dLbl>
            <c:dLbl>
              <c:idx val="25"/>
              <c:layout>
                <c:manualLayout>
                  <c:x val="-4.0059617547806521E-2"/>
                  <c:y val="0.1029806310707511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C-F621-412E-9BFA-6C8899C0AFE6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D-F621-412E-9BFA-6C8899C0AFE6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E-F621-412E-9BFA-6C8899C0AFE6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F-F621-412E-9BFA-6C8899C0AFE6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80-F621-412E-9BFA-6C8899C0AFE6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81-F621-412E-9BFA-6C8899C0AFE6}"/>
                </c:ext>
              </c:extLst>
            </c:dLbl>
            <c:dLbl>
              <c:idx val="3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82-F621-412E-9BFA-6C8899C0AFE6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'Delaware County'!$A$2:$A$33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'Delaware County'!$B$2:$B$33</c:f>
              <c:numCache>
                <c:formatCode>#,##0</c:formatCode>
                <c:ptCount val="32"/>
                <c:pt idx="0">
                  <c:v>111759</c:v>
                </c:pt>
                <c:pt idx="1">
                  <c:v>118646</c:v>
                </c:pt>
                <c:pt idx="2">
                  <c:v>126172</c:v>
                </c:pt>
                <c:pt idx="3">
                  <c:v>133842</c:v>
                </c:pt>
                <c:pt idx="4">
                  <c:v>141348</c:v>
                </c:pt>
                <c:pt idx="5">
                  <c:v>149153</c:v>
                </c:pt>
                <c:pt idx="6">
                  <c:v>156164</c:v>
                </c:pt>
                <c:pt idx="7">
                  <c:v>161796</c:v>
                </c:pt>
                <c:pt idx="8">
                  <c:v>166652</c:v>
                </c:pt>
                <c:pt idx="9">
                  <c:v>170676</c:v>
                </c:pt>
                <c:pt idx="10">
                  <c:v>175149</c:v>
                </c:pt>
                <c:pt idx="11">
                  <c:v>178759</c:v>
                </c:pt>
                <c:pt idx="12">
                  <c:v>181549</c:v>
                </c:pt>
                <c:pt idx="13">
                  <c:v>186000</c:v>
                </c:pt>
                <c:pt idx="14">
                  <c:v>190243</c:v>
                </c:pt>
                <c:pt idx="15">
                  <c:v>194358</c:v>
                </c:pt>
                <c:pt idx="16">
                  <c:v>198317</c:v>
                </c:pt>
                <c:pt idx="17">
                  <c:v>202171</c:v>
                </c:pt>
                <c:pt idx="18">
                  <c:v>206501</c:v>
                </c:pt>
                <c:pt idx="19">
                  <c:v>211062</c:v>
                </c:pt>
                <c:pt idx="20">
                  <c:v>215181</c:v>
                </c:pt>
                <c:pt idx="21">
                  <c:v>221342</c:v>
                </c:pt>
                <c:pt idx="22">
                  <c:v>226809</c:v>
                </c:pt>
                <c:pt idx="23">
                  <c:v>232079</c:v>
                </c:pt>
                <c:pt idx="24">
                  <c:v>236863</c:v>
                </c:pt>
                <c:pt idx="25">
                  <c:v>242032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83-F621-412E-9BFA-6C8899C0AFE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0010001"/>
        <c:axId val="50010002"/>
      </c:scatterChart>
      <c:valAx>
        <c:axId val="50010001"/>
        <c:scaling>
          <c:orientation val="minMax"/>
          <c:max val="2055"/>
          <c:min val="2000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 baseline="0"/>
            </a:pPr>
            <a:endParaRPr lang="en-US"/>
          </a:p>
        </c:txPr>
        <c:crossAx val="50010002"/>
        <c:crosses val="autoZero"/>
        <c:crossBetween val="midCat"/>
        <c:majorUnit val="5"/>
      </c:valAx>
      <c:valAx>
        <c:axId val="5001000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 baseline="0"/>
            </a:pPr>
            <a:endParaRPr lang="en-US"/>
          </a:p>
        </c:txPr>
        <c:crossAx val="50010001"/>
        <c:crosses val="autoZero"/>
        <c:crossBetween val="midCat"/>
      </c:valAx>
    </c:plotArea>
    <c:legend>
      <c:legendPos val="b"/>
      <c:layout>
        <c:manualLayout>
          <c:xMode val="edge"/>
          <c:yMode val="edge"/>
          <c:x val="0.13"/>
          <c:y val="0.87"/>
          <c:w val="0.65"/>
          <c:h val="0.1"/>
        </c:manualLayout>
      </c:layout>
      <c:overlay val="0"/>
      <c:txPr>
        <a:bodyPr/>
        <a:lstStyle/>
        <a:p>
          <a:pPr>
            <a:defRPr sz="1400" baseline="0"/>
          </a:pPr>
          <a:endParaRPr lang="en-US"/>
        </a:p>
      </c:txPr>
    </c:legend>
    <c:plotVisOnly val="1"/>
    <c:dispBlanksAs val="gap"/>
    <c:showDLblsOverMax val="0"/>
  </c:chart>
  <c:externalData r:id="rId2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/>
          <a:lstStyle/>
          <a:p>
            <a:pPr>
              <a:defRPr/>
            </a:pPr>
            <a:r>
              <a:rPr lang="en-US" dirty="0"/>
              <a:t>Historical and </a:t>
            </a:r>
            <a:r>
              <a:rPr lang="en-US" sz="1800" b="1" i="0" u="none" strike="noStrike" kern="1200" baseline="0" dirty="0">
                <a:solidFill>
                  <a:prstClr val="black"/>
                </a:solidFill>
              </a:rPr>
              <a:t>Projected</a:t>
            </a:r>
            <a:r>
              <a:rPr lang="en-US" dirty="0"/>
              <a:t> Population - Fairfield County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13"/>
          <c:y val="0.12"/>
          <c:w val="0.75"/>
          <c:h val="0.65"/>
        </c:manualLayout>
      </c:layout>
      <c:scatterChart>
        <c:scatterStyle val="lineMarker"/>
        <c:varyColors val="0"/>
        <c:ser>
          <c:idx val="0"/>
          <c:order val="0"/>
          <c:tx>
            <c:strRef>
              <c:f>'Fairfield County'!$C$1</c:f>
              <c:strCache>
                <c:ptCount val="1"/>
                <c:pt idx="0">
                  <c:v>25th percentile migration</c:v>
                </c:pt>
              </c:strCache>
            </c:strRef>
          </c:tx>
          <c:spPr>
            <a:ln w="25400">
              <a:solidFill>
                <a:srgbClr val="597C3E"/>
              </a:solidFill>
            </a:ln>
          </c:spPr>
          <c:marker>
            <c:symbol val="square"/>
            <c:size val="5"/>
            <c:spPr>
              <a:solidFill>
                <a:srgbClr val="597C3E"/>
              </a:solidFill>
              <a:ln>
                <a:solidFill>
                  <a:srgbClr val="597C3E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FE5B-4E5F-8590-119E466A112D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FE5B-4E5F-8590-119E466A112D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FE5B-4E5F-8590-119E466A112D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E5B-4E5F-8590-119E466A112D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E5B-4E5F-8590-119E466A112D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FE5B-4E5F-8590-119E466A112D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FE5B-4E5F-8590-119E466A112D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FE5B-4E5F-8590-119E466A112D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FE5B-4E5F-8590-119E466A112D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FE5B-4E5F-8590-119E466A112D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FE5B-4E5F-8590-119E466A112D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FE5B-4E5F-8590-119E466A112D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FE5B-4E5F-8590-119E466A112D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FE5B-4E5F-8590-119E466A112D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FE5B-4E5F-8590-119E466A112D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FE5B-4E5F-8590-119E466A112D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0-FE5B-4E5F-8590-119E466A112D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FE5B-4E5F-8590-119E466A112D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2-FE5B-4E5F-8590-119E466A112D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FE5B-4E5F-8590-119E466A112D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4-FE5B-4E5F-8590-119E466A112D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5-FE5B-4E5F-8590-119E466A112D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6-FE5B-4E5F-8590-119E466A112D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7-FE5B-4E5F-8590-119E466A112D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8-FE5B-4E5F-8590-119E466A112D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9-FE5B-4E5F-8590-119E466A112D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A-FE5B-4E5F-8590-119E466A112D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B-FE5B-4E5F-8590-119E466A112D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C-FE5B-4E5F-8590-119E466A112D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D-FE5B-4E5F-8590-119E466A112D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E-FE5B-4E5F-8590-119E466A112D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'Fairfield County'!$A$2:$A$33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'Fairfield County'!$C$2:$C$33</c:f>
              <c:numCache>
                <c:formatCode>General</c:formatCode>
                <c:ptCount val="32"/>
                <c:pt idx="25" formatCode="#,##0">
                  <c:v>169752</c:v>
                </c:pt>
                <c:pt idx="26" formatCode="#,##0">
                  <c:v>175152</c:v>
                </c:pt>
                <c:pt idx="27" formatCode="#,##0">
                  <c:v>178482</c:v>
                </c:pt>
                <c:pt idx="28" formatCode="#,##0">
                  <c:v>180742</c:v>
                </c:pt>
                <c:pt idx="29" formatCode="#,##0">
                  <c:v>182952</c:v>
                </c:pt>
                <c:pt idx="30" formatCode="#,##0">
                  <c:v>185232</c:v>
                </c:pt>
                <c:pt idx="31" formatCode="#,##0">
                  <c:v>187112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1F-FE5B-4E5F-8590-119E466A112D}"/>
            </c:ext>
          </c:extLst>
        </c:ser>
        <c:ser>
          <c:idx val="1"/>
          <c:order val="1"/>
          <c:tx>
            <c:strRef>
              <c:f>'Fairfield County'!$D$1</c:f>
              <c:strCache>
                <c:ptCount val="1"/>
                <c:pt idx="0">
                  <c:v>50th percentile migration</c:v>
                </c:pt>
              </c:strCache>
            </c:strRef>
          </c:tx>
          <c:spPr>
            <a:ln w="25400">
              <a:solidFill>
                <a:srgbClr val="3D9BB1"/>
              </a:solidFill>
            </a:ln>
          </c:spPr>
          <c:marker>
            <c:symbol val="triangle"/>
            <c:size val="5"/>
            <c:spPr>
              <a:solidFill>
                <a:srgbClr val="3D9BB1"/>
              </a:solidFill>
              <a:ln>
                <a:solidFill>
                  <a:srgbClr val="3D9BB1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0-FE5B-4E5F-8590-119E466A112D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1-FE5B-4E5F-8590-119E466A112D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2-FE5B-4E5F-8590-119E466A112D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3-FE5B-4E5F-8590-119E466A112D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4-FE5B-4E5F-8590-119E466A112D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5-FE5B-4E5F-8590-119E466A112D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6-FE5B-4E5F-8590-119E466A112D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7-FE5B-4E5F-8590-119E466A112D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8-FE5B-4E5F-8590-119E466A112D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9-FE5B-4E5F-8590-119E466A112D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A-FE5B-4E5F-8590-119E466A112D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B-FE5B-4E5F-8590-119E466A112D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C-FE5B-4E5F-8590-119E466A112D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D-FE5B-4E5F-8590-119E466A112D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E-FE5B-4E5F-8590-119E466A112D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F-FE5B-4E5F-8590-119E466A112D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0-FE5B-4E5F-8590-119E466A112D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1-FE5B-4E5F-8590-119E466A112D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2-FE5B-4E5F-8590-119E466A112D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3-FE5B-4E5F-8590-119E466A112D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4-FE5B-4E5F-8590-119E466A112D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5-FE5B-4E5F-8590-119E466A112D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6-FE5B-4E5F-8590-119E466A112D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7-FE5B-4E5F-8590-119E466A112D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8-FE5B-4E5F-8590-119E466A112D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9-FE5B-4E5F-8590-119E466A112D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A-FE5B-4E5F-8590-119E466A112D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B-FE5B-4E5F-8590-119E466A112D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C-FE5B-4E5F-8590-119E466A112D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D-FE5B-4E5F-8590-119E466A112D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E-FE5B-4E5F-8590-119E466A112D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'Fairfield County'!$A$2:$A$33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'Fairfield County'!$D$2:$D$33</c:f>
              <c:numCache>
                <c:formatCode>General</c:formatCode>
                <c:ptCount val="32"/>
                <c:pt idx="25" formatCode="#,##0">
                  <c:v>169752</c:v>
                </c:pt>
                <c:pt idx="26" formatCode="#,##0">
                  <c:v>176562</c:v>
                </c:pt>
                <c:pt idx="27" formatCode="#,##0">
                  <c:v>181322</c:v>
                </c:pt>
                <c:pt idx="28" formatCode="#,##0">
                  <c:v>185097</c:v>
                </c:pt>
                <c:pt idx="29" formatCode="#,##0">
                  <c:v>188897</c:v>
                </c:pt>
                <c:pt idx="30" formatCode="#,##0">
                  <c:v>192822</c:v>
                </c:pt>
                <c:pt idx="31" formatCode="#,##0">
                  <c:v>196407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3F-FE5B-4E5F-8590-119E466A112D}"/>
            </c:ext>
          </c:extLst>
        </c:ser>
        <c:ser>
          <c:idx val="2"/>
          <c:order val="2"/>
          <c:tx>
            <c:strRef>
              <c:f>'Fairfield County'!$E$1</c:f>
              <c:strCache>
                <c:ptCount val="1"/>
                <c:pt idx="0">
                  <c:v>75th percentile migration</c:v>
                </c:pt>
              </c:strCache>
            </c:strRef>
          </c:tx>
          <c:spPr>
            <a:ln w="25400">
              <a:solidFill>
                <a:srgbClr val="D95F27"/>
              </a:solidFill>
            </a:ln>
          </c:spPr>
          <c:marker>
            <c:symbol val="diamond"/>
            <c:size val="5"/>
            <c:spPr>
              <a:solidFill>
                <a:srgbClr val="D95F27"/>
              </a:solidFill>
              <a:ln>
                <a:solidFill>
                  <a:srgbClr val="D95F27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0-FE5B-4E5F-8590-119E466A112D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1-FE5B-4E5F-8590-119E466A112D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2-FE5B-4E5F-8590-119E466A112D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3-FE5B-4E5F-8590-119E466A112D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4-FE5B-4E5F-8590-119E466A112D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5-FE5B-4E5F-8590-119E466A112D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6-FE5B-4E5F-8590-119E466A112D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7-FE5B-4E5F-8590-119E466A112D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8-FE5B-4E5F-8590-119E466A112D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9-FE5B-4E5F-8590-119E466A112D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A-FE5B-4E5F-8590-119E466A112D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B-FE5B-4E5F-8590-119E466A112D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C-FE5B-4E5F-8590-119E466A112D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D-FE5B-4E5F-8590-119E466A112D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E-FE5B-4E5F-8590-119E466A112D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F-FE5B-4E5F-8590-119E466A112D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0-FE5B-4E5F-8590-119E466A112D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1-FE5B-4E5F-8590-119E466A112D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2-FE5B-4E5F-8590-119E466A112D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3-FE5B-4E5F-8590-119E466A112D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4-FE5B-4E5F-8590-119E466A112D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5-FE5B-4E5F-8590-119E466A112D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6-FE5B-4E5F-8590-119E466A112D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7-FE5B-4E5F-8590-119E466A112D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8-FE5B-4E5F-8590-119E466A112D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9-FE5B-4E5F-8590-119E466A112D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A-FE5B-4E5F-8590-119E466A112D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B-FE5B-4E5F-8590-119E466A112D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C-FE5B-4E5F-8590-119E466A112D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D-FE5B-4E5F-8590-119E466A112D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E-FE5B-4E5F-8590-119E466A112D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'Fairfield County'!$A$2:$A$33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'Fairfield County'!$E$2:$E$33</c:f>
              <c:numCache>
                <c:formatCode>General</c:formatCode>
                <c:ptCount val="32"/>
                <c:pt idx="25" formatCode="#,##0">
                  <c:v>169752</c:v>
                </c:pt>
                <c:pt idx="26" formatCode="#,##0">
                  <c:v>179297</c:v>
                </c:pt>
                <c:pt idx="27" formatCode="#,##0">
                  <c:v>186812</c:v>
                </c:pt>
                <c:pt idx="28" formatCode="#,##0">
                  <c:v>193457</c:v>
                </c:pt>
                <c:pt idx="29" formatCode="#,##0">
                  <c:v>200327</c:v>
                </c:pt>
                <c:pt idx="30" formatCode="#,##0">
                  <c:v>207482</c:v>
                </c:pt>
                <c:pt idx="31" formatCode="#,##0">
                  <c:v>214347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5F-FE5B-4E5F-8590-119E466A112D}"/>
            </c:ext>
          </c:extLst>
        </c:ser>
        <c:ser>
          <c:idx val="3"/>
          <c:order val="3"/>
          <c:tx>
            <c:strRef>
              <c:f>'Fairfield County'!$B$1</c:f>
              <c:strCache>
                <c:ptCount val="1"/>
                <c:pt idx="0">
                  <c:v>Historical</c:v>
                </c:pt>
              </c:strCache>
            </c:strRef>
          </c:tx>
          <c:spPr>
            <a:ln w="25400">
              <a:solidFill>
                <a:srgbClr val="193764"/>
              </a:solidFill>
            </a:ln>
          </c:spPr>
          <c:marker>
            <c:symbol val="circle"/>
            <c:size val="5"/>
            <c:spPr>
              <a:solidFill>
                <a:srgbClr val="193764"/>
              </a:solidFill>
              <a:ln>
                <a:solidFill>
                  <a:srgbClr val="193764"/>
                </a:solidFill>
              </a:ln>
            </c:spPr>
          </c:marker>
          <c:dLbls>
            <c:dLbl>
              <c:idx val="0"/>
              <c:layout>
                <c:manualLayout>
                  <c:x val="2.6607049118860113E-2"/>
                  <c:y val="0.10054754104642029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0-FE5B-4E5F-8590-119E466A112D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1-FE5B-4E5F-8590-119E466A112D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2-FE5B-4E5F-8590-119E466A112D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3-FE5B-4E5F-8590-119E466A112D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4-FE5B-4E5F-8590-119E466A112D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5-FE5B-4E5F-8590-119E466A112D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6-FE5B-4E5F-8590-119E466A112D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7-FE5B-4E5F-8590-119E466A112D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8-FE5B-4E5F-8590-119E466A112D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9-FE5B-4E5F-8590-119E466A112D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A-FE5B-4E5F-8590-119E466A112D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B-FE5B-4E5F-8590-119E466A112D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C-FE5B-4E5F-8590-119E466A112D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D-FE5B-4E5F-8590-119E466A112D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E-FE5B-4E5F-8590-119E466A112D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F-FE5B-4E5F-8590-119E466A112D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0-FE5B-4E5F-8590-119E466A112D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1-FE5B-4E5F-8590-119E466A112D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2-FE5B-4E5F-8590-119E466A112D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3-FE5B-4E5F-8590-119E466A112D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4-FE5B-4E5F-8590-119E466A112D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5-FE5B-4E5F-8590-119E466A112D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6-FE5B-4E5F-8590-119E466A112D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7-FE5B-4E5F-8590-119E466A112D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8-FE5B-4E5F-8590-119E466A112D}"/>
                </c:ext>
              </c:extLst>
            </c:dLbl>
            <c:dLbl>
              <c:idx val="25"/>
              <c:layout>
                <c:manualLayout>
                  <c:x val="-4.3234220722409698E-2"/>
                  <c:y val="0.10054754104642029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9-FE5B-4E5F-8590-119E466A112D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A-FE5B-4E5F-8590-119E466A112D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B-FE5B-4E5F-8590-119E466A112D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C-FE5B-4E5F-8590-119E466A112D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D-FE5B-4E5F-8590-119E466A112D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E-FE5B-4E5F-8590-119E466A112D}"/>
                </c:ext>
              </c:extLst>
            </c:dLbl>
            <c:dLbl>
              <c:idx val="3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F-FE5B-4E5F-8590-119E466A112D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'Fairfield County'!$A$2:$A$33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'Fairfield County'!$B$2:$B$33</c:f>
              <c:numCache>
                <c:formatCode>#,##0</c:formatCode>
                <c:ptCount val="32"/>
                <c:pt idx="0">
                  <c:v>123485</c:v>
                </c:pt>
                <c:pt idx="1">
                  <c:v>126245</c:v>
                </c:pt>
                <c:pt idx="2">
                  <c:v>129355</c:v>
                </c:pt>
                <c:pt idx="3">
                  <c:v>132770</c:v>
                </c:pt>
                <c:pt idx="4">
                  <c:v>136074</c:v>
                </c:pt>
                <c:pt idx="5">
                  <c:v>138745</c:v>
                </c:pt>
                <c:pt idx="6">
                  <c:v>141005</c:v>
                </c:pt>
                <c:pt idx="7">
                  <c:v>142915</c:v>
                </c:pt>
                <c:pt idx="8">
                  <c:v>144029</c:v>
                </c:pt>
                <c:pt idx="9">
                  <c:v>145446</c:v>
                </c:pt>
                <c:pt idx="10">
                  <c:v>146399</c:v>
                </c:pt>
                <c:pt idx="11">
                  <c:v>147132</c:v>
                </c:pt>
                <c:pt idx="12">
                  <c:v>147227</c:v>
                </c:pt>
                <c:pt idx="13">
                  <c:v>148695</c:v>
                </c:pt>
                <c:pt idx="14">
                  <c:v>150237</c:v>
                </c:pt>
                <c:pt idx="15">
                  <c:v>151109</c:v>
                </c:pt>
                <c:pt idx="16">
                  <c:v>152590</c:v>
                </c:pt>
                <c:pt idx="17">
                  <c:v>154441</c:v>
                </c:pt>
                <c:pt idx="18">
                  <c:v>155747</c:v>
                </c:pt>
                <c:pt idx="19">
                  <c:v>157349</c:v>
                </c:pt>
                <c:pt idx="20">
                  <c:v>159451</c:v>
                </c:pt>
                <c:pt idx="21">
                  <c:v>161146</c:v>
                </c:pt>
                <c:pt idx="22">
                  <c:v>163003</c:v>
                </c:pt>
                <c:pt idx="23">
                  <c:v>165490</c:v>
                </c:pt>
                <c:pt idx="24">
                  <c:v>167706</c:v>
                </c:pt>
                <c:pt idx="25">
                  <c:v>169752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80-FE5B-4E5F-8590-119E466A112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0020001"/>
        <c:axId val="50020002"/>
      </c:scatterChart>
      <c:valAx>
        <c:axId val="50020001"/>
        <c:scaling>
          <c:orientation val="minMax"/>
          <c:max val="2055"/>
          <c:min val="2000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 baseline="0"/>
            </a:pPr>
            <a:endParaRPr lang="en-US"/>
          </a:p>
        </c:txPr>
        <c:crossAx val="50020002"/>
        <c:crosses val="autoZero"/>
        <c:crossBetween val="midCat"/>
        <c:majorUnit val="5"/>
      </c:valAx>
      <c:valAx>
        <c:axId val="5002000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 baseline="0"/>
            </a:pPr>
            <a:endParaRPr lang="en-US"/>
          </a:p>
        </c:txPr>
        <c:crossAx val="50020001"/>
        <c:crosses val="autoZero"/>
        <c:crossBetween val="midCat"/>
      </c:valAx>
    </c:plotArea>
    <c:legend>
      <c:legendPos val="b"/>
      <c:layout>
        <c:manualLayout>
          <c:xMode val="edge"/>
          <c:yMode val="edge"/>
          <c:x val="0.13"/>
          <c:y val="0.87"/>
          <c:w val="0.65"/>
          <c:h val="0.1"/>
        </c:manualLayout>
      </c:layout>
      <c:overlay val="0"/>
      <c:txPr>
        <a:bodyPr/>
        <a:lstStyle/>
        <a:p>
          <a:pPr>
            <a:defRPr sz="1400" baseline="0"/>
          </a:pPr>
          <a:endParaRPr lang="en-US"/>
        </a:p>
      </c:txPr>
    </c:legend>
    <c:plotVisOnly val="1"/>
    <c:dispBlanksAs val="gap"/>
    <c:showDLblsOverMax val="0"/>
  </c:chart>
  <c:externalData r:id="rId2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/>
          <a:lstStyle/>
          <a:p>
            <a:pPr>
              <a:defRPr/>
            </a:pPr>
            <a:r>
              <a:rPr lang="en-US" dirty="0"/>
              <a:t>Historical and </a:t>
            </a:r>
            <a:r>
              <a:rPr lang="en-US" sz="1800" b="1" i="0" u="none" strike="noStrike" kern="1200" baseline="0" dirty="0">
                <a:solidFill>
                  <a:prstClr val="black"/>
                </a:solidFill>
              </a:rPr>
              <a:t>Projected</a:t>
            </a:r>
            <a:r>
              <a:rPr lang="en-US" dirty="0"/>
              <a:t> Population - Fayette County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13"/>
          <c:y val="0.12"/>
          <c:w val="0.75"/>
          <c:h val="0.65"/>
        </c:manualLayout>
      </c:layout>
      <c:scatterChart>
        <c:scatterStyle val="lineMarker"/>
        <c:varyColors val="0"/>
        <c:ser>
          <c:idx val="0"/>
          <c:order val="0"/>
          <c:tx>
            <c:strRef>
              <c:f>'Fayette County'!$C$1</c:f>
              <c:strCache>
                <c:ptCount val="1"/>
                <c:pt idx="0">
                  <c:v>25th percentile migration</c:v>
                </c:pt>
              </c:strCache>
            </c:strRef>
          </c:tx>
          <c:spPr>
            <a:ln w="25400">
              <a:solidFill>
                <a:srgbClr val="597C3E"/>
              </a:solidFill>
            </a:ln>
          </c:spPr>
          <c:marker>
            <c:symbol val="square"/>
            <c:size val="5"/>
            <c:spPr>
              <a:solidFill>
                <a:srgbClr val="597C3E"/>
              </a:solidFill>
              <a:ln>
                <a:solidFill>
                  <a:srgbClr val="597C3E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3678-48F2-B810-055486DD30B4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3678-48F2-B810-055486DD30B4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3678-48F2-B810-055486DD30B4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3678-48F2-B810-055486DD30B4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3678-48F2-B810-055486DD30B4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3678-48F2-B810-055486DD30B4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3678-48F2-B810-055486DD30B4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3678-48F2-B810-055486DD30B4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3678-48F2-B810-055486DD30B4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3678-48F2-B810-055486DD30B4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3678-48F2-B810-055486DD30B4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3678-48F2-B810-055486DD30B4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3678-48F2-B810-055486DD30B4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3678-48F2-B810-055486DD30B4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3678-48F2-B810-055486DD30B4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3678-48F2-B810-055486DD30B4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0-3678-48F2-B810-055486DD30B4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3678-48F2-B810-055486DD30B4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2-3678-48F2-B810-055486DD30B4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3678-48F2-B810-055486DD30B4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4-3678-48F2-B810-055486DD30B4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5-3678-48F2-B810-055486DD30B4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6-3678-48F2-B810-055486DD30B4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7-3678-48F2-B810-055486DD30B4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8-3678-48F2-B810-055486DD30B4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9-3678-48F2-B810-055486DD30B4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A-3678-48F2-B810-055486DD30B4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B-3678-48F2-B810-055486DD30B4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C-3678-48F2-B810-055486DD30B4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D-3678-48F2-B810-055486DD30B4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E-3678-48F2-B810-055486DD30B4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'Fayette County'!$A$2:$A$33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'Fayette County'!$C$2:$C$33</c:f>
              <c:numCache>
                <c:formatCode>General</c:formatCode>
                <c:ptCount val="32"/>
                <c:pt idx="25" formatCode="#,##0">
                  <c:v>28552</c:v>
                </c:pt>
                <c:pt idx="26" formatCode="#,##0">
                  <c:v>27882</c:v>
                </c:pt>
                <c:pt idx="27" formatCode="#,##0">
                  <c:v>27017</c:v>
                </c:pt>
                <c:pt idx="28" formatCode="#,##0">
                  <c:v>25992</c:v>
                </c:pt>
                <c:pt idx="29" formatCode="#,##0">
                  <c:v>24857</c:v>
                </c:pt>
                <c:pt idx="30" formatCode="#,##0">
                  <c:v>23677</c:v>
                </c:pt>
                <c:pt idx="31" formatCode="#,##0">
                  <c:v>22477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1F-3678-48F2-B810-055486DD30B4}"/>
            </c:ext>
          </c:extLst>
        </c:ser>
        <c:ser>
          <c:idx val="1"/>
          <c:order val="1"/>
          <c:tx>
            <c:strRef>
              <c:f>'Fayette County'!$D$1</c:f>
              <c:strCache>
                <c:ptCount val="1"/>
                <c:pt idx="0">
                  <c:v>50th percentile migration</c:v>
                </c:pt>
              </c:strCache>
            </c:strRef>
          </c:tx>
          <c:spPr>
            <a:ln w="25400">
              <a:solidFill>
                <a:srgbClr val="3D9BB1"/>
              </a:solidFill>
            </a:ln>
          </c:spPr>
          <c:marker>
            <c:symbol val="triangle"/>
            <c:size val="5"/>
            <c:spPr>
              <a:solidFill>
                <a:srgbClr val="3D9BB1"/>
              </a:solidFill>
              <a:ln>
                <a:solidFill>
                  <a:srgbClr val="3D9BB1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0-3678-48F2-B810-055486DD30B4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1-3678-48F2-B810-055486DD30B4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2-3678-48F2-B810-055486DD30B4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3-3678-48F2-B810-055486DD30B4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4-3678-48F2-B810-055486DD30B4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5-3678-48F2-B810-055486DD30B4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6-3678-48F2-B810-055486DD30B4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7-3678-48F2-B810-055486DD30B4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8-3678-48F2-B810-055486DD30B4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9-3678-48F2-B810-055486DD30B4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A-3678-48F2-B810-055486DD30B4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B-3678-48F2-B810-055486DD30B4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C-3678-48F2-B810-055486DD30B4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D-3678-48F2-B810-055486DD30B4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E-3678-48F2-B810-055486DD30B4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F-3678-48F2-B810-055486DD30B4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0-3678-48F2-B810-055486DD30B4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1-3678-48F2-B810-055486DD30B4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2-3678-48F2-B810-055486DD30B4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3-3678-48F2-B810-055486DD30B4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4-3678-48F2-B810-055486DD30B4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5-3678-48F2-B810-055486DD30B4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6-3678-48F2-B810-055486DD30B4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7-3678-48F2-B810-055486DD30B4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8-3678-48F2-B810-055486DD30B4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9-3678-48F2-B810-055486DD30B4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A-3678-48F2-B810-055486DD30B4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B-3678-48F2-B810-055486DD30B4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C-3678-48F2-B810-055486DD30B4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D-3678-48F2-B810-055486DD30B4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E-3678-48F2-B810-055486DD30B4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'Fayette County'!$A$2:$A$33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'Fayette County'!$D$2:$D$33</c:f>
              <c:numCache>
                <c:formatCode>General</c:formatCode>
                <c:ptCount val="32"/>
                <c:pt idx="25" formatCode="#,##0">
                  <c:v>28552</c:v>
                </c:pt>
                <c:pt idx="26" formatCode="#,##0">
                  <c:v>28177</c:v>
                </c:pt>
                <c:pt idx="27" formatCode="#,##0">
                  <c:v>27562</c:v>
                </c:pt>
                <c:pt idx="28" formatCode="#,##0">
                  <c:v>26797</c:v>
                </c:pt>
                <c:pt idx="29" formatCode="#,##0">
                  <c:v>25917</c:v>
                </c:pt>
                <c:pt idx="30" formatCode="#,##0">
                  <c:v>24977</c:v>
                </c:pt>
                <c:pt idx="31" formatCode="#,##0">
                  <c:v>24022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3F-3678-48F2-B810-055486DD30B4}"/>
            </c:ext>
          </c:extLst>
        </c:ser>
        <c:ser>
          <c:idx val="2"/>
          <c:order val="2"/>
          <c:tx>
            <c:strRef>
              <c:f>'Fayette County'!$E$1</c:f>
              <c:strCache>
                <c:ptCount val="1"/>
                <c:pt idx="0">
                  <c:v>75th percentile migration</c:v>
                </c:pt>
              </c:strCache>
            </c:strRef>
          </c:tx>
          <c:spPr>
            <a:ln w="25400">
              <a:solidFill>
                <a:srgbClr val="D95F27"/>
              </a:solidFill>
            </a:ln>
          </c:spPr>
          <c:marker>
            <c:symbol val="diamond"/>
            <c:size val="5"/>
            <c:spPr>
              <a:solidFill>
                <a:srgbClr val="D95F27"/>
              </a:solidFill>
              <a:ln>
                <a:solidFill>
                  <a:srgbClr val="D95F27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0-3678-48F2-B810-055486DD30B4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1-3678-48F2-B810-055486DD30B4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2-3678-48F2-B810-055486DD30B4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3-3678-48F2-B810-055486DD30B4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4-3678-48F2-B810-055486DD30B4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5-3678-48F2-B810-055486DD30B4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6-3678-48F2-B810-055486DD30B4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7-3678-48F2-B810-055486DD30B4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8-3678-48F2-B810-055486DD30B4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9-3678-48F2-B810-055486DD30B4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A-3678-48F2-B810-055486DD30B4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B-3678-48F2-B810-055486DD30B4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C-3678-48F2-B810-055486DD30B4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D-3678-48F2-B810-055486DD30B4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E-3678-48F2-B810-055486DD30B4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F-3678-48F2-B810-055486DD30B4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0-3678-48F2-B810-055486DD30B4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1-3678-48F2-B810-055486DD30B4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2-3678-48F2-B810-055486DD30B4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3-3678-48F2-B810-055486DD30B4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4-3678-48F2-B810-055486DD30B4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5-3678-48F2-B810-055486DD30B4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6-3678-48F2-B810-055486DD30B4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7-3678-48F2-B810-055486DD30B4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8-3678-48F2-B810-055486DD30B4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9-3678-48F2-B810-055486DD30B4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A-3678-48F2-B810-055486DD30B4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B-3678-48F2-B810-055486DD30B4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C-3678-48F2-B810-055486DD30B4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D-3678-48F2-B810-055486DD30B4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E-3678-48F2-B810-055486DD30B4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'Fayette County'!$A$2:$A$33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'Fayette County'!$E$2:$E$33</c:f>
              <c:numCache>
                <c:formatCode>General</c:formatCode>
                <c:ptCount val="32"/>
                <c:pt idx="25" formatCode="#,##0">
                  <c:v>28552</c:v>
                </c:pt>
                <c:pt idx="26" formatCode="#,##0">
                  <c:v>28407</c:v>
                </c:pt>
                <c:pt idx="27" formatCode="#,##0">
                  <c:v>27987</c:v>
                </c:pt>
                <c:pt idx="28" formatCode="#,##0">
                  <c:v>27407</c:v>
                </c:pt>
                <c:pt idx="29" formatCode="#,##0">
                  <c:v>26737</c:v>
                </c:pt>
                <c:pt idx="30" formatCode="#,##0">
                  <c:v>25992</c:v>
                </c:pt>
                <c:pt idx="31" formatCode="#,##0">
                  <c:v>25247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5F-3678-48F2-B810-055486DD30B4}"/>
            </c:ext>
          </c:extLst>
        </c:ser>
        <c:ser>
          <c:idx val="3"/>
          <c:order val="3"/>
          <c:tx>
            <c:strRef>
              <c:f>'Fayette County'!$B$1</c:f>
              <c:strCache>
                <c:ptCount val="1"/>
                <c:pt idx="0">
                  <c:v>Historical</c:v>
                </c:pt>
              </c:strCache>
            </c:strRef>
          </c:tx>
          <c:spPr>
            <a:ln w="25400">
              <a:solidFill>
                <a:srgbClr val="193764"/>
              </a:solidFill>
            </a:ln>
          </c:spPr>
          <c:marker>
            <c:symbol val="circle"/>
            <c:size val="5"/>
            <c:spPr>
              <a:solidFill>
                <a:srgbClr val="193764"/>
              </a:solidFill>
              <a:ln>
                <a:solidFill>
                  <a:srgbClr val="193764"/>
                </a:solidFill>
              </a:ln>
            </c:spPr>
          </c:marker>
          <c:dLbls>
            <c:dLbl>
              <c:idx val="0"/>
              <c:layout>
                <c:manualLayout>
                  <c:x val="3.6194350706161726E-2"/>
                  <c:y val="0.10054754104642029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0-3678-48F2-B810-055486DD30B4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1-3678-48F2-B810-055486DD30B4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2-3678-48F2-B810-055486DD30B4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3-3678-48F2-B810-055486DD30B4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4-3678-48F2-B810-055486DD30B4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5-3678-48F2-B810-055486DD30B4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6-3678-48F2-B810-055486DD30B4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7-3678-48F2-B810-055486DD30B4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8-3678-48F2-B810-055486DD30B4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9-3678-48F2-B810-055486DD30B4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A-3678-48F2-B810-055486DD30B4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B-3678-48F2-B810-055486DD30B4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C-3678-48F2-B810-055486DD30B4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D-3678-48F2-B810-055486DD30B4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E-3678-48F2-B810-055486DD30B4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F-3678-48F2-B810-055486DD30B4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0-3678-48F2-B810-055486DD30B4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1-3678-48F2-B810-055486DD30B4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2-3678-48F2-B810-055486DD30B4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3-3678-48F2-B810-055486DD30B4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4-3678-48F2-B810-055486DD30B4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5-3678-48F2-B810-055486DD30B4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6-3678-48F2-B810-055486DD30B4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7-3678-48F2-B810-055486DD30B4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8-3678-48F2-B810-055486DD30B4}"/>
                </c:ext>
              </c:extLst>
            </c:dLbl>
            <c:dLbl>
              <c:idx val="25"/>
              <c:layout>
                <c:manualLayout>
                  <c:x val="-3.5234220722409754E-2"/>
                  <c:y val="0.10054754104642025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9-3678-48F2-B810-055486DD30B4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A-3678-48F2-B810-055486DD30B4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B-3678-48F2-B810-055486DD30B4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C-3678-48F2-B810-055486DD30B4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D-3678-48F2-B810-055486DD30B4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E-3678-48F2-B810-055486DD30B4}"/>
                </c:ext>
              </c:extLst>
            </c:dLbl>
            <c:dLbl>
              <c:idx val="3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F-3678-48F2-B810-055486DD30B4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'Fayette County'!$A$2:$A$33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'Fayette County'!$B$2:$B$33</c:f>
              <c:numCache>
                <c:formatCode>#,##0</c:formatCode>
                <c:ptCount val="32"/>
                <c:pt idx="0">
                  <c:v>28495</c:v>
                </c:pt>
                <c:pt idx="1">
                  <c:v>28310</c:v>
                </c:pt>
                <c:pt idx="2">
                  <c:v>28370</c:v>
                </c:pt>
                <c:pt idx="3">
                  <c:v>28450</c:v>
                </c:pt>
                <c:pt idx="4">
                  <c:v>28470</c:v>
                </c:pt>
                <c:pt idx="5">
                  <c:v>28695</c:v>
                </c:pt>
                <c:pt idx="6">
                  <c:v>28791</c:v>
                </c:pt>
                <c:pt idx="7">
                  <c:v>28908</c:v>
                </c:pt>
                <c:pt idx="8">
                  <c:v>28896</c:v>
                </c:pt>
                <c:pt idx="9">
                  <c:v>28929</c:v>
                </c:pt>
                <c:pt idx="10">
                  <c:v>29025</c:v>
                </c:pt>
                <c:pt idx="11">
                  <c:v>28916</c:v>
                </c:pt>
                <c:pt idx="12">
                  <c:v>28853</c:v>
                </c:pt>
                <c:pt idx="13">
                  <c:v>28810</c:v>
                </c:pt>
                <c:pt idx="14">
                  <c:v>28809</c:v>
                </c:pt>
                <c:pt idx="15">
                  <c:v>28811</c:v>
                </c:pt>
                <c:pt idx="16">
                  <c:v>28927</c:v>
                </c:pt>
                <c:pt idx="17">
                  <c:v>28938</c:v>
                </c:pt>
                <c:pt idx="18">
                  <c:v>28919</c:v>
                </c:pt>
                <c:pt idx="19">
                  <c:v>28828</c:v>
                </c:pt>
                <c:pt idx="20">
                  <c:v>28969</c:v>
                </c:pt>
                <c:pt idx="21">
                  <c:v>28897</c:v>
                </c:pt>
                <c:pt idx="22">
                  <c:v>28812</c:v>
                </c:pt>
                <c:pt idx="23">
                  <c:v>28769</c:v>
                </c:pt>
                <c:pt idx="24">
                  <c:v>28709</c:v>
                </c:pt>
                <c:pt idx="25">
                  <c:v>28552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80-3678-48F2-B810-055486DD30B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0030001"/>
        <c:axId val="50030002"/>
      </c:scatterChart>
      <c:valAx>
        <c:axId val="50030001"/>
        <c:scaling>
          <c:orientation val="minMax"/>
          <c:max val="2055"/>
          <c:min val="2000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 baseline="0"/>
            </a:pPr>
            <a:endParaRPr lang="en-US"/>
          </a:p>
        </c:txPr>
        <c:crossAx val="50030002"/>
        <c:crosses val="autoZero"/>
        <c:crossBetween val="midCat"/>
        <c:majorUnit val="5"/>
      </c:valAx>
      <c:valAx>
        <c:axId val="5003000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 baseline="0"/>
            </a:pPr>
            <a:endParaRPr lang="en-US"/>
          </a:p>
        </c:txPr>
        <c:crossAx val="50030001"/>
        <c:crosses val="autoZero"/>
        <c:crossBetween val="midCat"/>
      </c:valAx>
    </c:plotArea>
    <c:legend>
      <c:legendPos val="b"/>
      <c:layout>
        <c:manualLayout>
          <c:xMode val="edge"/>
          <c:yMode val="edge"/>
          <c:x val="0.13"/>
          <c:y val="0.87"/>
          <c:w val="0.65"/>
          <c:h val="0.1"/>
        </c:manualLayout>
      </c:layout>
      <c:overlay val="0"/>
      <c:txPr>
        <a:bodyPr/>
        <a:lstStyle/>
        <a:p>
          <a:pPr>
            <a:defRPr sz="1400" baseline="0"/>
          </a:pPr>
          <a:endParaRPr lang="en-US"/>
        </a:p>
      </c:txPr>
    </c:legend>
    <c:plotVisOnly val="1"/>
    <c:dispBlanksAs val="gap"/>
    <c:showDLblsOverMax val="0"/>
  </c:chart>
  <c:externalData r:id="rId2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/>
          <a:lstStyle/>
          <a:p>
            <a:pPr>
              <a:defRPr/>
            </a:pPr>
            <a:r>
              <a:rPr lang="en-US" dirty="0"/>
              <a:t>Historical and </a:t>
            </a:r>
            <a:r>
              <a:rPr lang="en-US" sz="1800" b="1" i="0" u="none" strike="noStrike" kern="1200" baseline="0" dirty="0">
                <a:solidFill>
                  <a:prstClr val="black"/>
                </a:solidFill>
              </a:rPr>
              <a:t>Projected</a:t>
            </a:r>
            <a:r>
              <a:rPr lang="en-US" dirty="0"/>
              <a:t> Population - Franklin County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13"/>
          <c:y val="0.12"/>
          <c:w val="0.75"/>
          <c:h val="0.65"/>
        </c:manualLayout>
      </c:layout>
      <c:scatterChart>
        <c:scatterStyle val="lineMarker"/>
        <c:varyColors val="0"/>
        <c:ser>
          <c:idx val="0"/>
          <c:order val="0"/>
          <c:tx>
            <c:strRef>
              <c:f>'Franklin County'!$C$1</c:f>
              <c:strCache>
                <c:ptCount val="1"/>
                <c:pt idx="0">
                  <c:v>25th percentile migration</c:v>
                </c:pt>
              </c:strCache>
            </c:strRef>
          </c:tx>
          <c:spPr>
            <a:ln w="25400">
              <a:solidFill>
                <a:srgbClr val="597C3E"/>
              </a:solidFill>
            </a:ln>
          </c:spPr>
          <c:marker>
            <c:symbol val="square"/>
            <c:size val="5"/>
            <c:spPr>
              <a:solidFill>
                <a:srgbClr val="597C3E"/>
              </a:solidFill>
              <a:ln>
                <a:solidFill>
                  <a:srgbClr val="597C3E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66EF-409A-8D74-4C0FE406AE29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66EF-409A-8D74-4C0FE406AE29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66EF-409A-8D74-4C0FE406AE29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66EF-409A-8D74-4C0FE406AE29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66EF-409A-8D74-4C0FE406AE29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66EF-409A-8D74-4C0FE406AE29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66EF-409A-8D74-4C0FE406AE29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66EF-409A-8D74-4C0FE406AE29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66EF-409A-8D74-4C0FE406AE29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66EF-409A-8D74-4C0FE406AE29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66EF-409A-8D74-4C0FE406AE29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66EF-409A-8D74-4C0FE406AE29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66EF-409A-8D74-4C0FE406AE29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66EF-409A-8D74-4C0FE406AE29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66EF-409A-8D74-4C0FE406AE29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66EF-409A-8D74-4C0FE406AE29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0-66EF-409A-8D74-4C0FE406AE29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66EF-409A-8D74-4C0FE406AE29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2-66EF-409A-8D74-4C0FE406AE29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66EF-409A-8D74-4C0FE406AE29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4-66EF-409A-8D74-4C0FE406AE29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5-66EF-409A-8D74-4C0FE406AE29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6-66EF-409A-8D74-4C0FE406AE29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7-66EF-409A-8D74-4C0FE406AE29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8-66EF-409A-8D74-4C0FE406AE29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9-66EF-409A-8D74-4C0FE406AE29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A-66EF-409A-8D74-4C0FE406AE29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B-66EF-409A-8D74-4C0FE406AE29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C-66EF-409A-8D74-4C0FE406AE29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D-66EF-409A-8D74-4C0FE406AE29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E-66EF-409A-8D74-4C0FE406AE29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'Franklin County'!$A$2:$A$33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'Franklin County'!$C$2:$C$33</c:f>
              <c:numCache>
                <c:formatCode>General</c:formatCode>
                <c:ptCount val="32"/>
                <c:pt idx="25" formatCode="#,##0">
                  <c:v>1361536</c:v>
                </c:pt>
                <c:pt idx="26" formatCode="#,##0">
                  <c:v>1412611</c:v>
                </c:pt>
                <c:pt idx="27" formatCode="#,##0">
                  <c:v>1457656</c:v>
                </c:pt>
                <c:pt idx="28" formatCode="#,##0">
                  <c:v>1491751</c:v>
                </c:pt>
                <c:pt idx="29" formatCode="#,##0">
                  <c:v>1515951</c:v>
                </c:pt>
                <c:pt idx="30" formatCode="#,##0">
                  <c:v>1533531</c:v>
                </c:pt>
                <c:pt idx="31" formatCode="#,##0">
                  <c:v>1547166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1F-66EF-409A-8D74-4C0FE406AE29}"/>
            </c:ext>
          </c:extLst>
        </c:ser>
        <c:ser>
          <c:idx val="1"/>
          <c:order val="1"/>
          <c:tx>
            <c:strRef>
              <c:f>'Franklin County'!$D$1</c:f>
              <c:strCache>
                <c:ptCount val="1"/>
                <c:pt idx="0">
                  <c:v>50th percentile migration</c:v>
                </c:pt>
              </c:strCache>
            </c:strRef>
          </c:tx>
          <c:spPr>
            <a:ln w="25400">
              <a:solidFill>
                <a:srgbClr val="3D9BB1"/>
              </a:solidFill>
            </a:ln>
          </c:spPr>
          <c:marker>
            <c:symbol val="triangle"/>
            <c:size val="5"/>
            <c:spPr>
              <a:solidFill>
                <a:srgbClr val="3D9BB1"/>
              </a:solidFill>
              <a:ln>
                <a:solidFill>
                  <a:srgbClr val="3D9BB1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0-66EF-409A-8D74-4C0FE406AE29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1-66EF-409A-8D74-4C0FE406AE29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2-66EF-409A-8D74-4C0FE406AE29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3-66EF-409A-8D74-4C0FE406AE29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4-66EF-409A-8D74-4C0FE406AE29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5-66EF-409A-8D74-4C0FE406AE29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6-66EF-409A-8D74-4C0FE406AE29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7-66EF-409A-8D74-4C0FE406AE29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8-66EF-409A-8D74-4C0FE406AE29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9-66EF-409A-8D74-4C0FE406AE29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A-66EF-409A-8D74-4C0FE406AE29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B-66EF-409A-8D74-4C0FE406AE29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C-66EF-409A-8D74-4C0FE406AE29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D-66EF-409A-8D74-4C0FE406AE29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E-66EF-409A-8D74-4C0FE406AE29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F-66EF-409A-8D74-4C0FE406AE29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0-66EF-409A-8D74-4C0FE406AE29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1-66EF-409A-8D74-4C0FE406AE29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2-66EF-409A-8D74-4C0FE406AE29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3-66EF-409A-8D74-4C0FE406AE29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4-66EF-409A-8D74-4C0FE406AE29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5-66EF-409A-8D74-4C0FE406AE29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6-66EF-409A-8D74-4C0FE406AE29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7-66EF-409A-8D74-4C0FE406AE29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8-66EF-409A-8D74-4C0FE406AE29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9-66EF-409A-8D74-4C0FE406AE29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A-66EF-409A-8D74-4C0FE406AE29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B-66EF-409A-8D74-4C0FE406AE29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C-66EF-409A-8D74-4C0FE406AE29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D-66EF-409A-8D74-4C0FE406AE29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E-66EF-409A-8D74-4C0FE406AE29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'Franklin County'!$A$2:$A$33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'Franklin County'!$D$2:$D$33</c:f>
              <c:numCache>
                <c:formatCode>General</c:formatCode>
                <c:ptCount val="32"/>
                <c:pt idx="25" formatCode="#,##0">
                  <c:v>1361536</c:v>
                </c:pt>
                <c:pt idx="26" formatCode="#,##0">
                  <c:v>1426271</c:v>
                </c:pt>
                <c:pt idx="27" formatCode="#,##0">
                  <c:v>1486151</c:v>
                </c:pt>
                <c:pt idx="28" formatCode="#,##0">
                  <c:v>1536216</c:v>
                </c:pt>
                <c:pt idx="29" formatCode="#,##0">
                  <c:v>1576811</c:v>
                </c:pt>
                <c:pt idx="30" formatCode="#,##0">
                  <c:v>1610786</c:v>
                </c:pt>
                <c:pt idx="31" formatCode="#,##0">
                  <c:v>1640746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3F-66EF-409A-8D74-4C0FE406AE29}"/>
            </c:ext>
          </c:extLst>
        </c:ser>
        <c:ser>
          <c:idx val="2"/>
          <c:order val="2"/>
          <c:tx>
            <c:strRef>
              <c:f>'Franklin County'!$E$1</c:f>
              <c:strCache>
                <c:ptCount val="1"/>
                <c:pt idx="0">
                  <c:v>75th percentile migration</c:v>
                </c:pt>
              </c:strCache>
            </c:strRef>
          </c:tx>
          <c:spPr>
            <a:ln w="25400">
              <a:solidFill>
                <a:srgbClr val="D95F27"/>
              </a:solidFill>
            </a:ln>
          </c:spPr>
          <c:marker>
            <c:symbol val="diamond"/>
            <c:size val="5"/>
            <c:spPr>
              <a:solidFill>
                <a:srgbClr val="D95F27"/>
              </a:solidFill>
              <a:ln>
                <a:solidFill>
                  <a:srgbClr val="D95F27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0-66EF-409A-8D74-4C0FE406AE29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1-66EF-409A-8D74-4C0FE406AE29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2-66EF-409A-8D74-4C0FE406AE29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3-66EF-409A-8D74-4C0FE406AE29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4-66EF-409A-8D74-4C0FE406AE29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5-66EF-409A-8D74-4C0FE406AE29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6-66EF-409A-8D74-4C0FE406AE29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7-66EF-409A-8D74-4C0FE406AE29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8-66EF-409A-8D74-4C0FE406AE29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9-66EF-409A-8D74-4C0FE406AE29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A-66EF-409A-8D74-4C0FE406AE29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B-66EF-409A-8D74-4C0FE406AE29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C-66EF-409A-8D74-4C0FE406AE29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D-66EF-409A-8D74-4C0FE406AE29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E-66EF-409A-8D74-4C0FE406AE29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F-66EF-409A-8D74-4C0FE406AE29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0-66EF-409A-8D74-4C0FE406AE29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1-66EF-409A-8D74-4C0FE406AE29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2-66EF-409A-8D74-4C0FE406AE29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3-66EF-409A-8D74-4C0FE406AE29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4-66EF-409A-8D74-4C0FE406AE29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5-66EF-409A-8D74-4C0FE406AE29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6-66EF-409A-8D74-4C0FE406AE29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7-66EF-409A-8D74-4C0FE406AE29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8-66EF-409A-8D74-4C0FE406AE29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9-66EF-409A-8D74-4C0FE406AE29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A-66EF-409A-8D74-4C0FE406AE29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B-66EF-409A-8D74-4C0FE406AE29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C-66EF-409A-8D74-4C0FE406AE29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D-66EF-409A-8D74-4C0FE406AE29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E-66EF-409A-8D74-4C0FE406AE29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'Franklin County'!$A$2:$A$33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'Franklin County'!$E$2:$E$33</c:f>
              <c:numCache>
                <c:formatCode>General</c:formatCode>
                <c:ptCount val="32"/>
                <c:pt idx="25" formatCode="#,##0">
                  <c:v>1361536</c:v>
                </c:pt>
                <c:pt idx="26" formatCode="#,##0">
                  <c:v>1440841</c:v>
                </c:pt>
                <c:pt idx="27" formatCode="#,##0">
                  <c:v>1516546</c:v>
                </c:pt>
                <c:pt idx="28" formatCode="#,##0">
                  <c:v>1583641</c:v>
                </c:pt>
                <c:pt idx="29" formatCode="#,##0">
                  <c:v>1641716</c:v>
                </c:pt>
                <c:pt idx="30" formatCode="#,##0">
                  <c:v>1693181</c:v>
                </c:pt>
                <c:pt idx="31" formatCode="#,##0">
                  <c:v>1740556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5F-66EF-409A-8D74-4C0FE406AE29}"/>
            </c:ext>
          </c:extLst>
        </c:ser>
        <c:ser>
          <c:idx val="3"/>
          <c:order val="3"/>
          <c:tx>
            <c:strRef>
              <c:f>'Franklin County'!$B$1</c:f>
              <c:strCache>
                <c:ptCount val="1"/>
                <c:pt idx="0">
                  <c:v>Historical</c:v>
                </c:pt>
              </c:strCache>
            </c:strRef>
          </c:tx>
          <c:spPr>
            <a:ln w="25400">
              <a:solidFill>
                <a:srgbClr val="193764"/>
              </a:solidFill>
            </a:ln>
          </c:spPr>
          <c:marker>
            <c:symbol val="circle"/>
            <c:size val="5"/>
            <c:spPr>
              <a:solidFill>
                <a:srgbClr val="193764"/>
              </a:solidFill>
              <a:ln>
                <a:solidFill>
                  <a:srgbClr val="193764"/>
                </a:solidFill>
              </a:ln>
            </c:spPr>
          </c:marker>
          <c:dLbls>
            <c:dLbl>
              <c:idx val="0"/>
              <c:layout>
                <c:manualLayout>
                  <c:x val="2.7341207349081364E-2"/>
                  <c:y val="0.1175791712167365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0-66EF-409A-8D74-4C0FE406AE29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1-66EF-409A-8D74-4C0FE406AE29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2-66EF-409A-8D74-4C0FE406AE29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3-66EF-409A-8D74-4C0FE406AE29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4-66EF-409A-8D74-4C0FE406AE29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5-66EF-409A-8D74-4C0FE406AE29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6-66EF-409A-8D74-4C0FE406AE29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7-66EF-409A-8D74-4C0FE406AE29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8-66EF-409A-8D74-4C0FE406AE29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9-66EF-409A-8D74-4C0FE406AE29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A-66EF-409A-8D74-4C0FE406AE29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B-66EF-409A-8D74-4C0FE406AE29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C-66EF-409A-8D74-4C0FE406AE29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D-66EF-409A-8D74-4C0FE406AE29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E-66EF-409A-8D74-4C0FE406AE29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F-66EF-409A-8D74-4C0FE406AE29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0-66EF-409A-8D74-4C0FE406AE29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1-66EF-409A-8D74-4C0FE406AE29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2-66EF-409A-8D74-4C0FE406AE29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3-66EF-409A-8D74-4C0FE406AE29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4-66EF-409A-8D74-4C0FE406AE29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5-66EF-409A-8D74-4C0FE406AE29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6-66EF-409A-8D74-4C0FE406AE29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7-66EF-409A-8D74-4C0FE406AE29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8-66EF-409A-8D74-4C0FE406AE29}"/>
                </c:ext>
              </c:extLst>
            </c:dLbl>
            <c:dLbl>
              <c:idx val="25"/>
              <c:layout>
                <c:manualLayout>
                  <c:x val="-4.7261967254093241E-2"/>
                  <c:y val="8.5949000900434891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9-66EF-409A-8D74-4C0FE406AE29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A-66EF-409A-8D74-4C0FE406AE29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B-66EF-409A-8D74-4C0FE406AE29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C-66EF-409A-8D74-4C0FE406AE29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D-66EF-409A-8D74-4C0FE406AE29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E-66EF-409A-8D74-4C0FE406AE29}"/>
                </c:ext>
              </c:extLst>
            </c:dLbl>
            <c:dLbl>
              <c:idx val="3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F-66EF-409A-8D74-4C0FE406AE29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'Franklin County'!$A$2:$A$33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'Franklin County'!$B$2:$B$33</c:f>
              <c:numCache>
                <c:formatCode>#,##0</c:formatCode>
                <c:ptCount val="32"/>
                <c:pt idx="0">
                  <c:v>1072018</c:v>
                </c:pt>
                <c:pt idx="1">
                  <c:v>1082938</c:v>
                </c:pt>
                <c:pt idx="2">
                  <c:v>1088693</c:v>
                </c:pt>
                <c:pt idx="3">
                  <c:v>1095250</c:v>
                </c:pt>
                <c:pt idx="4">
                  <c:v>1099603</c:v>
                </c:pt>
                <c:pt idx="5">
                  <c:v>1105497</c:v>
                </c:pt>
                <c:pt idx="6">
                  <c:v>1115924</c:v>
                </c:pt>
                <c:pt idx="7">
                  <c:v>1127174</c:v>
                </c:pt>
                <c:pt idx="8">
                  <c:v>1141183</c:v>
                </c:pt>
                <c:pt idx="9">
                  <c:v>1155408</c:v>
                </c:pt>
                <c:pt idx="10">
                  <c:v>1166217</c:v>
                </c:pt>
                <c:pt idx="11">
                  <c:v>1180911</c:v>
                </c:pt>
                <c:pt idx="12">
                  <c:v>1199247</c:v>
                </c:pt>
                <c:pt idx="13">
                  <c:v>1219172</c:v>
                </c:pt>
                <c:pt idx="14">
                  <c:v>1238740</c:v>
                </c:pt>
                <c:pt idx="15">
                  <c:v>1257869</c:v>
                </c:pt>
                <c:pt idx="16">
                  <c:v>1275185</c:v>
                </c:pt>
                <c:pt idx="17">
                  <c:v>1296343</c:v>
                </c:pt>
                <c:pt idx="18">
                  <c:v>1308564</c:v>
                </c:pt>
                <c:pt idx="19">
                  <c:v>1318727</c:v>
                </c:pt>
                <c:pt idx="20">
                  <c:v>1324478</c:v>
                </c:pt>
                <c:pt idx="21">
                  <c:v>1317228</c:v>
                </c:pt>
                <c:pt idx="22">
                  <c:v>1326392</c:v>
                </c:pt>
                <c:pt idx="23">
                  <c:v>1337095</c:v>
                </c:pt>
                <c:pt idx="24">
                  <c:v>1352656</c:v>
                </c:pt>
                <c:pt idx="25">
                  <c:v>1361536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80-66EF-409A-8D74-4C0FE406AE2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0040001"/>
        <c:axId val="50040002"/>
      </c:scatterChart>
      <c:valAx>
        <c:axId val="50040001"/>
        <c:scaling>
          <c:orientation val="minMax"/>
          <c:max val="2055"/>
          <c:min val="2000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 baseline="0"/>
            </a:pPr>
            <a:endParaRPr lang="en-US"/>
          </a:p>
        </c:txPr>
        <c:crossAx val="50040002"/>
        <c:crosses val="autoZero"/>
        <c:crossBetween val="midCat"/>
        <c:majorUnit val="5"/>
      </c:valAx>
      <c:valAx>
        <c:axId val="5004000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 baseline="0"/>
            </a:pPr>
            <a:endParaRPr lang="en-US"/>
          </a:p>
        </c:txPr>
        <c:crossAx val="50040001"/>
        <c:crosses val="autoZero"/>
        <c:crossBetween val="midCat"/>
      </c:valAx>
    </c:plotArea>
    <c:legend>
      <c:legendPos val="b"/>
      <c:layout>
        <c:manualLayout>
          <c:xMode val="edge"/>
          <c:yMode val="edge"/>
          <c:x val="0.13"/>
          <c:y val="0.87"/>
          <c:w val="0.65"/>
          <c:h val="0.1"/>
        </c:manualLayout>
      </c:layout>
      <c:overlay val="0"/>
      <c:txPr>
        <a:bodyPr/>
        <a:lstStyle/>
        <a:p>
          <a:pPr>
            <a:defRPr sz="1400" baseline="0"/>
          </a:pPr>
          <a:endParaRPr lang="en-US"/>
        </a:p>
      </c:txPr>
    </c:legend>
    <c:plotVisOnly val="1"/>
    <c:dispBlanksAs val="gap"/>
    <c:showDLblsOverMax val="0"/>
  </c:chart>
  <c:externalData r:id="rId2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/>
          <a:lstStyle/>
          <a:p>
            <a:pPr>
              <a:defRPr/>
            </a:pPr>
            <a:r>
              <a:rPr lang="en-US" dirty="0"/>
              <a:t>Historical and </a:t>
            </a:r>
            <a:r>
              <a:rPr lang="en-US" sz="1800" b="1" i="0" u="none" strike="noStrike" kern="1200" baseline="0" dirty="0">
                <a:solidFill>
                  <a:prstClr val="black"/>
                </a:solidFill>
              </a:rPr>
              <a:t>Projected</a:t>
            </a:r>
            <a:r>
              <a:rPr lang="en-US" dirty="0"/>
              <a:t> Population - Hocking County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13"/>
          <c:y val="0.12"/>
          <c:w val="0.75"/>
          <c:h val="0.65"/>
        </c:manualLayout>
      </c:layout>
      <c:scatterChart>
        <c:scatterStyle val="lineMarker"/>
        <c:varyColors val="0"/>
        <c:ser>
          <c:idx val="0"/>
          <c:order val="0"/>
          <c:tx>
            <c:strRef>
              <c:f>'Hocking County'!$C$1</c:f>
              <c:strCache>
                <c:ptCount val="1"/>
                <c:pt idx="0">
                  <c:v>25th percentile migration</c:v>
                </c:pt>
              </c:strCache>
            </c:strRef>
          </c:tx>
          <c:spPr>
            <a:ln w="25400">
              <a:solidFill>
                <a:srgbClr val="597C3E"/>
              </a:solidFill>
            </a:ln>
          </c:spPr>
          <c:marker>
            <c:symbol val="square"/>
            <c:size val="5"/>
            <c:spPr>
              <a:solidFill>
                <a:srgbClr val="597C3E"/>
              </a:solidFill>
              <a:ln>
                <a:solidFill>
                  <a:srgbClr val="597C3E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B076-4649-A652-82E4DB2AD1E7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B076-4649-A652-82E4DB2AD1E7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B076-4649-A652-82E4DB2AD1E7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B076-4649-A652-82E4DB2AD1E7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B076-4649-A652-82E4DB2AD1E7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B076-4649-A652-82E4DB2AD1E7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B076-4649-A652-82E4DB2AD1E7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B076-4649-A652-82E4DB2AD1E7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B076-4649-A652-82E4DB2AD1E7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B076-4649-A652-82E4DB2AD1E7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B076-4649-A652-82E4DB2AD1E7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B076-4649-A652-82E4DB2AD1E7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B076-4649-A652-82E4DB2AD1E7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B076-4649-A652-82E4DB2AD1E7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B076-4649-A652-82E4DB2AD1E7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B076-4649-A652-82E4DB2AD1E7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0-B076-4649-A652-82E4DB2AD1E7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B076-4649-A652-82E4DB2AD1E7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2-B076-4649-A652-82E4DB2AD1E7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B076-4649-A652-82E4DB2AD1E7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4-B076-4649-A652-82E4DB2AD1E7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5-B076-4649-A652-82E4DB2AD1E7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6-B076-4649-A652-82E4DB2AD1E7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7-B076-4649-A652-82E4DB2AD1E7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8-B076-4649-A652-82E4DB2AD1E7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9-B076-4649-A652-82E4DB2AD1E7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A-B076-4649-A652-82E4DB2AD1E7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B-B076-4649-A652-82E4DB2AD1E7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C-B076-4649-A652-82E4DB2AD1E7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D-B076-4649-A652-82E4DB2AD1E7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E-B076-4649-A652-82E4DB2AD1E7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'Hocking County'!$A$2:$A$33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'Hocking County'!$C$2:$C$33</c:f>
              <c:numCache>
                <c:formatCode>General</c:formatCode>
                <c:ptCount val="32"/>
                <c:pt idx="25" formatCode="#,##0">
                  <c:v>27512</c:v>
                </c:pt>
                <c:pt idx="26" formatCode="#,##0">
                  <c:v>26307</c:v>
                </c:pt>
                <c:pt idx="27" formatCode="#,##0">
                  <c:v>24942</c:v>
                </c:pt>
                <c:pt idx="28" formatCode="#,##0">
                  <c:v>23487</c:v>
                </c:pt>
                <c:pt idx="29" formatCode="#,##0">
                  <c:v>22022</c:v>
                </c:pt>
                <c:pt idx="30" formatCode="#,##0">
                  <c:v>20412</c:v>
                </c:pt>
                <c:pt idx="31" formatCode="#,##0">
                  <c:v>18822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1F-B076-4649-A652-82E4DB2AD1E7}"/>
            </c:ext>
          </c:extLst>
        </c:ser>
        <c:ser>
          <c:idx val="1"/>
          <c:order val="1"/>
          <c:tx>
            <c:strRef>
              <c:f>'Hocking County'!$D$1</c:f>
              <c:strCache>
                <c:ptCount val="1"/>
                <c:pt idx="0">
                  <c:v>50th percentile migration</c:v>
                </c:pt>
              </c:strCache>
            </c:strRef>
          </c:tx>
          <c:spPr>
            <a:ln w="25400">
              <a:solidFill>
                <a:srgbClr val="3D9BB1"/>
              </a:solidFill>
            </a:ln>
          </c:spPr>
          <c:marker>
            <c:symbol val="triangle"/>
            <c:size val="5"/>
            <c:spPr>
              <a:solidFill>
                <a:srgbClr val="3D9BB1"/>
              </a:solidFill>
              <a:ln>
                <a:solidFill>
                  <a:srgbClr val="3D9BB1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0-B076-4649-A652-82E4DB2AD1E7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1-B076-4649-A652-82E4DB2AD1E7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2-B076-4649-A652-82E4DB2AD1E7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3-B076-4649-A652-82E4DB2AD1E7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4-B076-4649-A652-82E4DB2AD1E7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5-B076-4649-A652-82E4DB2AD1E7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6-B076-4649-A652-82E4DB2AD1E7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7-B076-4649-A652-82E4DB2AD1E7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8-B076-4649-A652-82E4DB2AD1E7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9-B076-4649-A652-82E4DB2AD1E7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A-B076-4649-A652-82E4DB2AD1E7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B-B076-4649-A652-82E4DB2AD1E7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C-B076-4649-A652-82E4DB2AD1E7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D-B076-4649-A652-82E4DB2AD1E7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E-B076-4649-A652-82E4DB2AD1E7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F-B076-4649-A652-82E4DB2AD1E7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0-B076-4649-A652-82E4DB2AD1E7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1-B076-4649-A652-82E4DB2AD1E7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2-B076-4649-A652-82E4DB2AD1E7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3-B076-4649-A652-82E4DB2AD1E7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4-B076-4649-A652-82E4DB2AD1E7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5-B076-4649-A652-82E4DB2AD1E7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6-B076-4649-A652-82E4DB2AD1E7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7-B076-4649-A652-82E4DB2AD1E7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8-B076-4649-A652-82E4DB2AD1E7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9-B076-4649-A652-82E4DB2AD1E7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A-B076-4649-A652-82E4DB2AD1E7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B-B076-4649-A652-82E4DB2AD1E7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C-B076-4649-A652-82E4DB2AD1E7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D-B076-4649-A652-82E4DB2AD1E7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E-B076-4649-A652-82E4DB2AD1E7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'Hocking County'!$A$2:$A$33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'Hocking County'!$D$2:$D$33</c:f>
              <c:numCache>
                <c:formatCode>General</c:formatCode>
                <c:ptCount val="32"/>
                <c:pt idx="25" formatCode="#,##0">
                  <c:v>27512</c:v>
                </c:pt>
                <c:pt idx="26" formatCode="#,##0">
                  <c:v>26682</c:v>
                </c:pt>
                <c:pt idx="27" formatCode="#,##0">
                  <c:v>25687</c:v>
                </c:pt>
                <c:pt idx="28" formatCode="#,##0">
                  <c:v>24602</c:v>
                </c:pt>
                <c:pt idx="29" formatCode="#,##0">
                  <c:v>23492</c:v>
                </c:pt>
                <c:pt idx="30" formatCode="#,##0">
                  <c:v>22252</c:v>
                </c:pt>
                <c:pt idx="31" formatCode="#,##0">
                  <c:v>21017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3F-B076-4649-A652-82E4DB2AD1E7}"/>
            </c:ext>
          </c:extLst>
        </c:ser>
        <c:ser>
          <c:idx val="2"/>
          <c:order val="2"/>
          <c:tx>
            <c:strRef>
              <c:f>'Hocking County'!$E$1</c:f>
              <c:strCache>
                <c:ptCount val="1"/>
                <c:pt idx="0">
                  <c:v>75th percentile migration</c:v>
                </c:pt>
              </c:strCache>
            </c:strRef>
          </c:tx>
          <c:spPr>
            <a:ln w="25400">
              <a:solidFill>
                <a:srgbClr val="D95F27"/>
              </a:solidFill>
            </a:ln>
          </c:spPr>
          <c:marker>
            <c:symbol val="diamond"/>
            <c:size val="5"/>
            <c:spPr>
              <a:solidFill>
                <a:srgbClr val="D95F27"/>
              </a:solidFill>
              <a:ln>
                <a:solidFill>
                  <a:srgbClr val="D95F27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0-B076-4649-A652-82E4DB2AD1E7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1-B076-4649-A652-82E4DB2AD1E7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2-B076-4649-A652-82E4DB2AD1E7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3-B076-4649-A652-82E4DB2AD1E7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4-B076-4649-A652-82E4DB2AD1E7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5-B076-4649-A652-82E4DB2AD1E7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6-B076-4649-A652-82E4DB2AD1E7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7-B076-4649-A652-82E4DB2AD1E7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8-B076-4649-A652-82E4DB2AD1E7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9-B076-4649-A652-82E4DB2AD1E7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A-B076-4649-A652-82E4DB2AD1E7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B-B076-4649-A652-82E4DB2AD1E7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C-B076-4649-A652-82E4DB2AD1E7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D-B076-4649-A652-82E4DB2AD1E7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E-B076-4649-A652-82E4DB2AD1E7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F-B076-4649-A652-82E4DB2AD1E7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0-B076-4649-A652-82E4DB2AD1E7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1-B076-4649-A652-82E4DB2AD1E7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2-B076-4649-A652-82E4DB2AD1E7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3-B076-4649-A652-82E4DB2AD1E7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4-B076-4649-A652-82E4DB2AD1E7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5-B076-4649-A652-82E4DB2AD1E7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6-B076-4649-A652-82E4DB2AD1E7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7-B076-4649-A652-82E4DB2AD1E7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8-B076-4649-A652-82E4DB2AD1E7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9-B076-4649-A652-82E4DB2AD1E7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A-B076-4649-A652-82E4DB2AD1E7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B-B076-4649-A652-82E4DB2AD1E7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C-B076-4649-A652-82E4DB2AD1E7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D-B076-4649-A652-82E4DB2AD1E7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E-B076-4649-A652-82E4DB2AD1E7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'Hocking County'!$A$2:$A$33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'Hocking County'!$E$2:$E$33</c:f>
              <c:numCache>
                <c:formatCode>General</c:formatCode>
                <c:ptCount val="32"/>
                <c:pt idx="25" formatCode="#,##0">
                  <c:v>27512</c:v>
                </c:pt>
                <c:pt idx="26" formatCode="#,##0">
                  <c:v>26992</c:v>
                </c:pt>
                <c:pt idx="27" formatCode="#,##0">
                  <c:v>26307</c:v>
                </c:pt>
                <c:pt idx="28" formatCode="#,##0">
                  <c:v>25517</c:v>
                </c:pt>
                <c:pt idx="29" formatCode="#,##0">
                  <c:v>24702</c:v>
                </c:pt>
                <c:pt idx="30" formatCode="#,##0">
                  <c:v>23767</c:v>
                </c:pt>
                <c:pt idx="31" formatCode="#,##0">
                  <c:v>22827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5F-B076-4649-A652-82E4DB2AD1E7}"/>
            </c:ext>
          </c:extLst>
        </c:ser>
        <c:ser>
          <c:idx val="3"/>
          <c:order val="3"/>
          <c:tx>
            <c:strRef>
              <c:f>'Hocking County'!$B$1</c:f>
              <c:strCache>
                <c:ptCount val="1"/>
                <c:pt idx="0">
                  <c:v>Historical</c:v>
                </c:pt>
              </c:strCache>
            </c:strRef>
          </c:tx>
          <c:spPr>
            <a:ln w="25400">
              <a:solidFill>
                <a:srgbClr val="193764"/>
              </a:solidFill>
            </a:ln>
          </c:spPr>
          <c:marker>
            <c:symbol val="circle"/>
            <c:size val="5"/>
            <c:spPr>
              <a:solidFill>
                <a:srgbClr val="193764"/>
              </a:solidFill>
              <a:ln>
                <a:solidFill>
                  <a:srgbClr val="193764"/>
                </a:solidFill>
              </a:ln>
            </c:spPr>
          </c:marker>
          <c:dLbls>
            <c:dLbl>
              <c:idx val="0"/>
              <c:layout>
                <c:manualLayout>
                  <c:x val="3.1432445944256968E-2"/>
                  <c:y val="0.10298063107075119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0-B076-4649-A652-82E4DB2AD1E7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1-B076-4649-A652-82E4DB2AD1E7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2-B076-4649-A652-82E4DB2AD1E7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3-B076-4649-A652-82E4DB2AD1E7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4-B076-4649-A652-82E4DB2AD1E7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5-B076-4649-A652-82E4DB2AD1E7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6-B076-4649-A652-82E4DB2AD1E7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7-B076-4649-A652-82E4DB2AD1E7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8-B076-4649-A652-82E4DB2AD1E7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9-B076-4649-A652-82E4DB2AD1E7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A-B076-4649-A652-82E4DB2AD1E7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B-B076-4649-A652-82E4DB2AD1E7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C-B076-4649-A652-82E4DB2AD1E7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D-B076-4649-A652-82E4DB2AD1E7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E-B076-4649-A652-82E4DB2AD1E7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F-B076-4649-A652-82E4DB2AD1E7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0-B076-4649-A652-82E4DB2AD1E7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1-B076-4649-A652-82E4DB2AD1E7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2-B076-4649-A652-82E4DB2AD1E7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3-B076-4649-A652-82E4DB2AD1E7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4-B076-4649-A652-82E4DB2AD1E7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5-B076-4649-A652-82E4DB2AD1E7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6-B076-4649-A652-82E4DB2AD1E7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7-B076-4649-A652-82E4DB2AD1E7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8-B076-4649-A652-82E4DB2AD1E7}"/>
                </c:ext>
              </c:extLst>
            </c:dLbl>
            <c:dLbl>
              <c:idx val="25"/>
              <c:layout>
                <c:manualLayout>
                  <c:x val="-3.8408823897012931E-2"/>
                  <c:y val="9.0815180949096644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9-B076-4649-A652-82E4DB2AD1E7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A-B076-4649-A652-82E4DB2AD1E7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B-B076-4649-A652-82E4DB2AD1E7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C-B076-4649-A652-82E4DB2AD1E7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D-B076-4649-A652-82E4DB2AD1E7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E-B076-4649-A652-82E4DB2AD1E7}"/>
                </c:ext>
              </c:extLst>
            </c:dLbl>
            <c:dLbl>
              <c:idx val="3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F-B076-4649-A652-82E4DB2AD1E7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'Hocking County'!$A$2:$A$33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'Hocking County'!$B$2:$B$33</c:f>
              <c:numCache>
                <c:formatCode>#,##0</c:formatCode>
                <c:ptCount val="32"/>
                <c:pt idx="0">
                  <c:v>28262</c:v>
                </c:pt>
                <c:pt idx="1">
                  <c:v>28452</c:v>
                </c:pt>
                <c:pt idx="2">
                  <c:v>28653</c:v>
                </c:pt>
                <c:pt idx="3">
                  <c:v>28823</c:v>
                </c:pt>
                <c:pt idx="4">
                  <c:v>28962</c:v>
                </c:pt>
                <c:pt idx="5">
                  <c:v>29058</c:v>
                </c:pt>
                <c:pt idx="6">
                  <c:v>29097</c:v>
                </c:pt>
                <c:pt idx="7">
                  <c:v>29418</c:v>
                </c:pt>
                <c:pt idx="8">
                  <c:v>29445</c:v>
                </c:pt>
                <c:pt idx="9">
                  <c:v>29358</c:v>
                </c:pt>
                <c:pt idx="10">
                  <c:v>29480</c:v>
                </c:pt>
                <c:pt idx="11">
                  <c:v>29459</c:v>
                </c:pt>
                <c:pt idx="12">
                  <c:v>29288</c:v>
                </c:pt>
                <c:pt idx="13">
                  <c:v>28629</c:v>
                </c:pt>
                <c:pt idx="14">
                  <c:v>28707</c:v>
                </c:pt>
                <c:pt idx="15">
                  <c:v>28451</c:v>
                </c:pt>
                <c:pt idx="16">
                  <c:v>28342</c:v>
                </c:pt>
                <c:pt idx="17">
                  <c:v>28369</c:v>
                </c:pt>
                <c:pt idx="18">
                  <c:v>28272</c:v>
                </c:pt>
                <c:pt idx="19">
                  <c:v>28150</c:v>
                </c:pt>
                <c:pt idx="20">
                  <c:v>28040</c:v>
                </c:pt>
                <c:pt idx="21">
                  <c:v>28109</c:v>
                </c:pt>
                <c:pt idx="22">
                  <c:v>27819</c:v>
                </c:pt>
                <c:pt idx="23">
                  <c:v>27560</c:v>
                </c:pt>
                <c:pt idx="24">
                  <c:v>27460</c:v>
                </c:pt>
                <c:pt idx="25">
                  <c:v>27512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80-B076-4649-A652-82E4DB2AD1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0050001"/>
        <c:axId val="50050002"/>
      </c:scatterChart>
      <c:valAx>
        <c:axId val="50050001"/>
        <c:scaling>
          <c:orientation val="minMax"/>
          <c:max val="2055"/>
          <c:min val="2000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 baseline="0"/>
            </a:pPr>
            <a:endParaRPr lang="en-US"/>
          </a:p>
        </c:txPr>
        <c:crossAx val="50050002"/>
        <c:crosses val="autoZero"/>
        <c:crossBetween val="midCat"/>
        <c:majorUnit val="5"/>
      </c:valAx>
      <c:valAx>
        <c:axId val="5005000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 baseline="0"/>
            </a:pPr>
            <a:endParaRPr lang="en-US"/>
          </a:p>
        </c:txPr>
        <c:crossAx val="50050001"/>
        <c:crosses val="autoZero"/>
        <c:crossBetween val="midCat"/>
      </c:valAx>
    </c:plotArea>
    <c:legend>
      <c:legendPos val="b"/>
      <c:layout>
        <c:manualLayout>
          <c:xMode val="edge"/>
          <c:yMode val="edge"/>
          <c:x val="0.13"/>
          <c:y val="0.87"/>
          <c:w val="0.65"/>
          <c:h val="0.1"/>
        </c:manualLayout>
      </c:layout>
      <c:overlay val="0"/>
      <c:txPr>
        <a:bodyPr/>
        <a:lstStyle/>
        <a:p>
          <a:pPr>
            <a:defRPr sz="1400" baseline="0"/>
          </a:pPr>
          <a:endParaRPr lang="en-US"/>
        </a:p>
      </c:txPr>
    </c:legend>
    <c:plotVisOnly val="1"/>
    <c:dispBlanksAs val="gap"/>
    <c:showDLblsOverMax val="0"/>
  </c:chart>
  <c:externalData r:id="rId2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/>
          <a:lstStyle/>
          <a:p>
            <a:pPr>
              <a:defRPr/>
            </a:pPr>
            <a:r>
              <a:rPr lang="en-US" dirty="0"/>
              <a:t>Historical and </a:t>
            </a:r>
            <a:r>
              <a:rPr lang="en-US" sz="1800" b="1" i="0" u="none" strike="noStrike" kern="1200" baseline="0" dirty="0">
                <a:solidFill>
                  <a:prstClr val="black"/>
                </a:solidFill>
              </a:rPr>
              <a:t>Projected</a:t>
            </a:r>
            <a:r>
              <a:rPr lang="en-US" dirty="0"/>
              <a:t> Population - Knox County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13"/>
          <c:y val="0.12"/>
          <c:w val="0.75"/>
          <c:h val="0.65"/>
        </c:manualLayout>
      </c:layout>
      <c:scatterChart>
        <c:scatterStyle val="lineMarker"/>
        <c:varyColors val="0"/>
        <c:ser>
          <c:idx val="0"/>
          <c:order val="0"/>
          <c:tx>
            <c:strRef>
              <c:f>'Knox County'!$C$1</c:f>
              <c:strCache>
                <c:ptCount val="1"/>
                <c:pt idx="0">
                  <c:v>25th percentile migration</c:v>
                </c:pt>
              </c:strCache>
            </c:strRef>
          </c:tx>
          <c:spPr>
            <a:ln w="25400">
              <a:solidFill>
                <a:srgbClr val="597C3E"/>
              </a:solidFill>
            </a:ln>
          </c:spPr>
          <c:marker>
            <c:symbol val="square"/>
            <c:size val="5"/>
            <c:spPr>
              <a:solidFill>
                <a:srgbClr val="597C3E"/>
              </a:solidFill>
              <a:ln>
                <a:solidFill>
                  <a:srgbClr val="597C3E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CC9F-414C-BBDA-B3846C051A74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CC9F-414C-BBDA-B3846C051A74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CC9F-414C-BBDA-B3846C051A74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CC9F-414C-BBDA-B3846C051A74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CC9F-414C-BBDA-B3846C051A74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CC9F-414C-BBDA-B3846C051A74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CC9F-414C-BBDA-B3846C051A74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CC9F-414C-BBDA-B3846C051A74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CC9F-414C-BBDA-B3846C051A74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CC9F-414C-BBDA-B3846C051A74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CC9F-414C-BBDA-B3846C051A74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CC9F-414C-BBDA-B3846C051A74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CC9F-414C-BBDA-B3846C051A74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CC9F-414C-BBDA-B3846C051A74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CC9F-414C-BBDA-B3846C051A74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CC9F-414C-BBDA-B3846C051A74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0-CC9F-414C-BBDA-B3846C051A74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CC9F-414C-BBDA-B3846C051A74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2-CC9F-414C-BBDA-B3846C051A74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CC9F-414C-BBDA-B3846C051A74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4-CC9F-414C-BBDA-B3846C051A74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5-CC9F-414C-BBDA-B3846C051A74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6-CC9F-414C-BBDA-B3846C051A74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7-CC9F-414C-BBDA-B3846C051A74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8-CC9F-414C-BBDA-B3846C051A74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9-CC9F-414C-BBDA-B3846C051A74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A-CC9F-414C-BBDA-B3846C051A74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B-CC9F-414C-BBDA-B3846C051A74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C-CC9F-414C-BBDA-B3846C051A74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D-CC9F-414C-BBDA-B3846C051A74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E-CC9F-414C-BBDA-B3846C051A74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'Knox County'!$A$2:$A$33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'Knox County'!$C$2:$C$33</c:f>
              <c:numCache>
                <c:formatCode>General</c:formatCode>
                <c:ptCount val="32"/>
                <c:pt idx="25" formatCode="#,##0">
                  <c:v>64002</c:v>
                </c:pt>
                <c:pt idx="26" formatCode="#,##0">
                  <c:v>63377</c:v>
                </c:pt>
                <c:pt idx="27" formatCode="#,##0">
                  <c:v>62152</c:v>
                </c:pt>
                <c:pt idx="28" formatCode="#,##0">
                  <c:v>60432</c:v>
                </c:pt>
                <c:pt idx="29" formatCode="#,##0">
                  <c:v>58487</c:v>
                </c:pt>
                <c:pt idx="30" formatCode="#,##0">
                  <c:v>56547</c:v>
                </c:pt>
                <c:pt idx="31" formatCode="#,##0">
                  <c:v>54762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1F-CC9F-414C-BBDA-B3846C051A74}"/>
            </c:ext>
          </c:extLst>
        </c:ser>
        <c:ser>
          <c:idx val="1"/>
          <c:order val="1"/>
          <c:tx>
            <c:strRef>
              <c:f>'Knox County'!$D$1</c:f>
              <c:strCache>
                <c:ptCount val="1"/>
                <c:pt idx="0">
                  <c:v>50th percentile migration</c:v>
                </c:pt>
              </c:strCache>
            </c:strRef>
          </c:tx>
          <c:spPr>
            <a:ln w="25400">
              <a:solidFill>
                <a:srgbClr val="3D9BB1"/>
              </a:solidFill>
            </a:ln>
          </c:spPr>
          <c:marker>
            <c:symbol val="triangle"/>
            <c:size val="5"/>
            <c:spPr>
              <a:solidFill>
                <a:srgbClr val="3D9BB1"/>
              </a:solidFill>
              <a:ln>
                <a:solidFill>
                  <a:srgbClr val="3D9BB1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0-CC9F-414C-BBDA-B3846C051A74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1-CC9F-414C-BBDA-B3846C051A74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2-CC9F-414C-BBDA-B3846C051A74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3-CC9F-414C-BBDA-B3846C051A74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4-CC9F-414C-BBDA-B3846C051A74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5-CC9F-414C-BBDA-B3846C051A74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6-CC9F-414C-BBDA-B3846C051A74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7-CC9F-414C-BBDA-B3846C051A74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8-CC9F-414C-BBDA-B3846C051A74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9-CC9F-414C-BBDA-B3846C051A74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A-CC9F-414C-BBDA-B3846C051A74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B-CC9F-414C-BBDA-B3846C051A74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C-CC9F-414C-BBDA-B3846C051A74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D-CC9F-414C-BBDA-B3846C051A74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E-CC9F-414C-BBDA-B3846C051A74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F-CC9F-414C-BBDA-B3846C051A74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0-CC9F-414C-BBDA-B3846C051A74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1-CC9F-414C-BBDA-B3846C051A74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2-CC9F-414C-BBDA-B3846C051A74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3-CC9F-414C-BBDA-B3846C051A74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4-CC9F-414C-BBDA-B3846C051A74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5-CC9F-414C-BBDA-B3846C051A74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6-CC9F-414C-BBDA-B3846C051A74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7-CC9F-414C-BBDA-B3846C051A74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8-CC9F-414C-BBDA-B3846C051A74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9-CC9F-414C-BBDA-B3846C051A74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A-CC9F-414C-BBDA-B3846C051A74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B-CC9F-414C-BBDA-B3846C051A74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C-CC9F-414C-BBDA-B3846C051A74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D-CC9F-414C-BBDA-B3846C051A74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E-CC9F-414C-BBDA-B3846C051A74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'Knox County'!$A$2:$A$33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'Knox County'!$D$2:$D$33</c:f>
              <c:numCache>
                <c:formatCode>General</c:formatCode>
                <c:ptCount val="32"/>
                <c:pt idx="25" formatCode="#,##0">
                  <c:v>64002</c:v>
                </c:pt>
                <c:pt idx="26" formatCode="#,##0">
                  <c:v>64442</c:v>
                </c:pt>
                <c:pt idx="27" formatCode="#,##0">
                  <c:v>64292</c:v>
                </c:pt>
                <c:pt idx="28" formatCode="#,##0">
                  <c:v>63747</c:v>
                </c:pt>
                <c:pt idx="29" formatCode="#,##0">
                  <c:v>62987</c:v>
                </c:pt>
                <c:pt idx="30" formatCode="#,##0">
                  <c:v>62237</c:v>
                </c:pt>
                <c:pt idx="31" formatCode="#,##0">
                  <c:v>61672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3F-CC9F-414C-BBDA-B3846C051A74}"/>
            </c:ext>
          </c:extLst>
        </c:ser>
        <c:ser>
          <c:idx val="2"/>
          <c:order val="2"/>
          <c:tx>
            <c:strRef>
              <c:f>'Knox County'!$E$1</c:f>
              <c:strCache>
                <c:ptCount val="1"/>
                <c:pt idx="0">
                  <c:v>75th percentile migration</c:v>
                </c:pt>
              </c:strCache>
            </c:strRef>
          </c:tx>
          <c:spPr>
            <a:ln w="25400">
              <a:solidFill>
                <a:srgbClr val="D95F27"/>
              </a:solidFill>
            </a:ln>
          </c:spPr>
          <c:marker>
            <c:symbol val="diamond"/>
            <c:size val="5"/>
            <c:spPr>
              <a:solidFill>
                <a:srgbClr val="D95F27"/>
              </a:solidFill>
              <a:ln>
                <a:solidFill>
                  <a:srgbClr val="D95F27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0-CC9F-414C-BBDA-B3846C051A74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1-CC9F-414C-BBDA-B3846C051A74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2-CC9F-414C-BBDA-B3846C051A74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3-CC9F-414C-BBDA-B3846C051A74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4-CC9F-414C-BBDA-B3846C051A74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5-CC9F-414C-BBDA-B3846C051A74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6-CC9F-414C-BBDA-B3846C051A74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7-CC9F-414C-BBDA-B3846C051A74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8-CC9F-414C-BBDA-B3846C051A74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9-CC9F-414C-BBDA-B3846C051A74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A-CC9F-414C-BBDA-B3846C051A74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B-CC9F-414C-BBDA-B3846C051A74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C-CC9F-414C-BBDA-B3846C051A74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D-CC9F-414C-BBDA-B3846C051A74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E-CC9F-414C-BBDA-B3846C051A74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F-CC9F-414C-BBDA-B3846C051A74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0-CC9F-414C-BBDA-B3846C051A74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1-CC9F-414C-BBDA-B3846C051A74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2-CC9F-414C-BBDA-B3846C051A74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3-CC9F-414C-BBDA-B3846C051A74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4-CC9F-414C-BBDA-B3846C051A74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5-CC9F-414C-BBDA-B3846C051A74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6-CC9F-414C-BBDA-B3846C051A74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7-CC9F-414C-BBDA-B3846C051A74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8-CC9F-414C-BBDA-B3846C051A74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9-CC9F-414C-BBDA-B3846C051A74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A-CC9F-414C-BBDA-B3846C051A74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B-CC9F-414C-BBDA-B3846C051A74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C-CC9F-414C-BBDA-B3846C051A74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D-CC9F-414C-BBDA-B3846C051A74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E-CC9F-414C-BBDA-B3846C051A74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'Knox County'!$A$2:$A$33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'Knox County'!$E$2:$E$33</c:f>
              <c:numCache>
                <c:formatCode>General</c:formatCode>
                <c:ptCount val="32"/>
                <c:pt idx="25" formatCode="#,##0">
                  <c:v>64002</c:v>
                </c:pt>
                <c:pt idx="26" formatCode="#,##0">
                  <c:v>65357</c:v>
                </c:pt>
                <c:pt idx="27" formatCode="#,##0">
                  <c:v>66167</c:v>
                </c:pt>
                <c:pt idx="28" formatCode="#,##0">
                  <c:v>66612</c:v>
                </c:pt>
                <c:pt idx="29" formatCode="#,##0">
                  <c:v>66897</c:v>
                </c:pt>
                <c:pt idx="30" formatCode="#,##0">
                  <c:v>67217</c:v>
                </c:pt>
                <c:pt idx="31" formatCode="#,##0">
                  <c:v>67682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5F-CC9F-414C-BBDA-B3846C051A74}"/>
            </c:ext>
          </c:extLst>
        </c:ser>
        <c:ser>
          <c:idx val="3"/>
          <c:order val="3"/>
          <c:tx>
            <c:strRef>
              <c:f>'Knox County'!$B$1</c:f>
              <c:strCache>
                <c:ptCount val="1"/>
                <c:pt idx="0">
                  <c:v>Historical</c:v>
                </c:pt>
              </c:strCache>
            </c:strRef>
          </c:tx>
          <c:spPr>
            <a:ln w="25400">
              <a:solidFill>
                <a:srgbClr val="193764"/>
              </a:solidFill>
            </a:ln>
          </c:spPr>
          <c:marker>
            <c:symbol val="circle"/>
            <c:size val="5"/>
            <c:spPr>
              <a:solidFill>
                <a:srgbClr val="193764"/>
              </a:solidFill>
              <a:ln>
                <a:solidFill>
                  <a:srgbClr val="193764"/>
                </a:solidFill>
              </a:ln>
            </c:spPr>
          </c:marker>
          <c:dLbls>
            <c:dLbl>
              <c:idx val="0"/>
              <c:layout>
                <c:manualLayout>
                  <c:x val="4.5718160229971251E-2"/>
                  <c:y val="7.8649730827442185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0-CC9F-414C-BBDA-B3846C051A74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1-CC9F-414C-BBDA-B3846C051A74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2-CC9F-414C-BBDA-B3846C051A74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3-CC9F-414C-BBDA-B3846C051A74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4-CC9F-414C-BBDA-B3846C051A74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5-CC9F-414C-BBDA-B3846C051A74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6-CC9F-414C-BBDA-B3846C051A74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7-CC9F-414C-BBDA-B3846C051A74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8-CC9F-414C-BBDA-B3846C051A74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9-CC9F-414C-BBDA-B3846C051A74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A-CC9F-414C-BBDA-B3846C051A74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B-CC9F-414C-BBDA-B3846C051A74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C-CC9F-414C-BBDA-B3846C051A74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D-CC9F-414C-BBDA-B3846C051A74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E-CC9F-414C-BBDA-B3846C051A74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F-CC9F-414C-BBDA-B3846C051A74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0-CC9F-414C-BBDA-B3846C051A74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1-CC9F-414C-BBDA-B3846C051A74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2-CC9F-414C-BBDA-B3846C051A74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3-CC9F-414C-BBDA-B3846C051A74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4-CC9F-414C-BBDA-B3846C051A74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5-CC9F-414C-BBDA-B3846C051A74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6-CC9F-414C-BBDA-B3846C051A74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7-CC9F-414C-BBDA-B3846C051A74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8-CC9F-414C-BBDA-B3846C051A74}"/>
                </c:ext>
              </c:extLst>
            </c:dLbl>
            <c:dLbl>
              <c:idx val="25"/>
              <c:layout>
                <c:manualLayout>
                  <c:x val="-3.8408823897012931E-2"/>
                  <c:y val="7.1350460754449493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9-CC9F-414C-BBDA-B3846C051A74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A-CC9F-414C-BBDA-B3846C051A74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B-CC9F-414C-BBDA-B3846C051A74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C-CC9F-414C-BBDA-B3846C051A74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D-CC9F-414C-BBDA-B3846C051A74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E-CC9F-414C-BBDA-B3846C051A74}"/>
                </c:ext>
              </c:extLst>
            </c:dLbl>
            <c:dLbl>
              <c:idx val="3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F-CC9F-414C-BBDA-B3846C051A74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'Knox County'!$A$2:$A$33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'Knox County'!$B$2:$B$33</c:f>
              <c:numCache>
                <c:formatCode>#,##0</c:formatCode>
                <c:ptCount val="32"/>
                <c:pt idx="0">
                  <c:v>54616</c:v>
                </c:pt>
                <c:pt idx="1">
                  <c:v>55460</c:v>
                </c:pt>
                <c:pt idx="2">
                  <c:v>56377</c:v>
                </c:pt>
                <c:pt idx="3">
                  <c:v>57232</c:v>
                </c:pt>
                <c:pt idx="4">
                  <c:v>57995</c:v>
                </c:pt>
                <c:pt idx="5">
                  <c:v>58641</c:v>
                </c:pt>
                <c:pt idx="6">
                  <c:v>59194</c:v>
                </c:pt>
                <c:pt idx="7">
                  <c:v>59843</c:v>
                </c:pt>
                <c:pt idx="8">
                  <c:v>60348</c:v>
                </c:pt>
                <c:pt idx="9">
                  <c:v>60633</c:v>
                </c:pt>
                <c:pt idx="10">
                  <c:v>61095</c:v>
                </c:pt>
                <c:pt idx="11">
                  <c:v>61331</c:v>
                </c:pt>
                <c:pt idx="12">
                  <c:v>60854</c:v>
                </c:pt>
                <c:pt idx="13">
                  <c:v>60988</c:v>
                </c:pt>
                <c:pt idx="14">
                  <c:v>61173</c:v>
                </c:pt>
                <c:pt idx="15">
                  <c:v>61216</c:v>
                </c:pt>
                <c:pt idx="16">
                  <c:v>61157</c:v>
                </c:pt>
                <c:pt idx="17">
                  <c:v>61581</c:v>
                </c:pt>
                <c:pt idx="18">
                  <c:v>62190</c:v>
                </c:pt>
                <c:pt idx="19">
                  <c:v>62541</c:v>
                </c:pt>
                <c:pt idx="20">
                  <c:v>62804</c:v>
                </c:pt>
                <c:pt idx="21">
                  <c:v>62505</c:v>
                </c:pt>
                <c:pt idx="22">
                  <c:v>63103</c:v>
                </c:pt>
                <c:pt idx="23">
                  <c:v>63186</c:v>
                </c:pt>
                <c:pt idx="24">
                  <c:v>63564</c:v>
                </c:pt>
                <c:pt idx="25">
                  <c:v>64002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80-CC9F-414C-BBDA-B3846C051A7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0060001"/>
        <c:axId val="50060002"/>
      </c:scatterChart>
      <c:valAx>
        <c:axId val="50060001"/>
        <c:scaling>
          <c:orientation val="minMax"/>
          <c:max val="2055"/>
          <c:min val="2000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 baseline="0"/>
            </a:pPr>
            <a:endParaRPr lang="en-US"/>
          </a:p>
        </c:txPr>
        <c:crossAx val="50060002"/>
        <c:crosses val="autoZero"/>
        <c:crossBetween val="midCat"/>
        <c:majorUnit val="5"/>
      </c:valAx>
      <c:valAx>
        <c:axId val="5006000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 baseline="0"/>
            </a:pPr>
            <a:endParaRPr lang="en-US"/>
          </a:p>
        </c:txPr>
        <c:crossAx val="50060001"/>
        <c:crosses val="autoZero"/>
        <c:crossBetween val="midCat"/>
      </c:valAx>
    </c:plotArea>
    <c:legend>
      <c:legendPos val="b"/>
      <c:layout>
        <c:manualLayout>
          <c:xMode val="edge"/>
          <c:yMode val="edge"/>
          <c:x val="0.13"/>
          <c:y val="0.87"/>
          <c:w val="0.65"/>
          <c:h val="0.1"/>
        </c:manualLayout>
      </c:layout>
      <c:overlay val="0"/>
      <c:txPr>
        <a:bodyPr/>
        <a:lstStyle/>
        <a:p>
          <a:pPr>
            <a:defRPr sz="1400" baseline="0"/>
          </a:pPr>
          <a:endParaRPr lang="en-US"/>
        </a:p>
      </c:txPr>
    </c:legend>
    <c:plotVisOnly val="1"/>
    <c:dispBlanksAs val="gap"/>
    <c:showDLblsOverMax val="0"/>
  </c:chart>
  <c:externalData r:id="rId2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/>
          <a:lstStyle/>
          <a:p>
            <a:pPr>
              <a:defRPr/>
            </a:pPr>
            <a:r>
              <a:rPr lang="en-US" dirty="0"/>
              <a:t>Historical and </a:t>
            </a:r>
            <a:r>
              <a:rPr lang="en-US" sz="1800" b="1" i="0" u="none" strike="noStrike" kern="1200" baseline="0" dirty="0">
                <a:solidFill>
                  <a:prstClr val="black"/>
                </a:solidFill>
              </a:rPr>
              <a:t>Projected</a:t>
            </a:r>
            <a:r>
              <a:rPr lang="en-US" dirty="0"/>
              <a:t> Population - Licking County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13"/>
          <c:y val="0.12"/>
          <c:w val="0.75"/>
          <c:h val="0.65"/>
        </c:manualLayout>
      </c:layout>
      <c:scatterChart>
        <c:scatterStyle val="lineMarker"/>
        <c:varyColors val="0"/>
        <c:ser>
          <c:idx val="0"/>
          <c:order val="0"/>
          <c:tx>
            <c:strRef>
              <c:f>'Licking County'!$C$1</c:f>
              <c:strCache>
                <c:ptCount val="1"/>
                <c:pt idx="0">
                  <c:v>25th percentile migration</c:v>
                </c:pt>
              </c:strCache>
            </c:strRef>
          </c:tx>
          <c:spPr>
            <a:ln w="25400">
              <a:solidFill>
                <a:srgbClr val="597C3E"/>
              </a:solidFill>
            </a:ln>
          </c:spPr>
          <c:marker>
            <c:symbol val="square"/>
            <c:size val="5"/>
            <c:spPr>
              <a:solidFill>
                <a:srgbClr val="597C3E"/>
              </a:solidFill>
              <a:ln>
                <a:solidFill>
                  <a:srgbClr val="597C3E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2846-4238-B429-6EB25995CA3F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2846-4238-B429-6EB25995CA3F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2846-4238-B429-6EB25995CA3F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2846-4238-B429-6EB25995CA3F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2846-4238-B429-6EB25995CA3F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2846-4238-B429-6EB25995CA3F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2846-4238-B429-6EB25995CA3F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2846-4238-B429-6EB25995CA3F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2846-4238-B429-6EB25995CA3F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2846-4238-B429-6EB25995CA3F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2846-4238-B429-6EB25995CA3F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2846-4238-B429-6EB25995CA3F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2846-4238-B429-6EB25995CA3F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2846-4238-B429-6EB25995CA3F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2846-4238-B429-6EB25995CA3F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2846-4238-B429-6EB25995CA3F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0-2846-4238-B429-6EB25995CA3F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2846-4238-B429-6EB25995CA3F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2-2846-4238-B429-6EB25995CA3F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2846-4238-B429-6EB25995CA3F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4-2846-4238-B429-6EB25995CA3F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5-2846-4238-B429-6EB25995CA3F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6-2846-4238-B429-6EB25995CA3F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7-2846-4238-B429-6EB25995CA3F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8-2846-4238-B429-6EB25995CA3F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9-2846-4238-B429-6EB25995CA3F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A-2846-4238-B429-6EB25995CA3F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B-2846-4238-B429-6EB25995CA3F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C-2846-4238-B429-6EB25995CA3F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D-2846-4238-B429-6EB25995CA3F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E-2846-4238-B429-6EB25995CA3F}"/>
                </c:ext>
              </c:extLst>
            </c:dLbl>
            <c:dLbl>
              <c:idx val="31"/>
              <c:layout>
                <c:manualLayout>
                  <c:x val="3.0158730158730159E-2"/>
                  <c:y val="3.6496350364963459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F-2846-4238-B429-6EB25995CA3F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'Licking County'!$A$2:$A$33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'Licking County'!$C$2:$C$33</c:f>
              <c:numCache>
                <c:formatCode>General</c:formatCode>
                <c:ptCount val="32"/>
                <c:pt idx="25" formatCode="#,##0">
                  <c:v>185564</c:v>
                </c:pt>
                <c:pt idx="26" formatCode="#,##0">
                  <c:v>188369</c:v>
                </c:pt>
                <c:pt idx="27" formatCode="#,##0">
                  <c:v>188719</c:v>
                </c:pt>
                <c:pt idx="28" formatCode="#,##0">
                  <c:v>187564</c:v>
                </c:pt>
                <c:pt idx="29" formatCode="#,##0">
                  <c:v>186004</c:v>
                </c:pt>
                <c:pt idx="30" formatCode="#,##0">
                  <c:v>184109</c:v>
                </c:pt>
                <c:pt idx="31" formatCode="#,##0">
                  <c:v>181924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20-2846-4238-B429-6EB25995CA3F}"/>
            </c:ext>
          </c:extLst>
        </c:ser>
        <c:ser>
          <c:idx val="1"/>
          <c:order val="1"/>
          <c:tx>
            <c:strRef>
              <c:f>'Licking County'!$D$1</c:f>
              <c:strCache>
                <c:ptCount val="1"/>
                <c:pt idx="0">
                  <c:v>50th percentile migration</c:v>
                </c:pt>
              </c:strCache>
            </c:strRef>
          </c:tx>
          <c:spPr>
            <a:ln w="25400">
              <a:solidFill>
                <a:srgbClr val="3D9BB1"/>
              </a:solidFill>
            </a:ln>
          </c:spPr>
          <c:marker>
            <c:symbol val="triangle"/>
            <c:size val="5"/>
            <c:spPr>
              <a:solidFill>
                <a:srgbClr val="3D9BB1"/>
              </a:solidFill>
              <a:ln>
                <a:solidFill>
                  <a:srgbClr val="3D9BB1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1-2846-4238-B429-6EB25995CA3F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2-2846-4238-B429-6EB25995CA3F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3-2846-4238-B429-6EB25995CA3F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4-2846-4238-B429-6EB25995CA3F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5-2846-4238-B429-6EB25995CA3F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6-2846-4238-B429-6EB25995CA3F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7-2846-4238-B429-6EB25995CA3F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8-2846-4238-B429-6EB25995CA3F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9-2846-4238-B429-6EB25995CA3F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A-2846-4238-B429-6EB25995CA3F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B-2846-4238-B429-6EB25995CA3F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C-2846-4238-B429-6EB25995CA3F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D-2846-4238-B429-6EB25995CA3F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E-2846-4238-B429-6EB25995CA3F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F-2846-4238-B429-6EB25995CA3F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0-2846-4238-B429-6EB25995CA3F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1-2846-4238-B429-6EB25995CA3F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2-2846-4238-B429-6EB25995CA3F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3-2846-4238-B429-6EB25995CA3F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4-2846-4238-B429-6EB25995CA3F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5-2846-4238-B429-6EB25995CA3F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6-2846-4238-B429-6EB25995CA3F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7-2846-4238-B429-6EB25995CA3F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8-2846-4238-B429-6EB25995CA3F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9-2846-4238-B429-6EB25995CA3F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A-2846-4238-B429-6EB25995CA3F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B-2846-4238-B429-6EB25995CA3F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C-2846-4238-B429-6EB25995CA3F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D-2846-4238-B429-6EB25995CA3F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E-2846-4238-B429-6EB25995CA3F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F-2846-4238-B429-6EB25995CA3F}"/>
                </c:ext>
              </c:extLst>
            </c:dLbl>
            <c:dLbl>
              <c:idx val="31"/>
              <c:layout>
                <c:manualLayout>
                  <c:x val="3.0158730158730159E-2"/>
                  <c:y val="-2.433090024330945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0-2846-4238-B429-6EB25995CA3F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'Licking County'!$A$2:$A$33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'Licking County'!$D$2:$D$33</c:f>
              <c:numCache>
                <c:formatCode>General</c:formatCode>
                <c:ptCount val="32"/>
                <c:pt idx="25" formatCode="#,##0">
                  <c:v>185564</c:v>
                </c:pt>
                <c:pt idx="26" formatCode="#,##0">
                  <c:v>190544</c:v>
                </c:pt>
                <c:pt idx="27" formatCode="#,##0">
                  <c:v>193039</c:v>
                </c:pt>
                <c:pt idx="28" formatCode="#,##0">
                  <c:v>194124</c:v>
                </c:pt>
                <c:pt idx="29" formatCode="#,##0">
                  <c:v>194854</c:v>
                </c:pt>
                <c:pt idx="30" formatCode="#,##0">
                  <c:v>195329</c:v>
                </c:pt>
                <c:pt idx="31" formatCode="#,##0">
                  <c:v>195549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41-2846-4238-B429-6EB25995CA3F}"/>
            </c:ext>
          </c:extLst>
        </c:ser>
        <c:ser>
          <c:idx val="2"/>
          <c:order val="2"/>
          <c:tx>
            <c:strRef>
              <c:f>'Licking County'!$E$1</c:f>
              <c:strCache>
                <c:ptCount val="1"/>
                <c:pt idx="0">
                  <c:v>75th percentile migration</c:v>
                </c:pt>
              </c:strCache>
            </c:strRef>
          </c:tx>
          <c:spPr>
            <a:ln w="25400">
              <a:solidFill>
                <a:srgbClr val="D95F27"/>
              </a:solidFill>
            </a:ln>
          </c:spPr>
          <c:marker>
            <c:symbol val="diamond"/>
            <c:size val="5"/>
            <c:spPr>
              <a:solidFill>
                <a:srgbClr val="D95F27"/>
              </a:solidFill>
              <a:ln>
                <a:solidFill>
                  <a:srgbClr val="D95F27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2-2846-4238-B429-6EB25995CA3F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3-2846-4238-B429-6EB25995CA3F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4-2846-4238-B429-6EB25995CA3F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5-2846-4238-B429-6EB25995CA3F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6-2846-4238-B429-6EB25995CA3F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7-2846-4238-B429-6EB25995CA3F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8-2846-4238-B429-6EB25995CA3F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9-2846-4238-B429-6EB25995CA3F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A-2846-4238-B429-6EB25995CA3F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B-2846-4238-B429-6EB25995CA3F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C-2846-4238-B429-6EB25995CA3F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D-2846-4238-B429-6EB25995CA3F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E-2846-4238-B429-6EB25995CA3F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F-2846-4238-B429-6EB25995CA3F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0-2846-4238-B429-6EB25995CA3F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1-2846-4238-B429-6EB25995CA3F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2-2846-4238-B429-6EB25995CA3F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3-2846-4238-B429-6EB25995CA3F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4-2846-4238-B429-6EB25995CA3F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5-2846-4238-B429-6EB25995CA3F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6-2846-4238-B429-6EB25995CA3F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7-2846-4238-B429-6EB25995CA3F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8-2846-4238-B429-6EB25995CA3F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9-2846-4238-B429-6EB25995CA3F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A-2846-4238-B429-6EB25995CA3F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B-2846-4238-B429-6EB25995CA3F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C-2846-4238-B429-6EB25995CA3F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D-2846-4238-B429-6EB25995CA3F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E-2846-4238-B429-6EB25995CA3F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F-2846-4238-B429-6EB25995CA3F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0-2846-4238-B429-6EB25995CA3F}"/>
                </c:ext>
              </c:extLst>
            </c:dLbl>
            <c:dLbl>
              <c:idx val="31"/>
              <c:layout>
                <c:manualLayout>
                  <c:x val="3.3333333333333215E-2"/>
                  <c:y val="-4.1362530413625302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1-2846-4238-B429-6EB25995CA3F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'Licking County'!$A$2:$A$33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'Licking County'!$E$2:$E$33</c:f>
              <c:numCache>
                <c:formatCode>General</c:formatCode>
                <c:ptCount val="32"/>
                <c:pt idx="25" formatCode="#,##0">
                  <c:v>185564</c:v>
                </c:pt>
                <c:pt idx="26" formatCode="#,##0">
                  <c:v>191779</c:v>
                </c:pt>
                <c:pt idx="27" formatCode="#,##0">
                  <c:v>195484</c:v>
                </c:pt>
                <c:pt idx="28" formatCode="#,##0">
                  <c:v>197824</c:v>
                </c:pt>
                <c:pt idx="29" formatCode="#,##0">
                  <c:v>199864</c:v>
                </c:pt>
                <c:pt idx="30" formatCode="#,##0">
                  <c:v>201654</c:v>
                </c:pt>
                <c:pt idx="31" formatCode="#,##0">
                  <c:v>203224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62-2846-4238-B429-6EB25995CA3F}"/>
            </c:ext>
          </c:extLst>
        </c:ser>
        <c:ser>
          <c:idx val="3"/>
          <c:order val="3"/>
          <c:tx>
            <c:strRef>
              <c:f>'Licking County'!$B$1</c:f>
              <c:strCache>
                <c:ptCount val="1"/>
                <c:pt idx="0">
                  <c:v>Historical</c:v>
                </c:pt>
              </c:strCache>
            </c:strRef>
          </c:tx>
          <c:spPr>
            <a:ln w="25400">
              <a:solidFill>
                <a:srgbClr val="193764"/>
              </a:solidFill>
            </a:ln>
          </c:spPr>
          <c:marker>
            <c:symbol val="circle"/>
            <c:size val="5"/>
            <c:spPr>
              <a:solidFill>
                <a:srgbClr val="193764"/>
              </a:solidFill>
              <a:ln>
                <a:solidFill>
                  <a:srgbClr val="193764"/>
                </a:solidFill>
              </a:ln>
            </c:spPr>
          </c:marker>
          <c:dLbls>
            <c:dLbl>
              <c:idx val="0"/>
              <c:layout>
                <c:manualLayout>
                  <c:x val="2.1845144356955382E-2"/>
                  <c:y val="7.3783550778780294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3-2846-4238-B429-6EB25995CA3F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4-2846-4238-B429-6EB25995CA3F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5-2846-4238-B429-6EB25995CA3F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6-2846-4238-B429-6EB25995CA3F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7-2846-4238-B429-6EB25995CA3F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8-2846-4238-B429-6EB25995CA3F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9-2846-4238-B429-6EB25995CA3F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A-2846-4238-B429-6EB25995CA3F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B-2846-4238-B429-6EB25995CA3F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C-2846-4238-B429-6EB25995CA3F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D-2846-4238-B429-6EB25995CA3F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E-2846-4238-B429-6EB25995CA3F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F-2846-4238-B429-6EB25995CA3F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0-2846-4238-B429-6EB25995CA3F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1-2846-4238-B429-6EB25995CA3F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2-2846-4238-B429-6EB25995CA3F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3-2846-4238-B429-6EB25995CA3F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4-2846-4238-B429-6EB25995CA3F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5-2846-4238-B429-6EB25995CA3F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6-2846-4238-B429-6EB25995CA3F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7-2846-4238-B429-6EB25995CA3F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8-2846-4238-B429-6EB25995CA3F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9-2846-4238-B429-6EB25995CA3F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A-2846-4238-B429-6EB25995CA3F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B-2846-4238-B429-6EB25995CA3F}"/>
                </c:ext>
              </c:extLst>
            </c:dLbl>
            <c:dLbl>
              <c:idx val="25"/>
              <c:layout>
                <c:manualLayout>
                  <c:x val="-4.0059617547806521E-2"/>
                  <c:y val="6.6484280705787685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C-2846-4238-B429-6EB25995CA3F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D-2846-4238-B429-6EB25995CA3F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E-2846-4238-B429-6EB25995CA3F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F-2846-4238-B429-6EB25995CA3F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80-2846-4238-B429-6EB25995CA3F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81-2846-4238-B429-6EB25995CA3F}"/>
                </c:ext>
              </c:extLst>
            </c:dLbl>
            <c:dLbl>
              <c:idx val="3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82-2846-4238-B429-6EB25995CA3F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'Licking County'!$A$2:$A$33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'Licking County'!$B$2:$B$33</c:f>
              <c:numCache>
                <c:formatCode>#,##0</c:formatCode>
                <c:ptCount val="32"/>
                <c:pt idx="0">
                  <c:v>146268</c:v>
                </c:pt>
                <c:pt idx="1">
                  <c:v>148226</c:v>
                </c:pt>
                <c:pt idx="2">
                  <c:v>150061</c:v>
                </c:pt>
                <c:pt idx="3">
                  <c:v>152582</c:v>
                </c:pt>
                <c:pt idx="4">
                  <c:v>155264</c:v>
                </c:pt>
                <c:pt idx="5">
                  <c:v>157950</c:v>
                </c:pt>
                <c:pt idx="6">
                  <c:v>160263</c:v>
                </c:pt>
                <c:pt idx="7">
                  <c:v>162375</c:v>
                </c:pt>
                <c:pt idx="8">
                  <c:v>163916</c:v>
                </c:pt>
                <c:pt idx="9">
                  <c:v>165283</c:v>
                </c:pt>
                <c:pt idx="10">
                  <c:v>166739</c:v>
                </c:pt>
                <c:pt idx="11">
                  <c:v>167266</c:v>
                </c:pt>
                <c:pt idx="12">
                  <c:v>167765</c:v>
                </c:pt>
                <c:pt idx="13">
                  <c:v>168717</c:v>
                </c:pt>
                <c:pt idx="14">
                  <c:v>169748</c:v>
                </c:pt>
                <c:pt idx="15">
                  <c:v>171021</c:v>
                </c:pt>
                <c:pt idx="16">
                  <c:v>172522</c:v>
                </c:pt>
                <c:pt idx="17">
                  <c:v>174203</c:v>
                </c:pt>
                <c:pt idx="18">
                  <c:v>176286</c:v>
                </c:pt>
                <c:pt idx="19">
                  <c:v>177701</c:v>
                </c:pt>
                <c:pt idx="20">
                  <c:v>178786</c:v>
                </c:pt>
                <c:pt idx="21">
                  <c:v>179942</c:v>
                </c:pt>
                <c:pt idx="22">
                  <c:v>181702</c:v>
                </c:pt>
                <c:pt idx="23">
                  <c:v>183197</c:v>
                </c:pt>
                <c:pt idx="24">
                  <c:v>184340</c:v>
                </c:pt>
                <c:pt idx="25">
                  <c:v>185564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83-2846-4238-B429-6EB25995CA3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0070001"/>
        <c:axId val="50070002"/>
      </c:scatterChart>
      <c:valAx>
        <c:axId val="50070001"/>
        <c:scaling>
          <c:orientation val="minMax"/>
          <c:max val="2055"/>
          <c:min val="2000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 baseline="0"/>
            </a:pPr>
            <a:endParaRPr lang="en-US"/>
          </a:p>
        </c:txPr>
        <c:crossAx val="50070002"/>
        <c:crosses val="autoZero"/>
        <c:crossBetween val="midCat"/>
        <c:majorUnit val="5"/>
      </c:valAx>
      <c:valAx>
        <c:axId val="5007000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 baseline="0"/>
            </a:pPr>
            <a:endParaRPr lang="en-US"/>
          </a:p>
        </c:txPr>
        <c:crossAx val="50070001"/>
        <c:crosses val="autoZero"/>
        <c:crossBetween val="midCat"/>
      </c:valAx>
    </c:plotArea>
    <c:legend>
      <c:legendPos val="b"/>
      <c:layout>
        <c:manualLayout>
          <c:xMode val="edge"/>
          <c:yMode val="edge"/>
          <c:x val="0.13"/>
          <c:y val="0.87"/>
          <c:w val="0.65"/>
          <c:h val="0.1"/>
        </c:manualLayout>
      </c:layout>
      <c:overlay val="0"/>
      <c:txPr>
        <a:bodyPr/>
        <a:lstStyle/>
        <a:p>
          <a:pPr>
            <a:defRPr sz="1400" baseline="0"/>
          </a:pPr>
          <a:endParaRPr lang="en-US"/>
        </a:p>
      </c:txPr>
    </c:legend>
    <c:plotVisOnly val="1"/>
    <c:dispBlanksAs val="gap"/>
    <c:showDLblsOverMax val="0"/>
  </c:chart>
  <c:externalData r:id="rId2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/>
          <a:lstStyle/>
          <a:p>
            <a:pPr>
              <a:defRPr/>
            </a:pPr>
            <a:r>
              <a:rPr lang="en-US" dirty="0"/>
              <a:t>Historical and </a:t>
            </a:r>
            <a:r>
              <a:rPr lang="en-US" sz="1800" b="1" i="0" u="none" strike="noStrike" kern="1200" baseline="0" dirty="0">
                <a:solidFill>
                  <a:prstClr val="black"/>
                </a:solidFill>
              </a:rPr>
              <a:t>Projected</a:t>
            </a:r>
            <a:r>
              <a:rPr lang="en-US" dirty="0"/>
              <a:t> Population - Logan County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13"/>
          <c:y val="0.12"/>
          <c:w val="0.75"/>
          <c:h val="0.65"/>
        </c:manualLayout>
      </c:layout>
      <c:scatterChart>
        <c:scatterStyle val="lineMarker"/>
        <c:varyColors val="0"/>
        <c:ser>
          <c:idx val="0"/>
          <c:order val="0"/>
          <c:tx>
            <c:strRef>
              <c:f>'Logan County'!$C$1</c:f>
              <c:strCache>
                <c:ptCount val="1"/>
                <c:pt idx="0">
                  <c:v>25th percentile migration</c:v>
                </c:pt>
              </c:strCache>
            </c:strRef>
          </c:tx>
          <c:spPr>
            <a:ln w="25400">
              <a:solidFill>
                <a:srgbClr val="597C3E"/>
              </a:solidFill>
            </a:ln>
          </c:spPr>
          <c:marker>
            <c:symbol val="square"/>
            <c:size val="5"/>
            <c:spPr>
              <a:solidFill>
                <a:srgbClr val="597C3E"/>
              </a:solidFill>
              <a:ln>
                <a:solidFill>
                  <a:srgbClr val="597C3E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E78E-4445-8971-1E2529A165FF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78E-4445-8971-1E2529A165FF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E78E-4445-8971-1E2529A165FF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78E-4445-8971-1E2529A165FF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E78E-4445-8971-1E2529A165FF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78E-4445-8971-1E2529A165FF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E78E-4445-8971-1E2529A165FF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78E-4445-8971-1E2529A165FF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E78E-4445-8971-1E2529A165FF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E78E-4445-8971-1E2529A165FF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E78E-4445-8971-1E2529A165FF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78E-4445-8971-1E2529A165FF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E78E-4445-8971-1E2529A165FF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E78E-4445-8971-1E2529A165FF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E78E-4445-8971-1E2529A165FF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E78E-4445-8971-1E2529A165FF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0-E78E-4445-8971-1E2529A165FF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E78E-4445-8971-1E2529A165FF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2-E78E-4445-8971-1E2529A165FF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E78E-4445-8971-1E2529A165FF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4-E78E-4445-8971-1E2529A165FF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5-E78E-4445-8971-1E2529A165FF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6-E78E-4445-8971-1E2529A165FF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7-E78E-4445-8971-1E2529A165FF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8-E78E-4445-8971-1E2529A165FF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9-E78E-4445-8971-1E2529A165FF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A-E78E-4445-8971-1E2529A165FF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B-E78E-4445-8971-1E2529A165FF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C-E78E-4445-8971-1E2529A165FF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D-E78E-4445-8971-1E2529A165FF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E-E78E-4445-8971-1E2529A165FF}"/>
                </c:ext>
              </c:extLst>
            </c:dLbl>
            <c:dLbl>
              <c:idx val="31"/>
              <c:layout>
                <c:manualLayout>
                  <c:x val="3.8095238095238099E-2"/>
                  <c:y val="4.8661800486618006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F-E78E-4445-8971-1E2529A165FF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'Logan County'!$A$2:$A$33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'Logan County'!$C$2:$C$33</c:f>
              <c:numCache>
                <c:formatCode>General</c:formatCode>
                <c:ptCount val="32"/>
                <c:pt idx="25" formatCode="#,##0">
                  <c:v>46302</c:v>
                </c:pt>
                <c:pt idx="26" formatCode="#,##0">
                  <c:v>44877</c:v>
                </c:pt>
                <c:pt idx="27" formatCode="#,##0">
                  <c:v>42972</c:v>
                </c:pt>
                <c:pt idx="28" formatCode="#,##0">
                  <c:v>40697</c:v>
                </c:pt>
                <c:pt idx="29" formatCode="#,##0">
                  <c:v>38197</c:v>
                </c:pt>
                <c:pt idx="30" formatCode="#,##0">
                  <c:v>35587</c:v>
                </c:pt>
                <c:pt idx="31" formatCode="#,##0">
                  <c:v>32987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20-E78E-4445-8971-1E2529A165FF}"/>
            </c:ext>
          </c:extLst>
        </c:ser>
        <c:ser>
          <c:idx val="1"/>
          <c:order val="1"/>
          <c:tx>
            <c:strRef>
              <c:f>'Logan County'!$D$1</c:f>
              <c:strCache>
                <c:ptCount val="1"/>
                <c:pt idx="0">
                  <c:v>50th percentile migration</c:v>
                </c:pt>
              </c:strCache>
            </c:strRef>
          </c:tx>
          <c:spPr>
            <a:ln w="25400">
              <a:solidFill>
                <a:srgbClr val="3D9BB1"/>
              </a:solidFill>
            </a:ln>
          </c:spPr>
          <c:marker>
            <c:symbol val="triangle"/>
            <c:size val="5"/>
            <c:spPr>
              <a:solidFill>
                <a:srgbClr val="3D9BB1"/>
              </a:solidFill>
              <a:ln>
                <a:solidFill>
                  <a:srgbClr val="3D9BB1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1-E78E-4445-8971-1E2529A165FF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2-E78E-4445-8971-1E2529A165FF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3-E78E-4445-8971-1E2529A165FF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4-E78E-4445-8971-1E2529A165FF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5-E78E-4445-8971-1E2529A165FF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6-E78E-4445-8971-1E2529A165FF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7-E78E-4445-8971-1E2529A165FF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8-E78E-4445-8971-1E2529A165FF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9-E78E-4445-8971-1E2529A165FF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A-E78E-4445-8971-1E2529A165FF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B-E78E-4445-8971-1E2529A165FF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C-E78E-4445-8971-1E2529A165FF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D-E78E-4445-8971-1E2529A165FF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E-E78E-4445-8971-1E2529A165FF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F-E78E-4445-8971-1E2529A165FF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0-E78E-4445-8971-1E2529A165FF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1-E78E-4445-8971-1E2529A165FF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2-E78E-4445-8971-1E2529A165FF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3-E78E-4445-8971-1E2529A165FF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4-E78E-4445-8971-1E2529A165FF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5-E78E-4445-8971-1E2529A165FF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6-E78E-4445-8971-1E2529A165FF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7-E78E-4445-8971-1E2529A165FF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8-E78E-4445-8971-1E2529A165FF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9-E78E-4445-8971-1E2529A165FF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A-E78E-4445-8971-1E2529A165FF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B-E78E-4445-8971-1E2529A165FF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C-E78E-4445-8971-1E2529A165FF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D-E78E-4445-8971-1E2529A165FF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E-E78E-4445-8971-1E2529A165FF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F-E78E-4445-8971-1E2529A165FF}"/>
                </c:ext>
              </c:extLst>
            </c:dLbl>
            <c:dLbl>
              <c:idx val="31"/>
              <c:layout>
                <c:manualLayout>
                  <c:x val="3.8095238095238099E-2"/>
                  <c:y val="2.9197080291970802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0-E78E-4445-8971-1E2529A165FF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'Logan County'!$A$2:$A$33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'Logan County'!$D$2:$D$33</c:f>
              <c:numCache>
                <c:formatCode>General</c:formatCode>
                <c:ptCount val="32"/>
                <c:pt idx="25" formatCode="#,##0">
                  <c:v>46302</c:v>
                </c:pt>
                <c:pt idx="26" formatCode="#,##0">
                  <c:v>46077</c:v>
                </c:pt>
                <c:pt idx="27" formatCode="#,##0">
                  <c:v>45372</c:v>
                </c:pt>
                <c:pt idx="28" formatCode="#,##0">
                  <c:v>44347</c:v>
                </c:pt>
                <c:pt idx="29" formatCode="#,##0">
                  <c:v>43107</c:v>
                </c:pt>
                <c:pt idx="30" formatCode="#,##0">
                  <c:v>41732</c:v>
                </c:pt>
                <c:pt idx="31" formatCode="#,##0">
                  <c:v>40292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41-E78E-4445-8971-1E2529A165FF}"/>
            </c:ext>
          </c:extLst>
        </c:ser>
        <c:ser>
          <c:idx val="2"/>
          <c:order val="2"/>
          <c:tx>
            <c:strRef>
              <c:f>'Logan County'!$E$1</c:f>
              <c:strCache>
                <c:ptCount val="1"/>
                <c:pt idx="0">
                  <c:v>75th percentile migration</c:v>
                </c:pt>
              </c:strCache>
            </c:strRef>
          </c:tx>
          <c:spPr>
            <a:ln w="25400">
              <a:solidFill>
                <a:srgbClr val="D95F27"/>
              </a:solidFill>
            </a:ln>
          </c:spPr>
          <c:marker>
            <c:symbol val="diamond"/>
            <c:size val="5"/>
            <c:spPr>
              <a:solidFill>
                <a:srgbClr val="D95F27"/>
              </a:solidFill>
              <a:ln>
                <a:solidFill>
                  <a:srgbClr val="D95F27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2-E78E-4445-8971-1E2529A165FF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3-E78E-4445-8971-1E2529A165FF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4-E78E-4445-8971-1E2529A165FF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5-E78E-4445-8971-1E2529A165FF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6-E78E-4445-8971-1E2529A165FF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7-E78E-4445-8971-1E2529A165FF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8-E78E-4445-8971-1E2529A165FF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9-E78E-4445-8971-1E2529A165FF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A-E78E-4445-8971-1E2529A165FF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B-E78E-4445-8971-1E2529A165FF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C-E78E-4445-8971-1E2529A165FF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D-E78E-4445-8971-1E2529A165FF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E-E78E-4445-8971-1E2529A165FF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F-E78E-4445-8971-1E2529A165FF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0-E78E-4445-8971-1E2529A165FF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1-E78E-4445-8971-1E2529A165FF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2-E78E-4445-8971-1E2529A165FF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3-E78E-4445-8971-1E2529A165FF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4-E78E-4445-8971-1E2529A165FF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5-E78E-4445-8971-1E2529A165FF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6-E78E-4445-8971-1E2529A165FF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7-E78E-4445-8971-1E2529A165FF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8-E78E-4445-8971-1E2529A165FF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9-E78E-4445-8971-1E2529A165FF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A-E78E-4445-8971-1E2529A165FF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B-E78E-4445-8971-1E2529A165FF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C-E78E-4445-8971-1E2529A165FF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D-E78E-4445-8971-1E2529A165FF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E-E78E-4445-8971-1E2529A165FF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F-E78E-4445-8971-1E2529A165FF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0-E78E-4445-8971-1E2529A165FF}"/>
                </c:ext>
              </c:extLst>
            </c:dLbl>
            <c:dLbl>
              <c:idx val="31"/>
              <c:layout>
                <c:manualLayout>
                  <c:x val="3.8095238095238099E-2"/>
                  <c:y val="-3.6496350364963501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1-E78E-4445-8971-1E2529A165FF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'Logan County'!$A$2:$A$33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'Logan County'!$E$2:$E$33</c:f>
              <c:numCache>
                <c:formatCode>General</c:formatCode>
                <c:ptCount val="32"/>
                <c:pt idx="25" formatCode="#,##0">
                  <c:v>46302</c:v>
                </c:pt>
                <c:pt idx="26" formatCode="#,##0">
                  <c:v>46227</c:v>
                </c:pt>
                <c:pt idx="27" formatCode="#,##0">
                  <c:v>45667</c:v>
                </c:pt>
                <c:pt idx="28" formatCode="#,##0">
                  <c:v>44807</c:v>
                </c:pt>
                <c:pt idx="29" formatCode="#,##0">
                  <c:v>43727</c:v>
                </c:pt>
                <c:pt idx="30" formatCode="#,##0">
                  <c:v>42512</c:v>
                </c:pt>
                <c:pt idx="31" formatCode="#,##0">
                  <c:v>41247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62-E78E-4445-8971-1E2529A165FF}"/>
            </c:ext>
          </c:extLst>
        </c:ser>
        <c:ser>
          <c:idx val="3"/>
          <c:order val="3"/>
          <c:tx>
            <c:strRef>
              <c:f>'Logan County'!$B$1</c:f>
              <c:strCache>
                <c:ptCount val="1"/>
                <c:pt idx="0">
                  <c:v>Historical</c:v>
                </c:pt>
              </c:strCache>
            </c:strRef>
          </c:tx>
          <c:spPr>
            <a:ln w="25400">
              <a:solidFill>
                <a:srgbClr val="193764"/>
              </a:solidFill>
            </a:ln>
          </c:spPr>
          <c:marker>
            <c:symbol val="circle"/>
            <c:size val="5"/>
            <c:spPr>
              <a:solidFill>
                <a:srgbClr val="193764"/>
              </a:solidFill>
              <a:ln>
                <a:solidFill>
                  <a:srgbClr val="193764"/>
                </a:solidFill>
              </a:ln>
            </c:spPr>
          </c:marker>
          <c:dLbls>
            <c:dLbl>
              <c:idx val="0"/>
              <c:layout>
                <c:manualLayout>
                  <c:x val="3.3019747531558556E-2"/>
                  <c:y val="0.10298063107075119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3-E78E-4445-8971-1E2529A165FF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4-E78E-4445-8971-1E2529A165FF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5-E78E-4445-8971-1E2529A165FF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6-E78E-4445-8971-1E2529A165FF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7-E78E-4445-8971-1E2529A165FF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8-E78E-4445-8971-1E2529A165FF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9-E78E-4445-8971-1E2529A165FF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A-E78E-4445-8971-1E2529A165FF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B-E78E-4445-8971-1E2529A165FF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C-E78E-4445-8971-1E2529A165FF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D-E78E-4445-8971-1E2529A165FF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E-E78E-4445-8971-1E2529A165FF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F-E78E-4445-8971-1E2529A165FF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0-E78E-4445-8971-1E2529A165FF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1-E78E-4445-8971-1E2529A165FF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2-E78E-4445-8971-1E2529A165FF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3-E78E-4445-8971-1E2529A165FF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4-E78E-4445-8971-1E2529A165FF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5-E78E-4445-8971-1E2529A165FF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6-E78E-4445-8971-1E2529A165FF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7-E78E-4445-8971-1E2529A165FF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8-E78E-4445-8971-1E2529A165FF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9-E78E-4445-8971-1E2529A165FF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A-E78E-4445-8971-1E2529A165FF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B-E78E-4445-8971-1E2529A165FF}"/>
                </c:ext>
              </c:extLst>
            </c:dLbl>
            <c:dLbl>
              <c:idx val="25"/>
              <c:layout>
                <c:manualLayout>
                  <c:x val="-3.6821522309711342E-2"/>
                  <c:y val="0.11027990114374389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C-E78E-4445-8971-1E2529A165FF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D-E78E-4445-8971-1E2529A165FF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E-E78E-4445-8971-1E2529A165FF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F-E78E-4445-8971-1E2529A165FF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80-E78E-4445-8971-1E2529A165FF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81-E78E-4445-8971-1E2529A165FF}"/>
                </c:ext>
              </c:extLst>
            </c:dLbl>
            <c:dLbl>
              <c:idx val="3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82-E78E-4445-8971-1E2529A165FF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'Logan County'!$A$2:$A$33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'Logan County'!$B$2:$B$33</c:f>
              <c:numCache>
                <c:formatCode>#,##0</c:formatCode>
                <c:ptCount val="32"/>
                <c:pt idx="0">
                  <c:v>45984</c:v>
                </c:pt>
                <c:pt idx="1">
                  <c:v>45865</c:v>
                </c:pt>
                <c:pt idx="2">
                  <c:v>46089</c:v>
                </c:pt>
                <c:pt idx="3">
                  <c:v>46257</c:v>
                </c:pt>
                <c:pt idx="4">
                  <c:v>46247</c:v>
                </c:pt>
                <c:pt idx="5">
                  <c:v>46066</c:v>
                </c:pt>
                <c:pt idx="6">
                  <c:v>45902</c:v>
                </c:pt>
                <c:pt idx="7">
                  <c:v>46154</c:v>
                </c:pt>
                <c:pt idx="8">
                  <c:v>46115</c:v>
                </c:pt>
                <c:pt idx="9">
                  <c:v>46055</c:v>
                </c:pt>
                <c:pt idx="10">
                  <c:v>45761</c:v>
                </c:pt>
                <c:pt idx="11">
                  <c:v>45716</c:v>
                </c:pt>
                <c:pt idx="12">
                  <c:v>45575</c:v>
                </c:pt>
                <c:pt idx="13">
                  <c:v>45635</c:v>
                </c:pt>
                <c:pt idx="14">
                  <c:v>45786</c:v>
                </c:pt>
                <c:pt idx="15">
                  <c:v>45636</c:v>
                </c:pt>
                <c:pt idx="16">
                  <c:v>45599</c:v>
                </c:pt>
                <c:pt idx="17">
                  <c:v>45743</c:v>
                </c:pt>
                <c:pt idx="18">
                  <c:v>45890</c:v>
                </c:pt>
                <c:pt idx="19">
                  <c:v>46265</c:v>
                </c:pt>
                <c:pt idx="20">
                  <c:v>46117</c:v>
                </c:pt>
                <c:pt idx="21">
                  <c:v>46166</c:v>
                </c:pt>
                <c:pt idx="22">
                  <c:v>46067</c:v>
                </c:pt>
                <c:pt idx="23">
                  <c:v>46064</c:v>
                </c:pt>
                <c:pt idx="24">
                  <c:v>46072</c:v>
                </c:pt>
                <c:pt idx="25">
                  <c:v>46302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83-E78E-4445-8971-1E2529A165F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0080001"/>
        <c:axId val="50080002"/>
      </c:scatterChart>
      <c:valAx>
        <c:axId val="50080001"/>
        <c:scaling>
          <c:orientation val="minMax"/>
          <c:max val="2055"/>
          <c:min val="2000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 baseline="0"/>
            </a:pPr>
            <a:endParaRPr lang="en-US"/>
          </a:p>
        </c:txPr>
        <c:crossAx val="50080002"/>
        <c:crosses val="autoZero"/>
        <c:crossBetween val="midCat"/>
        <c:majorUnit val="5"/>
      </c:valAx>
      <c:valAx>
        <c:axId val="5008000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 baseline="0"/>
            </a:pPr>
            <a:endParaRPr lang="en-US"/>
          </a:p>
        </c:txPr>
        <c:crossAx val="50080001"/>
        <c:crosses val="autoZero"/>
        <c:crossBetween val="midCat"/>
      </c:valAx>
    </c:plotArea>
    <c:legend>
      <c:legendPos val="b"/>
      <c:layout>
        <c:manualLayout>
          <c:xMode val="edge"/>
          <c:yMode val="edge"/>
          <c:x val="0.13"/>
          <c:y val="0.87"/>
          <c:w val="0.65"/>
          <c:h val="0.1"/>
        </c:manualLayout>
      </c:layout>
      <c:overlay val="0"/>
      <c:txPr>
        <a:bodyPr/>
        <a:lstStyle/>
        <a:p>
          <a:pPr>
            <a:defRPr sz="1400" baseline="0"/>
          </a:pPr>
          <a:endParaRPr lang="en-US"/>
        </a:p>
      </c:txPr>
    </c:legend>
    <c:plotVisOnly val="1"/>
    <c:dispBlanksAs val="gap"/>
    <c:showDLblsOverMax val="0"/>
  </c:chart>
  <c:externalData r:id="rId2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/>
          <a:lstStyle/>
          <a:p>
            <a:pPr>
              <a:defRPr/>
            </a:pPr>
            <a:r>
              <a:rPr lang="en-US" dirty="0"/>
              <a:t>Historical and </a:t>
            </a:r>
            <a:r>
              <a:rPr lang="en-US" sz="1800" b="1" i="0" u="none" strike="noStrike" kern="1200" baseline="0" dirty="0">
                <a:solidFill>
                  <a:prstClr val="black"/>
                </a:solidFill>
              </a:rPr>
              <a:t>Projected</a:t>
            </a:r>
            <a:r>
              <a:rPr lang="en-US" dirty="0"/>
              <a:t> Population - Madison County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13"/>
          <c:y val="0.12"/>
          <c:w val="0.75"/>
          <c:h val="0.65"/>
        </c:manualLayout>
      </c:layout>
      <c:scatterChart>
        <c:scatterStyle val="lineMarker"/>
        <c:varyColors val="0"/>
        <c:ser>
          <c:idx val="0"/>
          <c:order val="0"/>
          <c:tx>
            <c:strRef>
              <c:f>'Madison County'!$C$1</c:f>
              <c:strCache>
                <c:ptCount val="1"/>
                <c:pt idx="0">
                  <c:v>25th percentile migration</c:v>
                </c:pt>
              </c:strCache>
            </c:strRef>
          </c:tx>
          <c:spPr>
            <a:ln w="25400">
              <a:solidFill>
                <a:srgbClr val="597C3E"/>
              </a:solidFill>
            </a:ln>
          </c:spPr>
          <c:marker>
            <c:symbol val="square"/>
            <c:size val="5"/>
            <c:spPr>
              <a:solidFill>
                <a:srgbClr val="597C3E"/>
              </a:solidFill>
              <a:ln>
                <a:solidFill>
                  <a:srgbClr val="597C3E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918C-4E4F-A728-E48744364E3B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918C-4E4F-A728-E48744364E3B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918C-4E4F-A728-E48744364E3B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18C-4E4F-A728-E48744364E3B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918C-4E4F-A728-E48744364E3B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18C-4E4F-A728-E48744364E3B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918C-4E4F-A728-E48744364E3B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18C-4E4F-A728-E48744364E3B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918C-4E4F-A728-E48744364E3B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918C-4E4F-A728-E48744364E3B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918C-4E4F-A728-E48744364E3B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918C-4E4F-A728-E48744364E3B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918C-4E4F-A728-E48744364E3B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918C-4E4F-A728-E48744364E3B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918C-4E4F-A728-E48744364E3B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918C-4E4F-A728-E48744364E3B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0-918C-4E4F-A728-E48744364E3B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918C-4E4F-A728-E48744364E3B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2-918C-4E4F-A728-E48744364E3B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918C-4E4F-A728-E48744364E3B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4-918C-4E4F-A728-E48744364E3B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5-918C-4E4F-A728-E48744364E3B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6-918C-4E4F-A728-E48744364E3B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7-918C-4E4F-A728-E48744364E3B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8-918C-4E4F-A728-E48744364E3B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9-918C-4E4F-A728-E48744364E3B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A-918C-4E4F-A728-E48744364E3B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B-918C-4E4F-A728-E48744364E3B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C-918C-4E4F-A728-E48744364E3B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D-918C-4E4F-A728-E48744364E3B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E-918C-4E4F-A728-E48744364E3B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'Madison County'!$A$2:$A$33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'Madison County'!$C$2:$C$33</c:f>
              <c:numCache>
                <c:formatCode>General</c:formatCode>
                <c:ptCount val="32"/>
                <c:pt idx="25" formatCode="#,##0">
                  <c:v>46985</c:v>
                </c:pt>
                <c:pt idx="26" formatCode="#,##0">
                  <c:v>45700</c:v>
                </c:pt>
                <c:pt idx="27" formatCode="#,##0">
                  <c:v>43775</c:v>
                </c:pt>
                <c:pt idx="28" formatCode="#,##0">
                  <c:v>41400</c:v>
                </c:pt>
                <c:pt idx="29" formatCode="#,##0">
                  <c:v>38825</c:v>
                </c:pt>
                <c:pt idx="30" formatCode="#,##0">
                  <c:v>36195</c:v>
                </c:pt>
                <c:pt idx="31" formatCode="#,##0">
                  <c:v>33570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1F-918C-4E4F-A728-E48744364E3B}"/>
            </c:ext>
          </c:extLst>
        </c:ser>
        <c:ser>
          <c:idx val="1"/>
          <c:order val="1"/>
          <c:tx>
            <c:strRef>
              <c:f>'Madison County'!$D$1</c:f>
              <c:strCache>
                <c:ptCount val="1"/>
                <c:pt idx="0">
                  <c:v>50th percentile migration</c:v>
                </c:pt>
              </c:strCache>
            </c:strRef>
          </c:tx>
          <c:spPr>
            <a:ln w="25400">
              <a:solidFill>
                <a:srgbClr val="3D9BB1"/>
              </a:solidFill>
            </a:ln>
          </c:spPr>
          <c:marker>
            <c:symbol val="triangle"/>
            <c:size val="5"/>
            <c:spPr>
              <a:solidFill>
                <a:srgbClr val="3D9BB1"/>
              </a:solidFill>
              <a:ln>
                <a:solidFill>
                  <a:srgbClr val="3D9BB1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0-918C-4E4F-A728-E48744364E3B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1-918C-4E4F-A728-E48744364E3B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2-918C-4E4F-A728-E48744364E3B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3-918C-4E4F-A728-E48744364E3B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4-918C-4E4F-A728-E48744364E3B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5-918C-4E4F-A728-E48744364E3B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6-918C-4E4F-A728-E48744364E3B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7-918C-4E4F-A728-E48744364E3B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8-918C-4E4F-A728-E48744364E3B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9-918C-4E4F-A728-E48744364E3B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A-918C-4E4F-A728-E48744364E3B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B-918C-4E4F-A728-E48744364E3B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C-918C-4E4F-A728-E48744364E3B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D-918C-4E4F-A728-E48744364E3B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E-918C-4E4F-A728-E48744364E3B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F-918C-4E4F-A728-E48744364E3B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0-918C-4E4F-A728-E48744364E3B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1-918C-4E4F-A728-E48744364E3B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2-918C-4E4F-A728-E48744364E3B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3-918C-4E4F-A728-E48744364E3B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4-918C-4E4F-A728-E48744364E3B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5-918C-4E4F-A728-E48744364E3B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6-918C-4E4F-A728-E48744364E3B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7-918C-4E4F-A728-E48744364E3B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8-918C-4E4F-A728-E48744364E3B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9-918C-4E4F-A728-E48744364E3B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A-918C-4E4F-A728-E48744364E3B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B-918C-4E4F-A728-E48744364E3B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C-918C-4E4F-A728-E48744364E3B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D-918C-4E4F-A728-E48744364E3B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E-918C-4E4F-A728-E48744364E3B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'Madison County'!$A$2:$A$33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'Madison County'!$D$2:$D$33</c:f>
              <c:numCache>
                <c:formatCode>General</c:formatCode>
                <c:ptCount val="32"/>
                <c:pt idx="25" formatCode="#,##0">
                  <c:v>46985</c:v>
                </c:pt>
                <c:pt idx="26" formatCode="#,##0">
                  <c:v>48455</c:v>
                </c:pt>
                <c:pt idx="27" formatCode="#,##0">
                  <c:v>49320</c:v>
                </c:pt>
                <c:pt idx="28" formatCode="#,##0">
                  <c:v>49890</c:v>
                </c:pt>
                <c:pt idx="29" formatCode="#,##0">
                  <c:v>50410</c:v>
                </c:pt>
                <c:pt idx="30" formatCode="#,##0">
                  <c:v>50940</c:v>
                </c:pt>
                <c:pt idx="31" formatCode="#,##0">
                  <c:v>51500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3F-918C-4E4F-A728-E48744364E3B}"/>
            </c:ext>
          </c:extLst>
        </c:ser>
        <c:ser>
          <c:idx val="2"/>
          <c:order val="2"/>
          <c:tx>
            <c:strRef>
              <c:f>'Madison County'!$E$1</c:f>
              <c:strCache>
                <c:ptCount val="1"/>
                <c:pt idx="0">
                  <c:v>75th percentile migration</c:v>
                </c:pt>
              </c:strCache>
            </c:strRef>
          </c:tx>
          <c:spPr>
            <a:ln w="25400">
              <a:solidFill>
                <a:srgbClr val="D95F27"/>
              </a:solidFill>
            </a:ln>
          </c:spPr>
          <c:marker>
            <c:symbol val="diamond"/>
            <c:size val="5"/>
            <c:spPr>
              <a:solidFill>
                <a:srgbClr val="D95F27"/>
              </a:solidFill>
              <a:ln>
                <a:solidFill>
                  <a:srgbClr val="D95F27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0-918C-4E4F-A728-E48744364E3B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1-918C-4E4F-A728-E48744364E3B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2-918C-4E4F-A728-E48744364E3B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3-918C-4E4F-A728-E48744364E3B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4-918C-4E4F-A728-E48744364E3B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5-918C-4E4F-A728-E48744364E3B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6-918C-4E4F-A728-E48744364E3B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7-918C-4E4F-A728-E48744364E3B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8-918C-4E4F-A728-E48744364E3B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9-918C-4E4F-A728-E48744364E3B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A-918C-4E4F-A728-E48744364E3B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B-918C-4E4F-A728-E48744364E3B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C-918C-4E4F-A728-E48744364E3B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D-918C-4E4F-A728-E48744364E3B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E-918C-4E4F-A728-E48744364E3B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F-918C-4E4F-A728-E48744364E3B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0-918C-4E4F-A728-E48744364E3B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1-918C-4E4F-A728-E48744364E3B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2-918C-4E4F-A728-E48744364E3B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3-918C-4E4F-A728-E48744364E3B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4-918C-4E4F-A728-E48744364E3B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5-918C-4E4F-A728-E48744364E3B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6-918C-4E4F-A728-E48744364E3B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7-918C-4E4F-A728-E48744364E3B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8-918C-4E4F-A728-E48744364E3B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9-918C-4E4F-A728-E48744364E3B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A-918C-4E4F-A728-E48744364E3B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B-918C-4E4F-A728-E48744364E3B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C-918C-4E4F-A728-E48744364E3B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D-918C-4E4F-A728-E48744364E3B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E-918C-4E4F-A728-E48744364E3B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'Madison County'!$A$2:$A$33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'Madison County'!$E$2:$E$33</c:f>
              <c:numCache>
                <c:formatCode>General</c:formatCode>
                <c:ptCount val="32"/>
                <c:pt idx="25" formatCode="#,##0">
                  <c:v>46985</c:v>
                </c:pt>
                <c:pt idx="26" formatCode="#,##0">
                  <c:v>50220</c:v>
                </c:pt>
                <c:pt idx="27" formatCode="#,##0">
                  <c:v>52875</c:v>
                </c:pt>
                <c:pt idx="28" formatCode="#,##0">
                  <c:v>55340</c:v>
                </c:pt>
                <c:pt idx="29" formatCode="#,##0">
                  <c:v>57865</c:v>
                </c:pt>
                <c:pt idx="30" formatCode="#,##0">
                  <c:v>60465</c:v>
                </c:pt>
                <c:pt idx="31" formatCode="#,##0">
                  <c:v>63115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5F-918C-4E4F-A728-E48744364E3B}"/>
            </c:ext>
          </c:extLst>
        </c:ser>
        <c:ser>
          <c:idx val="3"/>
          <c:order val="3"/>
          <c:tx>
            <c:strRef>
              <c:f>'Madison County'!$B$1</c:f>
              <c:strCache>
                <c:ptCount val="1"/>
                <c:pt idx="0">
                  <c:v>Historical</c:v>
                </c:pt>
              </c:strCache>
            </c:strRef>
          </c:tx>
          <c:spPr>
            <a:ln w="25400">
              <a:solidFill>
                <a:srgbClr val="193764"/>
              </a:solidFill>
            </a:ln>
          </c:spPr>
          <c:marker>
            <c:symbol val="circle"/>
            <c:size val="5"/>
            <c:spPr>
              <a:solidFill>
                <a:srgbClr val="193764"/>
              </a:solidFill>
              <a:ln>
                <a:solidFill>
                  <a:srgbClr val="193764"/>
                </a:solidFill>
              </a:ln>
            </c:spPr>
          </c:marker>
          <c:dLbls>
            <c:dLbl>
              <c:idx val="0"/>
              <c:layout>
                <c:manualLayout>
                  <c:x val="2.3495938007749032E-2"/>
                  <c:y val="6.405119068145678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0-918C-4E4F-A728-E48744364E3B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1-918C-4E4F-A728-E48744364E3B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2-918C-4E4F-A728-E48744364E3B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3-918C-4E4F-A728-E48744364E3B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4-918C-4E4F-A728-E48744364E3B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5-918C-4E4F-A728-E48744364E3B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6-918C-4E4F-A728-E48744364E3B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7-918C-4E4F-A728-E48744364E3B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8-918C-4E4F-A728-E48744364E3B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9-918C-4E4F-A728-E48744364E3B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A-918C-4E4F-A728-E48744364E3B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B-918C-4E4F-A728-E48744364E3B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C-918C-4E4F-A728-E48744364E3B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D-918C-4E4F-A728-E48744364E3B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E-918C-4E4F-A728-E48744364E3B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F-918C-4E4F-A728-E48744364E3B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0-918C-4E4F-A728-E48744364E3B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1-918C-4E4F-A728-E48744364E3B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2-918C-4E4F-A728-E48744364E3B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3-918C-4E4F-A728-E48744364E3B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4-918C-4E4F-A728-E48744364E3B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5-918C-4E4F-A728-E48744364E3B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6-918C-4E4F-A728-E48744364E3B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7-918C-4E4F-A728-E48744364E3B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8-918C-4E4F-A728-E48744364E3B}"/>
                </c:ext>
              </c:extLst>
            </c:dLbl>
            <c:dLbl>
              <c:idx val="25"/>
              <c:layout>
                <c:manualLayout>
                  <c:x val="-3.5234220722409754E-2"/>
                  <c:y val="0.10784681111941299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9-918C-4E4F-A728-E48744364E3B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A-918C-4E4F-A728-E48744364E3B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B-918C-4E4F-A728-E48744364E3B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C-918C-4E4F-A728-E48744364E3B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D-918C-4E4F-A728-E48744364E3B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E-918C-4E4F-A728-E48744364E3B}"/>
                </c:ext>
              </c:extLst>
            </c:dLbl>
            <c:dLbl>
              <c:idx val="3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F-918C-4E4F-A728-E48744364E3B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'Madison County'!$A$2:$A$33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'Madison County'!$B$2:$B$33</c:f>
              <c:numCache>
                <c:formatCode>#,##0</c:formatCode>
                <c:ptCount val="32"/>
                <c:pt idx="0">
                  <c:v>40218</c:v>
                </c:pt>
                <c:pt idx="1">
                  <c:v>40256</c:v>
                </c:pt>
                <c:pt idx="2">
                  <c:v>40539</c:v>
                </c:pt>
                <c:pt idx="3">
                  <c:v>40879</c:v>
                </c:pt>
                <c:pt idx="4">
                  <c:v>41122</c:v>
                </c:pt>
                <c:pt idx="5">
                  <c:v>41292</c:v>
                </c:pt>
                <c:pt idx="6">
                  <c:v>41865</c:v>
                </c:pt>
                <c:pt idx="7">
                  <c:v>42392</c:v>
                </c:pt>
                <c:pt idx="8">
                  <c:v>43163</c:v>
                </c:pt>
                <c:pt idx="9">
                  <c:v>43353</c:v>
                </c:pt>
                <c:pt idx="10">
                  <c:v>43414</c:v>
                </c:pt>
                <c:pt idx="11">
                  <c:v>43019</c:v>
                </c:pt>
                <c:pt idx="12">
                  <c:v>42814</c:v>
                </c:pt>
                <c:pt idx="13">
                  <c:v>43000</c:v>
                </c:pt>
                <c:pt idx="14">
                  <c:v>43644</c:v>
                </c:pt>
                <c:pt idx="15">
                  <c:v>43724</c:v>
                </c:pt>
                <c:pt idx="16">
                  <c:v>42895</c:v>
                </c:pt>
                <c:pt idx="17">
                  <c:v>43491</c:v>
                </c:pt>
                <c:pt idx="18">
                  <c:v>43726</c:v>
                </c:pt>
                <c:pt idx="19">
                  <c:v>44064</c:v>
                </c:pt>
                <c:pt idx="20">
                  <c:v>43864</c:v>
                </c:pt>
                <c:pt idx="21">
                  <c:v>44435</c:v>
                </c:pt>
                <c:pt idx="22">
                  <c:v>43569</c:v>
                </c:pt>
                <c:pt idx="23">
                  <c:v>44591</c:v>
                </c:pt>
                <c:pt idx="24">
                  <c:v>45788</c:v>
                </c:pt>
                <c:pt idx="25">
                  <c:v>46985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80-918C-4E4F-A728-E48744364E3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0090001"/>
        <c:axId val="50090002"/>
      </c:scatterChart>
      <c:valAx>
        <c:axId val="50090001"/>
        <c:scaling>
          <c:orientation val="minMax"/>
          <c:max val="2055"/>
          <c:min val="2000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 baseline="0"/>
            </a:pPr>
            <a:endParaRPr lang="en-US"/>
          </a:p>
        </c:txPr>
        <c:crossAx val="50090002"/>
        <c:crosses val="autoZero"/>
        <c:crossBetween val="midCat"/>
        <c:majorUnit val="5"/>
      </c:valAx>
      <c:valAx>
        <c:axId val="5009000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 baseline="0"/>
            </a:pPr>
            <a:endParaRPr lang="en-US"/>
          </a:p>
        </c:txPr>
        <c:crossAx val="50090001"/>
        <c:crosses val="autoZero"/>
        <c:crossBetween val="midCat"/>
      </c:valAx>
    </c:plotArea>
    <c:legend>
      <c:legendPos val="b"/>
      <c:layout>
        <c:manualLayout>
          <c:xMode val="edge"/>
          <c:yMode val="edge"/>
          <c:x val="0.13"/>
          <c:y val="0.87"/>
          <c:w val="0.65"/>
          <c:h val="0.1"/>
        </c:manualLayout>
      </c:layout>
      <c:overlay val="0"/>
      <c:txPr>
        <a:bodyPr/>
        <a:lstStyle/>
        <a:p>
          <a:pPr>
            <a:defRPr sz="1400" baseline="0"/>
          </a:pPr>
          <a:endParaRPr lang="en-US"/>
        </a:p>
      </c:txPr>
    </c:legend>
    <c:plotVisOnly val="1"/>
    <c:dispBlanksAs val="gap"/>
    <c:showDLblsOverMax val="0"/>
  </c:chart>
  <c:externalData r:id="rId2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/>
          <a:lstStyle/>
          <a:p>
            <a:pPr>
              <a:defRPr/>
            </a:pPr>
            <a:r>
              <a:rPr lang="en-US" dirty="0"/>
              <a:t>Historical and </a:t>
            </a:r>
            <a:r>
              <a:rPr lang="en-US" sz="1800" b="1" i="0" u="none" strike="noStrike" kern="1200" baseline="0" dirty="0">
                <a:solidFill>
                  <a:prstClr val="black"/>
                </a:solidFill>
              </a:rPr>
              <a:t>Projected</a:t>
            </a:r>
            <a:r>
              <a:rPr lang="en-US" dirty="0"/>
              <a:t> Population - Marion County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13"/>
          <c:y val="0.12"/>
          <c:w val="0.75"/>
          <c:h val="0.65"/>
        </c:manualLayout>
      </c:layout>
      <c:scatterChart>
        <c:scatterStyle val="lineMarker"/>
        <c:varyColors val="0"/>
        <c:ser>
          <c:idx val="0"/>
          <c:order val="0"/>
          <c:tx>
            <c:strRef>
              <c:f>'Marion County'!$C$1</c:f>
              <c:strCache>
                <c:ptCount val="1"/>
                <c:pt idx="0">
                  <c:v>25th percentile migration</c:v>
                </c:pt>
              </c:strCache>
            </c:strRef>
          </c:tx>
          <c:spPr>
            <a:ln w="25400">
              <a:solidFill>
                <a:srgbClr val="597C3E"/>
              </a:solidFill>
            </a:ln>
          </c:spPr>
          <c:marker>
            <c:symbol val="square"/>
            <c:size val="5"/>
            <c:spPr>
              <a:solidFill>
                <a:srgbClr val="597C3E"/>
              </a:solidFill>
              <a:ln>
                <a:solidFill>
                  <a:srgbClr val="597C3E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625B-4101-BC42-9B544B146532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625B-4101-BC42-9B544B146532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625B-4101-BC42-9B544B146532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625B-4101-BC42-9B544B146532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625B-4101-BC42-9B544B146532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625B-4101-BC42-9B544B146532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625B-4101-BC42-9B544B146532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625B-4101-BC42-9B544B146532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625B-4101-BC42-9B544B146532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625B-4101-BC42-9B544B146532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625B-4101-BC42-9B544B146532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625B-4101-BC42-9B544B146532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625B-4101-BC42-9B544B146532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625B-4101-BC42-9B544B146532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625B-4101-BC42-9B544B146532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625B-4101-BC42-9B544B146532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0-625B-4101-BC42-9B544B146532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625B-4101-BC42-9B544B146532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2-625B-4101-BC42-9B544B146532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625B-4101-BC42-9B544B146532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4-625B-4101-BC42-9B544B146532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5-625B-4101-BC42-9B544B146532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6-625B-4101-BC42-9B544B146532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7-625B-4101-BC42-9B544B146532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8-625B-4101-BC42-9B544B146532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9-625B-4101-BC42-9B544B146532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A-625B-4101-BC42-9B544B146532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B-625B-4101-BC42-9B544B146532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C-625B-4101-BC42-9B544B146532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D-625B-4101-BC42-9B544B146532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E-625B-4101-BC42-9B544B146532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'Marion County'!$A$2:$A$33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'Marion County'!$C$2:$C$33</c:f>
              <c:numCache>
                <c:formatCode>General</c:formatCode>
                <c:ptCount val="32"/>
                <c:pt idx="25" formatCode="#,##0">
                  <c:v>65115</c:v>
                </c:pt>
                <c:pt idx="26" formatCode="#,##0">
                  <c:v>62885</c:v>
                </c:pt>
                <c:pt idx="27" formatCode="#,##0">
                  <c:v>59970</c:v>
                </c:pt>
                <c:pt idx="28" formatCode="#,##0">
                  <c:v>56665</c:v>
                </c:pt>
                <c:pt idx="29" formatCode="#,##0">
                  <c:v>53315</c:v>
                </c:pt>
                <c:pt idx="30" formatCode="#,##0">
                  <c:v>49980</c:v>
                </c:pt>
                <c:pt idx="31" formatCode="#,##0">
                  <c:v>46650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1F-625B-4101-BC42-9B544B146532}"/>
            </c:ext>
          </c:extLst>
        </c:ser>
        <c:ser>
          <c:idx val="1"/>
          <c:order val="1"/>
          <c:tx>
            <c:strRef>
              <c:f>'Marion County'!$D$1</c:f>
              <c:strCache>
                <c:ptCount val="1"/>
                <c:pt idx="0">
                  <c:v>50th percentile migration</c:v>
                </c:pt>
              </c:strCache>
            </c:strRef>
          </c:tx>
          <c:spPr>
            <a:ln w="25400">
              <a:solidFill>
                <a:srgbClr val="3D9BB1"/>
              </a:solidFill>
            </a:ln>
          </c:spPr>
          <c:marker>
            <c:symbol val="triangle"/>
            <c:size val="5"/>
            <c:spPr>
              <a:solidFill>
                <a:srgbClr val="3D9BB1"/>
              </a:solidFill>
              <a:ln>
                <a:solidFill>
                  <a:srgbClr val="3D9BB1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0-625B-4101-BC42-9B544B146532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1-625B-4101-BC42-9B544B146532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2-625B-4101-BC42-9B544B146532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3-625B-4101-BC42-9B544B146532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4-625B-4101-BC42-9B544B146532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5-625B-4101-BC42-9B544B146532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6-625B-4101-BC42-9B544B146532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7-625B-4101-BC42-9B544B146532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8-625B-4101-BC42-9B544B146532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9-625B-4101-BC42-9B544B146532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A-625B-4101-BC42-9B544B146532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B-625B-4101-BC42-9B544B146532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C-625B-4101-BC42-9B544B146532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D-625B-4101-BC42-9B544B146532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E-625B-4101-BC42-9B544B146532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F-625B-4101-BC42-9B544B146532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0-625B-4101-BC42-9B544B146532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1-625B-4101-BC42-9B544B146532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2-625B-4101-BC42-9B544B146532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3-625B-4101-BC42-9B544B146532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4-625B-4101-BC42-9B544B146532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5-625B-4101-BC42-9B544B146532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6-625B-4101-BC42-9B544B146532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7-625B-4101-BC42-9B544B146532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8-625B-4101-BC42-9B544B146532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9-625B-4101-BC42-9B544B146532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A-625B-4101-BC42-9B544B146532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B-625B-4101-BC42-9B544B146532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C-625B-4101-BC42-9B544B146532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D-625B-4101-BC42-9B544B146532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E-625B-4101-BC42-9B544B146532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'Marion County'!$A$2:$A$33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'Marion County'!$D$2:$D$33</c:f>
              <c:numCache>
                <c:formatCode>General</c:formatCode>
                <c:ptCount val="32"/>
                <c:pt idx="25" formatCode="#,##0">
                  <c:v>65115</c:v>
                </c:pt>
                <c:pt idx="26" formatCode="#,##0">
                  <c:v>63645</c:v>
                </c:pt>
                <c:pt idx="27" formatCode="#,##0">
                  <c:v>61495</c:v>
                </c:pt>
                <c:pt idx="28" formatCode="#,##0">
                  <c:v>59000</c:v>
                </c:pt>
                <c:pt idx="29" formatCode="#,##0">
                  <c:v>56485</c:v>
                </c:pt>
                <c:pt idx="30" formatCode="#,##0">
                  <c:v>53975</c:v>
                </c:pt>
                <c:pt idx="31" formatCode="#,##0">
                  <c:v>51490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3F-625B-4101-BC42-9B544B146532}"/>
            </c:ext>
          </c:extLst>
        </c:ser>
        <c:ser>
          <c:idx val="2"/>
          <c:order val="2"/>
          <c:tx>
            <c:strRef>
              <c:f>'Marion County'!$E$1</c:f>
              <c:strCache>
                <c:ptCount val="1"/>
                <c:pt idx="0">
                  <c:v>75th percentile migration</c:v>
                </c:pt>
              </c:strCache>
            </c:strRef>
          </c:tx>
          <c:spPr>
            <a:ln w="25400">
              <a:solidFill>
                <a:srgbClr val="D95F27"/>
              </a:solidFill>
            </a:ln>
          </c:spPr>
          <c:marker>
            <c:symbol val="diamond"/>
            <c:size val="5"/>
            <c:spPr>
              <a:solidFill>
                <a:srgbClr val="D95F27"/>
              </a:solidFill>
              <a:ln>
                <a:solidFill>
                  <a:srgbClr val="D95F27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0-625B-4101-BC42-9B544B146532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1-625B-4101-BC42-9B544B146532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2-625B-4101-BC42-9B544B146532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3-625B-4101-BC42-9B544B146532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4-625B-4101-BC42-9B544B146532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5-625B-4101-BC42-9B544B146532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6-625B-4101-BC42-9B544B146532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7-625B-4101-BC42-9B544B146532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8-625B-4101-BC42-9B544B146532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9-625B-4101-BC42-9B544B146532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A-625B-4101-BC42-9B544B146532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B-625B-4101-BC42-9B544B146532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C-625B-4101-BC42-9B544B146532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D-625B-4101-BC42-9B544B146532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E-625B-4101-BC42-9B544B146532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F-625B-4101-BC42-9B544B146532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0-625B-4101-BC42-9B544B146532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1-625B-4101-BC42-9B544B146532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2-625B-4101-BC42-9B544B146532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3-625B-4101-BC42-9B544B146532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4-625B-4101-BC42-9B544B146532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5-625B-4101-BC42-9B544B146532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6-625B-4101-BC42-9B544B146532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7-625B-4101-BC42-9B544B146532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8-625B-4101-BC42-9B544B146532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9-625B-4101-BC42-9B544B146532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A-625B-4101-BC42-9B544B146532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B-625B-4101-BC42-9B544B146532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C-625B-4101-BC42-9B544B146532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D-625B-4101-BC42-9B544B146532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E-625B-4101-BC42-9B544B146532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'Marion County'!$A$2:$A$33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'Marion County'!$E$2:$E$33</c:f>
              <c:numCache>
                <c:formatCode>General</c:formatCode>
                <c:ptCount val="32"/>
                <c:pt idx="25" formatCode="#,##0">
                  <c:v>65115</c:v>
                </c:pt>
                <c:pt idx="26" formatCode="#,##0">
                  <c:v>64835</c:v>
                </c:pt>
                <c:pt idx="27" formatCode="#,##0">
                  <c:v>63895</c:v>
                </c:pt>
                <c:pt idx="28" formatCode="#,##0">
                  <c:v>62655</c:v>
                </c:pt>
                <c:pt idx="29" formatCode="#,##0">
                  <c:v>61415</c:v>
                </c:pt>
                <c:pt idx="30" formatCode="#,##0">
                  <c:v>60210</c:v>
                </c:pt>
                <c:pt idx="31" formatCode="#,##0">
                  <c:v>59070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5F-625B-4101-BC42-9B544B146532}"/>
            </c:ext>
          </c:extLst>
        </c:ser>
        <c:ser>
          <c:idx val="3"/>
          <c:order val="3"/>
          <c:tx>
            <c:strRef>
              <c:f>'Marion County'!$B$1</c:f>
              <c:strCache>
                <c:ptCount val="1"/>
                <c:pt idx="0">
                  <c:v>Historical</c:v>
                </c:pt>
              </c:strCache>
            </c:strRef>
          </c:tx>
          <c:spPr>
            <a:ln w="25400">
              <a:solidFill>
                <a:srgbClr val="193764"/>
              </a:solidFill>
            </a:ln>
          </c:spPr>
          <c:marker>
            <c:symbol val="circle"/>
            <c:size val="5"/>
            <c:spPr>
              <a:solidFill>
                <a:srgbClr val="193764"/>
              </a:solidFill>
              <a:ln>
                <a:solidFill>
                  <a:srgbClr val="193764"/>
                </a:solidFill>
              </a:ln>
            </c:spPr>
          </c:marker>
          <c:dLbls>
            <c:dLbl>
              <c:idx val="0"/>
              <c:layout>
                <c:manualLayout>
                  <c:x val="2.6670541182352205E-2"/>
                  <c:y val="8.838209092476578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0-625B-4101-BC42-9B544B146532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1-625B-4101-BC42-9B544B146532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2-625B-4101-BC42-9B544B146532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3-625B-4101-BC42-9B544B146532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4-625B-4101-BC42-9B544B146532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5-625B-4101-BC42-9B544B146532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6-625B-4101-BC42-9B544B146532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7-625B-4101-BC42-9B544B146532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8-625B-4101-BC42-9B544B146532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9-625B-4101-BC42-9B544B146532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A-625B-4101-BC42-9B544B146532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B-625B-4101-BC42-9B544B146532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C-625B-4101-BC42-9B544B146532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D-625B-4101-BC42-9B544B146532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E-625B-4101-BC42-9B544B146532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F-625B-4101-BC42-9B544B146532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0-625B-4101-BC42-9B544B146532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1-625B-4101-BC42-9B544B146532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2-625B-4101-BC42-9B544B146532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3-625B-4101-BC42-9B544B146532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4-625B-4101-BC42-9B544B146532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5-625B-4101-BC42-9B544B146532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6-625B-4101-BC42-9B544B146532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7-625B-4101-BC42-9B544B146532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8-625B-4101-BC42-9B544B146532}"/>
                </c:ext>
              </c:extLst>
            </c:dLbl>
            <c:dLbl>
              <c:idx val="25"/>
              <c:layout>
                <c:manualLayout>
                  <c:x val="-3.6821522309711342E-2"/>
                  <c:y val="8.1082820851773096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9-625B-4101-BC42-9B544B146532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A-625B-4101-BC42-9B544B146532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B-625B-4101-BC42-9B544B146532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C-625B-4101-BC42-9B544B146532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D-625B-4101-BC42-9B544B146532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E-625B-4101-BC42-9B544B146532}"/>
                </c:ext>
              </c:extLst>
            </c:dLbl>
            <c:dLbl>
              <c:idx val="3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F-625B-4101-BC42-9B544B146532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'Marion County'!$A$2:$A$33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'Marion County'!$B$2:$B$33</c:f>
              <c:numCache>
                <c:formatCode>#,##0</c:formatCode>
                <c:ptCount val="32"/>
                <c:pt idx="0">
                  <c:v>66135</c:v>
                </c:pt>
                <c:pt idx="1">
                  <c:v>66156</c:v>
                </c:pt>
                <c:pt idx="2">
                  <c:v>66188</c:v>
                </c:pt>
                <c:pt idx="3">
                  <c:v>66372</c:v>
                </c:pt>
                <c:pt idx="4">
                  <c:v>66361</c:v>
                </c:pt>
                <c:pt idx="5">
                  <c:v>66468</c:v>
                </c:pt>
                <c:pt idx="6">
                  <c:v>66345</c:v>
                </c:pt>
                <c:pt idx="7">
                  <c:v>66487</c:v>
                </c:pt>
                <c:pt idx="8">
                  <c:v>66840</c:v>
                </c:pt>
                <c:pt idx="9">
                  <c:v>66497</c:v>
                </c:pt>
                <c:pt idx="10">
                  <c:v>66470</c:v>
                </c:pt>
                <c:pt idx="11">
                  <c:v>66669</c:v>
                </c:pt>
                <c:pt idx="12">
                  <c:v>66401</c:v>
                </c:pt>
                <c:pt idx="13">
                  <c:v>66139</c:v>
                </c:pt>
                <c:pt idx="14">
                  <c:v>66009</c:v>
                </c:pt>
                <c:pt idx="15">
                  <c:v>65701</c:v>
                </c:pt>
                <c:pt idx="16">
                  <c:v>65757</c:v>
                </c:pt>
                <c:pt idx="17">
                  <c:v>65433</c:v>
                </c:pt>
                <c:pt idx="18">
                  <c:v>65789</c:v>
                </c:pt>
                <c:pt idx="19">
                  <c:v>65465</c:v>
                </c:pt>
                <c:pt idx="20">
                  <c:v>65385</c:v>
                </c:pt>
                <c:pt idx="21">
                  <c:v>65285</c:v>
                </c:pt>
                <c:pt idx="22">
                  <c:v>64538</c:v>
                </c:pt>
                <c:pt idx="23">
                  <c:v>64768</c:v>
                </c:pt>
                <c:pt idx="24">
                  <c:v>64877</c:v>
                </c:pt>
                <c:pt idx="25">
                  <c:v>65115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80-625B-4101-BC42-9B544B14653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0100001"/>
        <c:axId val="50100002"/>
      </c:scatterChart>
      <c:valAx>
        <c:axId val="50100001"/>
        <c:scaling>
          <c:orientation val="minMax"/>
          <c:max val="2055"/>
          <c:min val="2000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 baseline="0"/>
            </a:pPr>
            <a:endParaRPr lang="en-US"/>
          </a:p>
        </c:txPr>
        <c:crossAx val="50100002"/>
        <c:crosses val="autoZero"/>
        <c:crossBetween val="midCat"/>
        <c:majorUnit val="5"/>
      </c:valAx>
      <c:valAx>
        <c:axId val="5010000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 baseline="0"/>
            </a:pPr>
            <a:endParaRPr lang="en-US"/>
          </a:p>
        </c:txPr>
        <c:crossAx val="50100001"/>
        <c:crosses val="autoZero"/>
        <c:crossBetween val="midCat"/>
      </c:valAx>
    </c:plotArea>
    <c:legend>
      <c:legendPos val="b"/>
      <c:layout>
        <c:manualLayout>
          <c:xMode val="edge"/>
          <c:yMode val="edge"/>
          <c:x val="0.13"/>
          <c:y val="0.87"/>
          <c:w val="0.65"/>
          <c:h val="0.1"/>
        </c:manualLayout>
      </c:layout>
      <c:overlay val="0"/>
      <c:txPr>
        <a:bodyPr/>
        <a:lstStyle/>
        <a:p>
          <a:pPr>
            <a:defRPr sz="1400" baseline="0"/>
          </a:pPr>
          <a:endParaRPr lang="en-US"/>
        </a:p>
      </c:txPr>
    </c:legend>
    <c:plotVisOnly val="1"/>
    <c:dispBlanksAs val="gap"/>
    <c:showDLblsOverMax val="0"/>
  </c:chart>
  <c:externalData r:id="rId2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/>
          <a:lstStyle/>
          <a:p>
            <a:pPr>
              <a:defRPr/>
            </a:pPr>
            <a:r>
              <a:rPr lang="en-US" dirty="0"/>
              <a:t>Historical and </a:t>
            </a:r>
            <a:r>
              <a:rPr lang="en-US" sz="1800" b="1" i="0" u="none" strike="noStrike" kern="1200" baseline="0" dirty="0">
                <a:solidFill>
                  <a:prstClr val="black"/>
                </a:solidFill>
              </a:rPr>
              <a:t>Projected</a:t>
            </a:r>
            <a:r>
              <a:rPr lang="en-US" dirty="0"/>
              <a:t> Population - Morrow County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13"/>
          <c:y val="0.12"/>
          <c:w val="0.75"/>
          <c:h val="0.65"/>
        </c:manualLayout>
      </c:layout>
      <c:scatterChart>
        <c:scatterStyle val="lineMarker"/>
        <c:varyColors val="0"/>
        <c:ser>
          <c:idx val="0"/>
          <c:order val="0"/>
          <c:tx>
            <c:strRef>
              <c:f>'Morrow County'!$C$1</c:f>
              <c:strCache>
                <c:ptCount val="1"/>
                <c:pt idx="0">
                  <c:v>25th percentile migration</c:v>
                </c:pt>
              </c:strCache>
            </c:strRef>
          </c:tx>
          <c:spPr>
            <a:ln w="25400">
              <a:solidFill>
                <a:srgbClr val="597C3E"/>
              </a:solidFill>
            </a:ln>
          </c:spPr>
          <c:marker>
            <c:symbol val="square"/>
            <c:size val="5"/>
            <c:spPr>
              <a:solidFill>
                <a:srgbClr val="597C3E"/>
              </a:solidFill>
              <a:ln>
                <a:solidFill>
                  <a:srgbClr val="597C3E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F85D-4016-BDFF-F2ADA2B4BF18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F85D-4016-BDFF-F2ADA2B4BF18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F85D-4016-BDFF-F2ADA2B4BF18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85D-4016-BDFF-F2ADA2B4BF18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85D-4016-BDFF-F2ADA2B4BF18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F85D-4016-BDFF-F2ADA2B4BF18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F85D-4016-BDFF-F2ADA2B4BF18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F85D-4016-BDFF-F2ADA2B4BF18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F85D-4016-BDFF-F2ADA2B4BF18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F85D-4016-BDFF-F2ADA2B4BF18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F85D-4016-BDFF-F2ADA2B4BF18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F85D-4016-BDFF-F2ADA2B4BF18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F85D-4016-BDFF-F2ADA2B4BF18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F85D-4016-BDFF-F2ADA2B4BF18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F85D-4016-BDFF-F2ADA2B4BF18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F85D-4016-BDFF-F2ADA2B4BF18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0-F85D-4016-BDFF-F2ADA2B4BF18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F85D-4016-BDFF-F2ADA2B4BF18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2-F85D-4016-BDFF-F2ADA2B4BF18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F85D-4016-BDFF-F2ADA2B4BF18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4-F85D-4016-BDFF-F2ADA2B4BF18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5-F85D-4016-BDFF-F2ADA2B4BF18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6-F85D-4016-BDFF-F2ADA2B4BF18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7-F85D-4016-BDFF-F2ADA2B4BF18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8-F85D-4016-BDFF-F2ADA2B4BF18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9-F85D-4016-BDFF-F2ADA2B4BF18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A-F85D-4016-BDFF-F2ADA2B4BF18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B-F85D-4016-BDFF-F2ADA2B4BF18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C-F85D-4016-BDFF-F2ADA2B4BF18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D-F85D-4016-BDFF-F2ADA2B4BF18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E-F85D-4016-BDFF-F2ADA2B4BF18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'Morrow County'!$A$2:$A$33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'Morrow County'!$C$2:$C$33</c:f>
              <c:numCache>
                <c:formatCode>General</c:formatCode>
                <c:ptCount val="32"/>
                <c:pt idx="25" formatCode="#,##0">
                  <c:v>36305</c:v>
                </c:pt>
                <c:pt idx="26" formatCode="#,##0">
                  <c:v>35975</c:v>
                </c:pt>
                <c:pt idx="27" formatCode="#,##0">
                  <c:v>35180</c:v>
                </c:pt>
                <c:pt idx="28" formatCode="#,##0">
                  <c:v>34080</c:v>
                </c:pt>
                <c:pt idx="29" formatCode="#,##0">
                  <c:v>32855</c:v>
                </c:pt>
                <c:pt idx="30" formatCode="#,##0">
                  <c:v>31555</c:v>
                </c:pt>
                <c:pt idx="31" formatCode="#,##0">
                  <c:v>30245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1F-F85D-4016-BDFF-F2ADA2B4BF18}"/>
            </c:ext>
          </c:extLst>
        </c:ser>
        <c:ser>
          <c:idx val="1"/>
          <c:order val="1"/>
          <c:tx>
            <c:strRef>
              <c:f>'Morrow County'!$D$1</c:f>
              <c:strCache>
                <c:ptCount val="1"/>
                <c:pt idx="0">
                  <c:v>50th percentile migration</c:v>
                </c:pt>
              </c:strCache>
            </c:strRef>
          </c:tx>
          <c:spPr>
            <a:ln w="25400">
              <a:solidFill>
                <a:srgbClr val="3D9BB1"/>
              </a:solidFill>
            </a:ln>
          </c:spPr>
          <c:marker>
            <c:symbol val="triangle"/>
            <c:size val="5"/>
            <c:spPr>
              <a:solidFill>
                <a:srgbClr val="3D9BB1"/>
              </a:solidFill>
              <a:ln>
                <a:solidFill>
                  <a:srgbClr val="3D9BB1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0-F85D-4016-BDFF-F2ADA2B4BF18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1-F85D-4016-BDFF-F2ADA2B4BF18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2-F85D-4016-BDFF-F2ADA2B4BF18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3-F85D-4016-BDFF-F2ADA2B4BF18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4-F85D-4016-BDFF-F2ADA2B4BF18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5-F85D-4016-BDFF-F2ADA2B4BF18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6-F85D-4016-BDFF-F2ADA2B4BF18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7-F85D-4016-BDFF-F2ADA2B4BF18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8-F85D-4016-BDFF-F2ADA2B4BF18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9-F85D-4016-BDFF-F2ADA2B4BF18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A-F85D-4016-BDFF-F2ADA2B4BF18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B-F85D-4016-BDFF-F2ADA2B4BF18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C-F85D-4016-BDFF-F2ADA2B4BF18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D-F85D-4016-BDFF-F2ADA2B4BF18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E-F85D-4016-BDFF-F2ADA2B4BF18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F-F85D-4016-BDFF-F2ADA2B4BF18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0-F85D-4016-BDFF-F2ADA2B4BF18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1-F85D-4016-BDFF-F2ADA2B4BF18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2-F85D-4016-BDFF-F2ADA2B4BF18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3-F85D-4016-BDFF-F2ADA2B4BF18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4-F85D-4016-BDFF-F2ADA2B4BF18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5-F85D-4016-BDFF-F2ADA2B4BF18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6-F85D-4016-BDFF-F2ADA2B4BF18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7-F85D-4016-BDFF-F2ADA2B4BF18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8-F85D-4016-BDFF-F2ADA2B4BF18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9-F85D-4016-BDFF-F2ADA2B4BF18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A-F85D-4016-BDFF-F2ADA2B4BF18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B-F85D-4016-BDFF-F2ADA2B4BF18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C-F85D-4016-BDFF-F2ADA2B4BF18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D-F85D-4016-BDFF-F2ADA2B4BF18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E-F85D-4016-BDFF-F2ADA2B4BF18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'Morrow County'!$A$2:$A$33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'Morrow County'!$D$2:$D$33</c:f>
              <c:numCache>
                <c:formatCode>General</c:formatCode>
                <c:ptCount val="32"/>
                <c:pt idx="25" formatCode="#,##0">
                  <c:v>36305</c:v>
                </c:pt>
                <c:pt idx="26" formatCode="#,##0">
                  <c:v>36320</c:v>
                </c:pt>
                <c:pt idx="27" formatCode="#,##0">
                  <c:v>35920</c:v>
                </c:pt>
                <c:pt idx="28" formatCode="#,##0">
                  <c:v>35225</c:v>
                </c:pt>
                <c:pt idx="29" formatCode="#,##0">
                  <c:v>34430</c:v>
                </c:pt>
                <c:pt idx="30" formatCode="#,##0">
                  <c:v>33560</c:v>
                </c:pt>
                <c:pt idx="31" formatCode="#,##0">
                  <c:v>32685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3F-F85D-4016-BDFF-F2ADA2B4BF18}"/>
            </c:ext>
          </c:extLst>
        </c:ser>
        <c:ser>
          <c:idx val="2"/>
          <c:order val="2"/>
          <c:tx>
            <c:strRef>
              <c:f>'Morrow County'!$E$1</c:f>
              <c:strCache>
                <c:ptCount val="1"/>
                <c:pt idx="0">
                  <c:v>75th percentile migration</c:v>
                </c:pt>
              </c:strCache>
            </c:strRef>
          </c:tx>
          <c:spPr>
            <a:ln w="25400">
              <a:solidFill>
                <a:srgbClr val="D95F27"/>
              </a:solidFill>
            </a:ln>
          </c:spPr>
          <c:marker>
            <c:symbol val="diamond"/>
            <c:size val="5"/>
            <c:spPr>
              <a:solidFill>
                <a:srgbClr val="D95F27"/>
              </a:solidFill>
              <a:ln>
                <a:solidFill>
                  <a:srgbClr val="D95F27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0-F85D-4016-BDFF-F2ADA2B4BF18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1-F85D-4016-BDFF-F2ADA2B4BF18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2-F85D-4016-BDFF-F2ADA2B4BF18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3-F85D-4016-BDFF-F2ADA2B4BF18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4-F85D-4016-BDFF-F2ADA2B4BF18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5-F85D-4016-BDFF-F2ADA2B4BF18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6-F85D-4016-BDFF-F2ADA2B4BF18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7-F85D-4016-BDFF-F2ADA2B4BF18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8-F85D-4016-BDFF-F2ADA2B4BF18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9-F85D-4016-BDFF-F2ADA2B4BF18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A-F85D-4016-BDFF-F2ADA2B4BF18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B-F85D-4016-BDFF-F2ADA2B4BF18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C-F85D-4016-BDFF-F2ADA2B4BF18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D-F85D-4016-BDFF-F2ADA2B4BF18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E-F85D-4016-BDFF-F2ADA2B4BF18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F-F85D-4016-BDFF-F2ADA2B4BF18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0-F85D-4016-BDFF-F2ADA2B4BF18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1-F85D-4016-BDFF-F2ADA2B4BF18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2-F85D-4016-BDFF-F2ADA2B4BF18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3-F85D-4016-BDFF-F2ADA2B4BF18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4-F85D-4016-BDFF-F2ADA2B4BF18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5-F85D-4016-BDFF-F2ADA2B4BF18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6-F85D-4016-BDFF-F2ADA2B4BF18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7-F85D-4016-BDFF-F2ADA2B4BF18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8-F85D-4016-BDFF-F2ADA2B4BF18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9-F85D-4016-BDFF-F2ADA2B4BF18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A-F85D-4016-BDFF-F2ADA2B4BF18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B-F85D-4016-BDFF-F2ADA2B4BF18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C-F85D-4016-BDFF-F2ADA2B4BF18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D-F85D-4016-BDFF-F2ADA2B4BF18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E-F85D-4016-BDFF-F2ADA2B4BF18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'Morrow County'!$A$2:$A$33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'Morrow County'!$E$2:$E$33</c:f>
              <c:numCache>
                <c:formatCode>General</c:formatCode>
                <c:ptCount val="32"/>
                <c:pt idx="25" formatCode="#,##0">
                  <c:v>36305</c:v>
                </c:pt>
                <c:pt idx="26" formatCode="#,##0">
                  <c:v>36990</c:v>
                </c:pt>
                <c:pt idx="27" formatCode="#,##0">
                  <c:v>37330</c:v>
                </c:pt>
                <c:pt idx="28" formatCode="#,##0">
                  <c:v>37430</c:v>
                </c:pt>
                <c:pt idx="29" formatCode="#,##0">
                  <c:v>37475</c:v>
                </c:pt>
                <c:pt idx="30" formatCode="#,##0">
                  <c:v>37440</c:v>
                </c:pt>
                <c:pt idx="31" formatCode="#,##0">
                  <c:v>37400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5F-F85D-4016-BDFF-F2ADA2B4BF18}"/>
            </c:ext>
          </c:extLst>
        </c:ser>
        <c:ser>
          <c:idx val="3"/>
          <c:order val="3"/>
          <c:tx>
            <c:strRef>
              <c:f>'Morrow County'!$B$1</c:f>
              <c:strCache>
                <c:ptCount val="1"/>
                <c:pt idx="0">
                  <c:v>Historical</c:v>
                </c:pt>
              </c:strCache>
            </c:strRef>
          </c:tx>
          <c:spPr>
            <a:ln w="25400">
              <a:solidFill>
                <a:srgbClr val="193764"/>
              </a:solidFill>
            </a:ln>
          </c:spPr>
          <c:marker>
            <c:symbol val="circle"/>
            <c:size val="5"/>
            <c:spPr>
              <a:solidFill>
                <a:srgbClr val="193764"/>
              </a:solidFill>
              <a:ln>
                <a:solidFill>
                  <a:srgbClr val="193764"/>
                </a:solidFill>
              </a:ln>
            </c:spPr>
          </c:marker>
          <c:dLbls>
            <c:dLbl>
              <c:idx val="0"/>
              <c:layout>
                <c:manualLayout>
                  <c:x val="1.7146731658542681E-2"/>
                  <c:y val="6.8917370730118582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0-F85D-4016-BDFF-F2ADA2B4BF18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1-F85D-4016-BDFF-F2ADA2B4BF18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2-F85D-4016-BDFF-F2ADA2B4BF18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3-F85D-4016-BDFF-F2ADA2B4BF18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4-F85D-4016-BDFF-F2ADA2B4BF18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5-F85D-4016-BDFF-F2ADA2B4BF18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6-F85D-4016-BDFF-F2ADA2B4BF18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7-F85D-4016-BDFF-F2ADA2B4BF18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8-F85D-4016-BDFF-F2ADA2B4BF18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9-F85D-4016-BDFF-F2ADA2B4BF18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A-F85D-4016-BDFF-F2ADA2B4BF18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B-F85D-4016-BDFF-F2ADA2B4BF18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C-F85D-4016-BDFF-F2ADA2B4BF18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D-F85D-4016-BDFF-F2ADA2B4BF18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E-F85D-4016-BDFF-F2ADA2B4BF18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F-F85D-4016-BDFF-F2ADA2B4BF18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0-F85D-4016-BDFF-F2ADA2B4BF18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1-F85D-4016-BDFF-F2ADA2B4BF18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2-F85D-4016-BDFF-F2ADA2B4BF18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3-F85D-4016-BDFF-F2ADA2B4BF18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4-F85D-4016-BDFF-F2ADA2B4BF18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5-F85D-4016-BDFF-F2ADA2B4BF18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6-F85D-4016-BDFF-F2ADA2B4BF18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7-F85D-4016-BDFF-F2ADA2B4BF18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8-F85D-4016-BDFF-F2ADA2B4BF18}"/>
                </c:ext>
              </c:extLst>
            </c:dLbl>
            <c:dLbl>
              <c:idx val="25"/>
              <c:layout>
                <c:manualLayout>
                  <c:x val="-3.364691913510811E-2"/>
                  <c:y val="6.8917370730118541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9-F85D-4016-BDFF-F2ADA2B4BF18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A-F85D-4016-BDFF-F2ADA2B4BF18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B-F85D-4016-BDFF-F2ADA2B4BF18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C-F85D-4016-BDFF-F2ADA2B4BF18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D-F85D-4016-BDFF-F2ADA2B4BF18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E-F85D-4016-BDFF-F2ADA2B4BF18}"/>
                </c:ext>
              </c:extLst>
            </c:dLbl>
            <c:dLbl>
              <c:idx val="3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F-F85D-4016-BDFF-F2ADA2B4BF18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'Morrow County'!$A$2:$A$33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'Morrow County'!$B$2:$B$33</c:f>
              <c:numCache>
                <c:formatCode>#,##0</c:formatCode>
                <c:ptCount val="32"/>
                <c:pt idx="0">
                  <c:v>31813</c:v>
                </c:pt>
                <c:pt idx="1">
                  <c:v>32438</c:v>
                </c:pt>
                <c:pt idx="2">
                  <c:v>32955</c:v>
                </c:pt>
                <c:pt idx="3">
                  <c:v>33524</c:v>
                </c:pt>
                <c:pt idx="4">
                  <c:v>34025</c:v>
                </c:pt>
                <c:pt idx="5">
                  <c:v>34271</c:v>
                </c:pt>
                <c:pt idx="6">
                  <c:v>34561</c:v>
                </c:pt>
                <c:pt idx="7">
                  <c:v>34937</c:v>
                </c:pt>
                <c:pt idx="8">
                  <c:v>34877</c:v>
                </c:pt>
                <c:pt idx="9">
                  <c:v>34907</c:v>
                </c:pt>
                <c:pt idx="10">
                  <c:v>34779</c:v>
                </c:pt>
                <c:pt idx="11">
                  <c:v>34757</c:v>
                </c:pt>
                <c:pt idx="12">
                  <c:v>34739</c:v>
                </c:pt>
                <c:pt idx="13">
                  <c:v>34707</c:v>
                </c:pt>
                <c:pt idx="14">
                  <c:v>34753</c:v>
                </c:pt>
                <c:pt idx="15">
                  <c:v>34721</c:v>
                </c:pt>
                <c:pt idx="16">
                  <c:v>34652</c:v>
                </c:pt>
                <c:pt idx="17">
                  <c:v>34607</c:v>
                </c:pt>
                <c:pt idx="18">
                  <c:v>34767</c:v>
                </c:pt>
                <c:pt idx="19">
                  <c:v>34933</c:v>
                </c:pt>
                <c:pt idx="20">
                  <c:v>34996</c:v>
                </c:pt>
                <c:pt idx="21">
                  <c:v>35227</c:v>
                </c:pt>
                <c:pt idx="22">
                  <c:v>35311</c:v>
                </c:pt>
                <c:pt idx="23">
                  <c:v>35614</c:v>
                </c:pt>
                <c:pt idx="24">
                  <c:v>36008</c:v>
                </c:pt>
                <c:pt idx="25">
                  <c:v>36305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80-F85D-4016-BDFF-F2ADA2B4BF1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0110001"/>
        <c:axId val="50110002"/>
      </c:scatterChart>
      <c:valAx>
        <c:axId val="50110001"/>
        <c:scaling>
          <c:orientation val="minMax"/>
          <c:max val="2055"/>
          <c:min val="2000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 baseline="0"/>
            </a:pPr>
            <a:endParaRPr lang="en-US"/>
          </a:p>
        </c:txPr>
        <c:crossAx val="50110002"/>
        <c:crosses val="autoZero"/>
        <c:crossBetween val="midCat"/>
        <c:majorUnit val="5"/>
      </c:valAx>
      <c:valAx>
        <c:axId val="5011000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 baseline="0"/>
            </a:pPr>
            <a:endParaRPr lang="en-US"/>
          </a:p>
        </c:txPr>
        <c:crossAx val="50110001"/>
        <c:crosses val="autoZero"/>
        <c:crossBetween val="midCat"/>
      </c:valAx>
    </c:plotArea>
    <c:legend>
      <c:legendPos val="b"/>
      <c:layout>
        <c:manualLayout>
          <c:xMode val="edge"/>
          <c:yMode val="edge"/>
          <c:x val="0.13"/>
          <c:y val="0.87"/>
          <c:w val="0.65"/>
          <c:h val="0.1"/>
        </c:manualLayout>
      </c:layout>
      <c:overlay val="0"/>
      <c:txPr>
        <a:bodyPr/>
        <a:lstStyle/>
        <a:p>
          <a:pPr>
            <a:defRPr sz="1400" baseline="0"/>
          </a:pPr>
          <a:endParaRPr lang="en-US"/>
        </a:p>
      </c:txPr>
    </c:legend>
    <c:plotVisOnly val="1"/>
    <c:dispBlanksAs val="gap"/>
    <c:showDLblsOverMax val="0"/>
  </c:chart>
  <c:externalData r:id="rId2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/>
          <a:lstStyle/>
          <a:p>
            <a:pPr>
              <a:defRPr/>
            </a:pPr>
            <a:r>
              <a:rPr lang="en-US" dirty="0"/>
              <a:t>Historical and </a:t>
            </a:r>
            <a:r>
              <a:rPr lang="en-US" sz="1800" b="1" i="0" u="none" strike="noStrike" kern="1200" baseline="0" dirty="0">
                <a:solidFill>
                  <a:prstClr val="black"/>
                </a:solidFill>
              </a:rPr>
              <a:t>Projected</a:t>
            </a:r>
            <a:r>
              <a:rPr lang="en-US" dirty="0"/>
              <a:t> Population - Perry County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13"/>
          <c:y val="0.12"/>
          <c:w val="0.75"/>
          <c:h val="0.65"/>
        </c:manualLayout>
      </c:layout>
      <c:scatterChart>
        <c:scatterStyle val="lineMarker"/>
        <c:varyColors val="0"/>
        <c:ser>
          <c:idx val="0"/>
          <c:order val="0"/>
          <c:tx>
            <c:strRef>
              <c:f>'Perry County'!$C$1</c:f>
              <c:strCache>
                <c:ptCount val="1"/>
                <c:pt idx="0">
                  <c:v>25th percentile migration</c:v>
                </c:pt>
              </c:strCache>
            </c:strRef>
          </c:tx>
          <c:spPr>
            <a:ln w="25400">
              <a:solidFill>
                <a:srgbClr val="597C3E"/>
              </a:solidFill>
            </a:ln>
          </c:spPr>
          <c:marker>
            <c:symbol val="square"/>
            <c:size val="5"/>
            <c:spPr>
              <a:solidFill>
                <a:srgbClr val="597C3E"/>
              </a:solidFill>
              <a:ln>
                <a:solidFill>
                  <a:srgbClr val="597C3E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5DCD-4088-ACA0-3916BCAB353D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5DCD-4088-ACA0-3916BCAB353D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5DCD-4088-ACA0-3916BCAB353D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5DCD-4088-ACA0-3916BCAB353D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5DCD-4088-ACA0-3916BCAB353D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DCD-4088-ACA0-3916BCAB353D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5DCD-4088-ACA0-3916BCAB353D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5DCD-4088-ACA0-3916BCAB353D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5DCD-4088-ACA0-3916BCAB353D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5DCD-4088-ACA0-3916BCAB353D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5DCD-4088-ACA0-3916BCAB353D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5DCD-4088-ACA0-3916BCAB353D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5DCD-4088-ACA0-3916BCAB353D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5DCD-4088-ACA0-3916BCAB353D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5DCD-4088-ACA0-3916BCAB353D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5DCD-4088-ACA0-3916BCAB353D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0-5DCD-4088-ACA0-3916BCAB353D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5DCD-4088-ACA0-3916BCAB353D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2-5DCD-4088-ACA0-3916BCAB353D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5DCD-4088-ACA0-3916BCAB353D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4-5DCD-4088-ACA0-3916BCAB353D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5-5DCD-4088-ACA0-3916BCAB353D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6-5DCD-4088-ACA0-3916BCAB353D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7-5DCD-4088-ACA0-3916BCAB353D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8-5DCD-4088-ACA0-3916BCAB353D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9-5DCD-4088-ACA0-3916BCAB353D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A-5DCD-4088-ACA0-3916BCAB353D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B-5DCD-4088-ACA0-3916BCAB353D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C-5DCD-4088-ACA0-3916BCAB353D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D-5DCD-4088-ACA0-3916BCAB353D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E-5DCD-4088-ACA0-3916BCAB353D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'Perry County'!$A$2:$A$33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'Perry County'!$C$2:$C$33</c:f>
              <c:numCache>
                <c:formatCode>General</c:formatCode>
                <c:ptCount val="32"/>
                <c:pt idx="25" formatCode="#,##0">
                  <c:v>35918</c:v>
                </c:pt>
                <c:pt idx="26" formatCode="#,##0">
                  <c:v>35393</c:v>
                </c:pt>
                <c:pt idx="27" formatCode="#,##0">
                  <c:v>34453</c:v>
                </c:pt>
                <c:pt idx="28" formatCode="#,##0">
                  <c:v>33338</c:v>
                </c:pt>
                <c:pt idx="29" formatCode="#,##0">
                  <c:v>32198</c:v>
                </c:pt>
                <c:pt idx="30" formatCode="#,##0">
                  <c:v>31013</c:v>
                </c:pt>
                <c:pt idx="31" formatCode="#,##0">
                  <c:v>29853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1F-5DCD-4088-ACA0-3916BCAB353D}"/>
            </c:ext>
          </c:extLst>
        </c:ser>
        <c:ser>
          <c:idx val="1"/>
          <c:order val="1"/>
          <c:tx>
            <c:strRef>
              <c:f>'Perry County'!$D$1</c:f>
              <c:strCache>
                <c:ptCount val="1"/>
                <c:pt idx="0">
                  <c:v>50th percentile migration</c:v>
                </c:pt>
              </c:strCache>
            </c:strRef>
          </c:tx>
          <c:spPr>
            <a:ln w="25400">
              <a:solidFill>
                <a:srgbClr val="3D9BB1"/>
              </a:solidFill>
            </a:ln>
          </c:spPr>
          <c:marker>
            <c:symbol val="triangle"/>
            <c:size val="5"/>
            <c:spPr>
              <a:solidFill>
                <a:srgbClr val="3D9BB1"/>
              </a:solidFill>
              <a:ln>
                <a:solidFill>
                  <a:srgbClr val="3D9BB1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0-5DCD-4088-ACA0-3916BCAB353D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1-5DCD-4088-ACA0-3916BCAB353D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2-5DCD-4088-ACA0-3916BCAB353D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3-5DCD-4088-ACA0-3916BCAB353D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4-5DCD-4088-ACA0-3916BCAB353D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5-5DCD-4088-ACA0-3916BCAB353D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6-5DCD-4088-ACA0-3916BCAB353D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7-5DCD-4088-ACA0-3916BCAB353D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8-5DCD-4088-ACA0-3916BCAB353D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9-5DCD-4088-ACA0-3916BCAB353D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A-5DCD-4088-ACA0-3916BCAB353D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B-5DCD-4088-ACA0-3916BCAB353D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C-5DCD-4088-ACA0-3916BCAB353D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D-5DCD-4088-ACA0-3916BCAB353D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E-5DCD-4088-ACA0-3916BCAB353D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F-5DCD-4088-ACA0-3916BCAB353D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0-5DCD-4088-ACA0-3916BCAB353D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1-5DCD-4088-ACA0-3916BCAB353D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2-5DCD-4088-ACA0-3916BCAB353D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3-5DCD-4088-ACA0-3916BCAB353D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4-5DCD-4088-ACA0-3916BCAB353D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5-5DCD-4088-ACA0-3916BCAB353D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6-5DCD-4088-ACA0-3916BCAB353D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7-5DCD-4088-ACA0-3916BCAB353D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8-5DCD-4088-ACA0-3916BCAB353D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9-5DCD-4088-ACA0-3916BCAB353D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A-5DCD-4088-ACA0-3916BCAB353D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B-5DCD-4088-ACA0-3916BCAB353D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C-5DCD-4088-ACA0-3916BCAB353D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D-5DCD-4088-ACA0-3916BCAB353D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E-5DCD-4088-ACA0-3916BCAB353D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'Perry County'!$A$2:$A$33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'Perry County'!$D$2:$D$33</c:f>
              <c:numCache>
                <c:formatCode>General</c:formatCode>
                <c:ptCount val="32"/>
                <c:pt idx="25" formatCode="#,##0">
                  <c:v>35918</c:v>
                </c:pt>
                <c:pt idx="26" formatCode="#,##0">
                  <c:v>35928</c:v>
                </c:pt>
                <c:pt idx="27" formatCode="#,##0">
                  <c:v>35543</c:v>
                </c:pt>
                <c:pt idx="28" formatCode="#,##0">
                  <c:v>35008</c:v>
                </c:pt>
                <c:pt idx="29" formatCode="#,##0">
                  <c:v>34478</c:v>
                </c:pt>
                <c:pt idx="30" formatCode="#,##0">
                  <c:v>33893</c:v>
                </c:pt>
                <c:pt idx="31" formatCode="#,##0">
                  <c:v>33333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3F-5DCD-4088-ACA0-3916BCAB353D}"/>
            </c:ext>
          </c:extLst>
        </c:ser>
        <c:ser>
          <c:idx val="2"/>
          <c:order val="2"/>
          <c:tx>
            <c:strRef>
              <c:f>'Perry County'!$E$1</c:f>
              <c:strCache>
                <c:ptCount val="1"/>
                <c:pt idx="0">
                  <c:v>75th percentile migration</c:v>
                </c:pt>
              </c:strCache>
            </c:strRef>
          </c:tx>
          <c:spPr>
            <a:ln w="25400">
              <a:solidFill>
                <a:srgbClr val="D95F27"/>
              </a:solidFill>
            </a:ln>
          </c:spPr>
          <c:marker>
            <c:symbol val="diamond"/>
            <c:size val="5"/>
            <c:spPr>
              <a:solidFill>
                <a:srgbClr val="D95F27"/>
              </a:solidFill>
              <a:ln>
                <a:solidFill>
                  <a:srgbClr val="D95F27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0-5DCD-4088-ACA0-3916BCAB353D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1-5DCD-4088-ACA0-3916BCAB353D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2-5DCD-4088-ACA0-3916BCAB353D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3-5DCD-4088-ACA0-3916BCAB353D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4-5DCD-4088-ACA0-3916BCAB353D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5-5DCD-4088-ACA0-3916BCAB353D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6-5DCD-4088-ACA0-3916BCAB353D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7-5DCD-4088-ACA0-3916BCAB353D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8-5DCD-4088-ACA0-3916BCAB353D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9-5DCD-4088-ACA0-3916BCAB353D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A-5DCD-4088-ACA0-3916BCAB353D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B-5DCD-4088-ACA0-3916BCAB353D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C-5DCD-4088-ACA0-3916BCAB353D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D-5DCD-4088-ACA0-3916BCAB353D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E-5DCD-4088-ACA0-3916BCAB353D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F-5DCD-4088-ACA0-3916BCAB353D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0-5DCD-4088-ACA0-3916BCAB353D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1-5DCD-4088-ACA0-3916BCAB353D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2-5DCD-4088-ACA0-3916BCAB353D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3-5DCD-4088-ACA0-3916BCAB353D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4-5DCD-4088-ACA0-3916BCAB353D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5-5DCD-4088-ACA0-3916BCAB353D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6-5DCD-4088-ACA0-3916BCAB353D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7-5DCD-4088-ACA0-3916BCAB353D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8-5DCD-4088-ACA0-3916BCAB353D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9-5DCD-4088-ACA0-3916BCAB353D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A-5DCD-4088-ACA0-3916BCAB353D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B-5DCD-4088-ACA0-3916BCAB353D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C-5DCD-4088-ACA0-3916BCAB353D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D-5DCD-4088-ACA0-3916BCAB353D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E-5DCD-4088-ACA0-3916BCAB353D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'Perry County'!$A$2:$A$33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'Perry County'!$E$2:$E$33</c:f>
              <c:numCache>
                <c:formatCode>General</c:formatCode>
                <c:ptCount val="32"/>
                <c:pt idx="25" formatCode="#,##0">
                  <c:v>35918</c:v>
                </c:pt>
                <c:pt idx="26" formatCode="#,##0">
                  <c:v>36183</c:v>
                </c:pt>
                <c:pt idx="27" formatCode="#,##0">
                  <c:v>36063</c:v>
                </c:pt>
                <c:pt idx="28" formatCode="#,##0">
                  <c:v>35818</c:v>
                </c:pt>
                <c:pt idx="29" formatCode="#,##0">
                  <c:v>35578</c:v>
                </c:pt>
                <c:pt idx="30" formatCode="#,##0">
                  <c:v>35303</c:v>
                </c:pt>
                <c:pt idx="31" formatCode="#,##0">
                  <c:v>35048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5F-5DCD-4088-ACA0-3916BCAB353D}"/>
            </c:ext>
          </c:extLst>
        </c:ser>
        <c:ser>
          <c:idx val="3"/>
          <c:order val="3"/>
          <c:tx>
            <c:strRef>
              <c:f>'Perry County'!$B$1</c:f>
              <c:strCache>
                <c:ptCount val="1"/>
                <c:pt idx="0">
                  <c:v>Historical</c:v>
                </c:pt>
              </c:strCache>
            </c:strRef>
          </c:tx>
          <c:spPr>
            <a:ln w="25400">
              <a:solidFill>
                <a:srgbClr val="193764"/>
              </a:solidFill>
            </a:ln>
          </c:spPr>
          <c:marker>
            <c:symbol val="circle"/>
            <c:size val="5"/>
            <c:spPr>
              <a:solidFill>
                <a:srgbClr val="193764"/>
              </a:solidFill>
              <a:ln>
                <a:solidFill>
                  <a:srgbClr val="193764"/>
                </a:solidFill>
              </a:ln>
            </c:spPr>
          </c:marker>
          <c:dLbls>
            <c:dLbl>
              <c:idx val="0"/>
              <c:layout>
                <c:manualLayout>
                  <c:x val="1.238482689663792E-2"/>
                  <c:y val="8.838209092476578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0-5DCD-4088-ACA0-3916BCAB353D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1-5DCD-4088-ACA0-3916BCAB353D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2-5DCD-4088-ACA0-3916BCAB353D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3-5DCD-4088-ACA0-3916BCAB353D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4-5DCD-4088-ACA0-3916BCAB353D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5-5DCD-4088-ACA0-3916BCAB353D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6-5DCD-4088-ACA0-3916BCAB353D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7-5DCD-4088-ACA0-3916BCAB353D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8-5DCD-4088-ACA0-3916BCAB353D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9-5DCD-4088-ACA0-3916BCAB353D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A-5DCD-4088-ACA0-3916BCAB353D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B-5DCD-4088-ACA0-3916BCAB353D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C-5DCD-4088-ACA0-3916BCAB353D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D-5DCD-4088-ACA0-3916BCAB353D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E-5DCD-4088-ACA0-3916BCAB353D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F-5DCD-4088-ACA0-3916BCAB353D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0-5DCD-4088-ACA0-3916BCAB353D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1-5DCD-4088-ACA0-3916BCAB353D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2-5DCD-4088-ACA0-3916BCAB353D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3-5DCD-4088-ACA0-3916BCAB353D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4-5DCD-4088-ACA0-3916BCAB353D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5-5DCD-4088-ACA0-3916BCAB353D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6-5DCD-4088-ACA0-3916BCAB353D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7-5DCD-4088-ACA0-3916BCAB353D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8-5DCD-4088-ACA0-3916BCAB353D}"/>
                </c:ext>
              </c:extLst>
            </c:dLbl>
            <c:dLbl>
              <c:idx val="25"/>
              <c:layout>
                <c:manualLayout>
                  <c:x val="-3.5234220722409754E-2"/>
                  <c:y val="6.6484280705787685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9-5DCD-4088-ACA0-3916BCAB353D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A-5DCD-4088-ACA0-3916BCAB353D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B-5DCD-4088-ACA0-3916BCAB353D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C-5DCD-4088-ACA0-3916BCAB353D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D-5DCD-4088-ACA0-3916BCAB353D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E-5DCD-4088-ACA0-3916BCAB353D}"/>
                </c:ext>
              </c:extLst>
            </c:dLbl>
            <c:dLbl>
              <c:idx val="3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F-5DCD-4088-ACA0-3916BCAB353D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'Perry County'!$A$2:$A$33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'Perry County'!$B$2:$B$33</c:f>
              <c:numCache>
                <c:formatCode>#,##0</c:formatCode>
                <c:ptCount val="32"/>
                <c:pt idx="0">
                  <c:v>34099</c:v>
                </c:pt>
                <c:pt idx="1">
                  <c:v>34375</c:v>
                </c:pt>
                <c:pt idx="2">
                  <c:v>34629</c:v>
                </c:pt>
                <c:pt idx="3">
                  <c:v>34944</c:v>
                </c:pt>
                <c:pt idx="4">
                  <c:v>35117</c:v>
                </c:pt>
                <c:pt idx="5">
                  <c:v>35254</c:v>
                </c:pt>
                <c:pt idx="6">
                  <c:v>35430</c:v>
                </c:pt>
                <c:pt idx="7">
                  <c:v>35582</c:v>
                </c:pt>
                <c:pt idx="8">
                  <c:v>36150</c:v>
                </c:pt>
                <c:pt idx="9">
                  <c:v>35996</c:v>
                </c:pt>
                <c:pt idx="10">
                  <c:v>36017</c:v>
                </c:pt>
                <c:pt idx="11">
                  <c:v>36132</c:v>
                </c:pt>
                <c:pt idx="12">
                  <c:v>35808</c:v>
                </c:pt>
                <c:pt idx="13">
                  <c:v>35747</c:v>
                </c:pt>
                <c:pt idx="14">
                  <c:v>35595</c:v>
                </c:pt>
                <c:pt idx="15">
                  <c:v>35561</c:v>
                </c:pt>
                <c:pt idx="16">
                  <c:v>35528</c:v>
                </c:pt>
                <c:pt idx="17">
                  <c:v>35410</c:v>
                </c:pt>
                <c:pt idx="18">
                  <c:v>35404</c:v>
                </c:pt>
                <c:pt idx="19">
                  <c:v>35407</c:v>
                </c:pt>
                <c:pt idx="20">
                  <c:v>35459</c:v>
                </c:pt>
                <c:pt idx="21">
                  <c:v>35484</c:v>
                </c:pt>
                <c:pt idx="22">
                  <c:v>35493</c:v>
                </c:pt>
                <c:pt idx="23">
                  <c:v>35583</c:v>
                </c:pt>
                <c:pt idx="24">
                  <c:v>35705</c:v>
                </c:pt>
                <c:pt idx="25">
                  <c:v>35918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80-5DCD-4088-ACA0-3916BCAB353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0120001"/>
        <c:axId val="50120002"/>
      </c:scatterChart>
      <c:valAx>
        <c:axId val="50120001"/>
        <c:scaling>
          <c:orientation val="minMax"/>
          <c:max val="2055"/>
          <c:min val="2000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 baseline="0"/>
            </a:pPr>
            <a:endParaRPr lang="en-US"/>
          </a:p>
        </c:txPr>
        <c:crossAx val="50120002"/>
        <c:crosses val="autoZero"/>
        <c:crossBetween val="midCat"/>
        <c:majorUnit val="5"/>
      </c:valAx>
      <c:valAx>
        <c:axId val="5012000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 baseline="0"/>
            </a:pPr>
            <a:endParaRPr lang="en-US"/>
          </a:p>
        </c:txPr>
        <c:crossAx val="50120001"/>
        <c:crosses val="autoZero"/>
        <c:crossBetween val="midCat"/>
      </c:valAx>
    </c:plotArea>
    <c:legend>
      <c:legendPos val="b"/>
      <c:layout>
        <c:manualLayout>
          <c:xMode val="edge"/>
          <c:yMode val="edge"/>
          <c:x val="0.13"/>
          <c:y val="0.87"/>
          <c:w val="0.65"/>
          <c:h val="0.1"/>
        </c:manualLayout>
      </c:layout>
      <c:overlay val="0"/>
      <c:txPr>
        <a:bodyPr/>
        <a:lstStyle/>
        <a:p>
          <a:pPr>
            <a:defRPr sz="1400" baseline="0"/>
          </a:pPr>
          <a:endParaRPr lang="en-US"/>
        </a:p>
      </c:txPr>
    </c:legend>
    <c:plotVisOnly val="1"/>
    <c:dispBlanksAs val="gap"/>
    <c:showDLblsOverMax val="0"/>
  </c:chart>
  <c:externalData r:id="rId2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/>
          <a:lstStyle/>
          <a:p>
            <a:pPr>
              <a:defRPr/>
            </a:pPr>
            <a:r>
              <a:rPr lang="en-US" dirty="0"/>
              <a:t>Historical and </a:t>
            </a:r>
            <a:r>
              <a:rPr lang="en-US" sz="1800" b="1" i="0" u="none" strike="noStrike" kern="1200" baseline="0" dirty="0">
                <a:solidFill>
                  <a:prstClr val="black"/>
                </a:solidFill>
              </a:rPr>
              <a:t>Projected</a:t>
            </a:r>
            <a:r>
              <a:rPr lang="en-US" dirty="0"/>
              <a:t> Population - Pickaway County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13"/>
          <c:y val="0.12"/>
          <c:w val="0.75"/>
          <c:h val="0.65"/>
        </c:manualLayout>
      </c:layout>
      <c:scatterChart>
        <c:scatterStyle val="lineMarker"/>
        <c:varyColors val="0"/>
        <c:ser>
          <c:idx val="0"/>
          <c:order val="0"/>
          <c:tx>
            <c:strRef>
              <c:f>'Pickaway County'!$C$1</c:f>
              <c:strCache>
                <c:ptCount val="1"/>
                <c:pt idx="0">
                  <c:v>25th percentile migration</c:v>
                </c:pt>
              </c:strCache>
            </c:strRef>
          </c:tx>
          <c:spPr>
            <a:ln w="25400">
              <a:solidFill>
                <a:srgbClr val="597C3E"/>
              </a:solidFill>
            </a:ln>
          </c:spPr>
          <c:marker>
            <c:symbol val="square"/>
            <c:size val="5"/>
            <c:spPr>
              <a:solidFill>
                <a:srgbClr val="597C3E"/>
              </a:solidFill>
              <a:ln>
                <a:solidFill>
                  <a:srgbClr val="597C3E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3791-4177-A6A7-E670E11A6112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3791-4177-A6A7-E670E11A6112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3791-4177-A6A7-E670E11A6112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3791-4177-A6A7-E670E11A6112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3791-4177-A6A7-E670E11A6112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3791-4177-A6A7-E670E11A6112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3791-4177-A6A7-E670E11A6112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3791-4177-A6A7-E670E11A6112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3791-4177-A6A7-E670E11A6112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3791-4177-A6A7-E670E11A6112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3791-4177-A6A7-E670E11A6112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3791-4177-A6A7-E670E11A6112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3791-4177-A6A7-E670E11A6112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3791-4177-A6A7-E670E11A6112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3791-4177-A6A7-E670E11A6112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3791-4177-A6A7-E670E11A6112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0-3791-4177-A6A7-E670E11A6112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3791-4177-A6A7-E670E11A6112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2-3791-4177-A6A7-E670E11A6112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3791-4177-A6A7-E670E11A6112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4-3791-4177-A6A7-E670E11A6112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5-3791-4177-A6A7-E670E11A6112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6-3791-4177-A6A7-E670E11A6112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7-3791-4177-A6A7-E670E11A6112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8-3791-4177-A6A7-E670E11A6112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9-3791-4177-A6A7-E670E11A6112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A-3791-4177-A6A7-E670E11A6112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B-3791-4177-A6A7-E670E11A6112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C-3791-4177-A6A7-E670E11A6112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D-3791-4177-A6A7-E670E11A6112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E-3791-4177-A6A7-E670E11A6112}"/>
                </c:ext>
              </c:extLst>
            </c:dLbl>
            <c:dLbl>
              <c:idx val="31"/>
              <c:layout>
                <c:manualLayout>
                  <c:x val="3.650793650793651E-2"/>
                  <c:y val="2.6763990267639901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F-3791-4177-A6A7-E670E11A6112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'Pickaway County'!$A$2:$A$33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'Pickaway County'!$C$2:$C$33</c:f>
              <c:numCache>
                <c:formatCode>General</c:formatCode>
                <c:ptCount val="32"/>
                <c:pt idx="25" formatCode="#,##0">
                  <c:v>62978</c:v>
                </c:pt>
                <c:pt idx="26" formatCode="#,##0">
                  <c:v>63818</c:v>
                </c:pt>
                <c:pt idx="27" formatCode="#,##0">
                  <c:v>63733</c:v>
                </c:pt>
                <c:pt idx="28" formatCode="#,##0">
                  <c:v>63218</c:v>
                </c:pt>
                <c:pt idx="29" formatCode="#,##0">
                  <c:v>62683</c:v>
                </c:pt>
                <c:pt idx="30" formatCode="#,##0">
                  <c:v>62188</c:v>
                </c:pt>
                <c:pt idx="31" formatCode="#,##0">
                  <c:v>61598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20-3791-4177-A6A7-E670E11A6112}"/>
            </c:ext>
          </c:extLst>
        </c:ser>
        <c:ser>
          <c:idx val="1"/>
          <c:order val="1"/>
          <c:tx>
            <c:strRef>
              <c:f>'Pickaway County'!$D$1</c:f>
              <c:strCache>
                <c:ptCount val="1"/>
                <c:pt idx="0">
                  <c:v>50th percentile migration</c:v>
                </c:pt>
              </c:strCache>
            </c:strRef>
          </c:tx>
          <c:spPr>
            <a:ln w="25400">
              <a:solidFill>
                <a:srgbClr val="3D9BB1"/>
              </a:solidFill>
            </a:ln>
          </c:spPr>
          <c:marker>
            <c:symbol val="triangle"/>
            <c:size val="5"/>
            <c:spPr>
              <a:solidFill>
                <a:srgbClr val="3D9BB1"/>
              </a:solidFill>
              <a:ln>
                <a:solidFill>
                  <a:srgbClr val="3D9BB1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1-3791-4177-A6A7-E670E11A6112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2-3791-4177-A6A7-E670E11A6112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3-3791-4177-A6A7-E670E11A6112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4-3791-4177-A6A7-E670E11A6112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5-3791-4177-A6A7-E670E11A6112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6-3791-4177-A6A7-E670E11A6112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7-3791-4177-A6A7-E670E11A6112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8-3791-4177-A6A7-E670E11A6112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9-3791-4177-A6A7-E670E11A6112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A-3791-4177-A6A7-E670E11A6112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B-3791-4177-A6A7-E670E11A6112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C-3791-4177-A6A7-E670E11A6112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D-3791-4177-A6A7-E670E11A6112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E-3791-4177-A6A7-E670E11A6112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F-3791-4177-A6A7-E670E11A6112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0-3791-4177-A6A7-E670E11A6112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1-3791-4177-A6A7-E670E11A6112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2-3791-4177-A6A7-E670E11A6112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3-3791-4177-A6A7-E670E11A6112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4-3791-4177-A6A7-E670E11A6112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5-3791-4177-A6A7-E670E11A6112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6-3791-4177-A6A7-E670E11A6112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7-3791-4177-A6A7-E670E11A6112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8-3791-4177-A6A7-E670E11A6112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9-3791-4177-A6A7-E670E11A6112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A-3791-4177-A6A7-E670E11A6112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B-3791-4177-A6A7-E670E11A6112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C-3791-4177-A6A7-E670E11A6112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D-3791-4177-A6A7-E670E11A6112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E-3791-4177-A6A7-E670E11A6112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F-3791-4177-A6A7-E670E11A6112}"/>
                </c:ext>
              </c:extLst>
            </c:dLbl>
            <c:dLbl>
              <c:idx val="31"/>
              <c:layout>
                <c:manualLayout>
                  <c:x val="3.650793650793651E-2"/>
                  <c:y val="-2.1897810218978103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0-3791-4177-A6A7-E670E11A6112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'Pickaway County'!$A$2:$A$33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'Pickaway County'!$D$2:$D$33</c:f>
              <c:numCache>
                <c:formatCode>General</c:formatCode>
                <c:ptCount val="32"/>
                <c:pt idx="25" formatCode="#,##0">
                  <c:v>62978</c:v>
                </c:pt>
                <c:pt idx="26" formatCode="#,##0">
                  <c:v>64173</c:v>
                </c:pt>
                <c:pt idx="27" formatCode="#,##0">
                  <c:v>64438</c:v>
                </c:pt>
                <c:pt idx="28" formatCode="#,##0">
                  <c:v>64298</c:v>
                </c:pt>
                <c:pt idx="29" formatCode="#,##0">
                  <c:v>64143</c:v>
                </c:pt>
                <c:pt idx="30" formatCode="#,##0">
                  <c:v>64073</c:v>
                </c:pt>
                <c:pt idx="31" formatCode="#,##0">
                  <c:v>63918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41-3791-4177-A6A7-E670E11A6112}"/>
            </c:ext>
          </c:extLst>
        </c:ser>
        <c:ser>
          <c:idx val="2"/>
          <c:order val="2"/>
          <c:tx>
            <c:strRef>
              <c:f>'Pickaway County'!$E$1</c:f>
              <c:strCache>
                <c:ptCount val="1"/>
                <c:pt idx="0">
                  <c:v>75th percentile migration</c:v>
                </c:pt>
              </c:strCache>
            </c:strRef>
          </c:tx>
          <c:spPr>
            <a:ln w="25400">
              <a:solidFill>
                <a:srgbClr val="D95F27"/>
              </a:solidFill>
            </a:ln>
          </c:spPr>
          <c:marker>
            <c:symbol val="diamond"/>
            <c:size val="5"/>
            <c:spPr>
              <a:solidFill>
                <a:srgbClr val="D95F27"/>
              </a:solidFill>
              <a:ln>
                <a:solidFill>
                  <a:srgbClr val="D95F27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2-3791-4177-A6A7-E670E11A6112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3-3791-4177-A6A7-E670E11A6112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4-3791-4177-A6A7-E670E11A6112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5-3791-4177-A6A7-E670E11A6112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6-3791-4177-A6A7-E670E11A6112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7-3791-4177-A6A7-E670E11A6112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8-3791-4177-A6A7-E670E11A6112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9-3791-4177-A6A7-E670E11A6112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A-3791-4177-A6A7-E670E11A6112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B-3791-4177-A6A7-E670E11A6112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C-3791-4177-A6A7-E670E11A6112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D-3791-4177-A6A7-E670E11A6112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E-3791-4177-A6A7-E670E11A6112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F-3791-4177-A6A7-E670E11A6112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0-3791-4177-A6A7-E670E11A6112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1-3791-4177-A6A7-E670E11A6112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2-3791-4177-A6A7-E670E11A6112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3-3791-4177-A6A7-E670E11A6112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4-3791-4177-A6A7-E670E11A6112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5-3791-4177-A6A7-E670E11A6112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6-3791-4177-A6A7-E670E11A6112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7-3791-4177-A6A7-E670E11A6112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8-3791-4177-A6A7-E670E11A6112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9-3791-4177-A6A7-E670E11A6112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A-3791-4177-A6A7-E670E11A6112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B-3791-4177-A6A7-E670E11A6112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C-3791-4177-A6A7-E670E11A6112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D-3791-4177-A6A7-E670E11A6112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E-3791-4177-A6A7-E670E11A6112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F-3791-4177-A6A7-E670E11A6112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0-3791-4177-A6A7-E670E11A6112}"/>
                </c:ext>
              </c:extLst>
            </c:dLbl>
            <c:dLbl>
              <c:idx val="31"/>
              <c:layout>
                <c:manualLayout>
                  <c:x val="3.8095238095238099E-2"/>
                  <c:y val="-1.4598540145985424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1-3791-4177-A6A7-E670E11A6112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'Pickaway County'!$A$2:$A$33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'Pickaway County'!$E$2:$E$33</c:f>
              <c:numCache>
                <c:formatCode>General</c:formatCode>
                <c:ptCount val="32"/>
                <c:pt idx="25" formatCode="#,##0">
                  <c:v>62978</c:v>
                </c:pt>
                <c:pt idx="26" formatCode="#,##0">
                  <c:v>65493</c:v>
                </c:pt>
                <c:pt idx="27" formatCode="#,##0">
                  <c:v>67063</c:v>
                </c:pt>
                <c:pt idx="28" formatCode="#,##0">
                  <c:v>68273</c:v>
                </c:pt>
                <c:pt idx="29" formatCode="#,##0">
                  <c:v>69548</c:v>
                </c:pt>
                <c:pt idx="30" formatCode="#,##0">
                  <c:v>70938</c:v>
                </c:pt>
                <c:pt idx="31" formatCode="#,##0">
                  <c:v>72288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62-3791-4177-A6A7-E670E11A6112}"/>
            </c:ext>
          </c:extLst>
        </c:ser>
        <c:ser>
          <c:idx val="3"/>
          <c:order val="3"/>
          <c:tx>
            <c:strRef>
              <c:f>'Pickaway County'!$B$1</c:f>
              <c:strCache>
                <c:ptCount val="1"/>
                <c:pt idx="0">
                  <c:v>Historical</c:v>
                </c:pt>
              </c:strCache>
            </c:strRef>
          </c:tx>
          <c:spPr>
            <a:ln w="25400">
              <a:solidFill>
                <a:srgbClr val="193764"/>
              </a:solidFill>
            </a:ln>
          </c:spPr>
          <c:marker>
            <c:symbol val="circle"/>
            <c:size val="5"/>
            <c:spPr>
              <a:solidFill>
                <a:srgbClr val="193764"/>
              </a:solidFill>
              <a:ln>
                <a:solidFill>
                  <a:srgbClr val="193764"/>
                </a:solidFill>
              </a:ln>
            </c:spPr>
          </c:marker>
          <c:dLbls>
            <c:dLbl>
              <c:idx val="0"/>
              <c:layout>
                <c:manualLayout>
                  <c:x val="1.5559430071241095E-2"/>
                  <c:y val="7.135046075444943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3-3791-4177-A6A7-E670E11A6112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4-3791-4177-A6A7-E670E11A6112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5-3791-4177-A6A7-E670E11A6112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6-3791-4177-A6A7-E670E11A6112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7-3791-4177-A6A7-E670E11A6112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8-3791-4177-A6A7-E670E11A6112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9-3791-4177-A6A7-E670E11A6112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A-3791-4177-A6A7-E670E11A6112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B-3791-4177-A6A7-E670E11A6112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C-3791-4177-A6A7-E670E11A6112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D-3791-4177-A6A7-E670E11A6112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E-3791-4177-A6A7-E670E11A6112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F-3791-4177-A6A7-E670E11A6112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0-3791-4177-A6A7-E670E11A6112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1-3791-4177-A6A7-E670E11A6112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2-3791-4177-A6A7-E670E11A6112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3-3791-4177-A6A7-E670E11A6112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4-3791-4177-A6A7-E670E11A6112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5-3791-4177-A6A7-E670E11A6112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6-3791-4177-A6A7-E670E11A6112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7-3791-4177-A6A7-E670E11A6112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8-3791-4177-A6A7-E670E11A6112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9-3791-4177-A6A7-E670E11A6112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A-3791-4177-A6A7-E670E11A6112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B-3791-4177-A6A7-E670E11A6112}"/>
                </c:ext>
              </c:extLst>
            </c:dLbl>
            <c:dLbl>
              <c:idx val="25"/>
              <c:layout>
                <c:manualLayout>
                  <c:x val="-3.2059617547806521E-2"/>
                  <c:y val="7.6216640803111246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C-3791-4177-A6A7-E670E11A6112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D-3791-4177-A6A7-E670E11A6112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E-3791-4177-A6A7-E670E11A6112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F-3791-4177-A6A7-E670E11A6112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80-3791-4177-A6A7-E670E11A6112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81-3791-4177-A6A7-E670E11A6112}"/>
                </c:ext>
              </c:extLst>
            </c:dLbl>
            <c:dLbl>
              <c:idx val="3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82-3791-4177-A6A7-E670E11A6112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'Pickaway County'!$A$2:$A$33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'Pickaway County'!$B$2:$B$33</c:f>
              <c:numCache>
                <c:formatCode>#,##0</c:formatCode>
                <c:ptCount val="32"/>
                <c:pt idx="0">
                  <c:v>52808</c:v>
                </c:pt>
                <c:pt idx="1">
                  <c:v>52344</c:v>
                </c:pt>
                <c:pt idx="2">
                  <c:v>51778</c:v>
                </c:pt>
                <c:pt idx="3">
                  <c:v>51983</c:v>
                </c:pt>
                <c:pt idx="4">
                  <c:v>52238</c:v>
                </c:pt>
                <c:pt idx="5">
                  <c:v>52954</c:v>
                </c:pt>
                <c:pt idx="6">
                  <c:v>54094</c:v>
                </c:pt>
                <c:pt idx="7">
                  <c:v>55044</c:v>
                </c:pt>
                <c:pt idx="8">
                  <c:v>55376</c:v>
                </c:pt>
                <c:pt idx="9">
                  <c:v>55323</c:v>
                </c:pt>
                <c:pt idx="10">
                  <c:v>55734</c:v>
                </c:pt>
                <c:pt idx="11">
                  <c:v>55934</c:v>
                </c:pt>
                <c:pt idx="12">
                  <c:v>56214</c:v>
                </c:pt>
                <c:pt idx="13">
                  <c:v>56322</c:v>
                </c:pt>
                <c:pt idx="14">
                  <c:v>56664</c:v>
                </c:pt>
                <c:pt idx="15">
                  <c:v>56942</c:v>
                </c:pt>
                <c:pt idx="16">
                  <c:v>57455</c:v>
                </c:pt>
                <c:pt idx="17">
                  <c:v>57702</c:v>
                </c:pt>
                <c:pt idx="18">
                  <c:v>58022</c:v>
                </c:pt>
                <c:pt idx="19">
                  <c:v>58435</c:v>
                </c:pt>
                <c:pt idx="20">
                  <c:v>58659</c:v>
                </c:pt>
                <c:pt idx="21">
                  <c:v>58760</c:v>
                </c:pt>
                <c:pt idx="22">
                  <c:v>59953</c:v>
                </c:pt>
                <c:pt idx="23">
                  <c:v>61125</c:v>
                </c:pt>
                <c:pt idx="24">
                  <c:v>62207</c:v>
                </c:pt>
                <c:pt idx="25">
                  <c:v>62978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83-3791-4177-A6A7-E670E11A611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0130001"/>
        <c:axId val="50130002"/>
      </c:scatterChart>
      <c:valAx>
        <c:axId val="50130001"/>
        <c:scaling>
          <c:orientation val="minMax"/>
          <c:max val="2055"/>
          <c:min val="2000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 baseline="0"/>
            </a:pPr>
            <a:endParaRPr lang="en-US"/>
          </a:p>
        </c:txPr>
        <c:crossAx val="50130002"/>
        <c:crosses val="autoZero"/>
        <c:crossBetween val="midCat"/>
        <c:majorUnit val="5"/>
      </c:valAx>
      <c:valAx>
        <c:axId val="5013000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 baseline="0"/>
            </a:pPr>
            <a:endParaRPr lang="en-US"/>
          </a:p>
        </c:txPr>
        <c:crossAx val="50130001"/>
        <c:crosses val="autoZero"/>
        <c:crossBetween val="midCat"/>
      </c:valAx>
    </c:plotArea>
    <c:legend>
      <c:legendPos val="b"/>
      <c:layout>
        <c:manualLayout>
          <c:xMode val="edge"/>
          <c:yMode val="edge"/>
          <c:x val="0.13"/>
          <c:y val="0.87"/>
          <c:w val="0.65"/>
          <c:h val="0.1"/>
        </c:manualLayout>
      </c:layout>
      <c:overlay val="0"/>
      <c:txPr>
        <a:bodyPr/>
        <a:lstStyle/>
        <a:p>
          <a:pPr>
            <a:defRPr sz="1400" baseline="0"/>
          </a:pPr>
          <a:endParaRPr lang="en-US"/>
        </a:p>
      </c:txPr>
    </c:legend>
    <c:plotVisOnly val="1"/>
    <c:dispBlanksAs val="gap"/>
    <c:showDLblsOverMax val="0"/>
  </c:chart>
  <c:externalData r:id="rId2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/>
          <a:lstStyle/>
          <a:p>
            <a:pPr>
              <a:defRPr/>
            </a:pPr>
            <a:r>
              <a:rPr lang="en-US" dirty="0"/>
              <a:t>Historical and </a:t>
            </a:r>
            <a:r>
              <a:rPr lang="en-US" sz="1800" b="1" i="0" u="none" strike="noStrike" kern="1200" baseline="0" dirty="0">
                <a:solidFill>
                  <a:prstClr val="black"/>
                </a:solidFill>
              </a:rPr>
              <a:t>Projected</a:t>
            </a:r>
            <a:r>
              <a:rPr lang="en-US" dirty="0"/>
              <a:t> Population - Ross County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13"/>
          <c:y val="0.12"/>
          <c:w val="0.75"/>
          <c:h val="0.65"/>
        </c:manualLayout>
      </c:layout>
      <c:scatterChart>
        <c:scatterStyle val="lineMarker"/>
        <c:varyColors val="0"/>
        <c:ser>
          <c:idx val="0"/>
          <c:order val="0"/>
          <c:tx>
            <c:strRef>
              <c:f>'Ross County'!$C$1</c:f>
              <c:strCache>
                <c:ptCount val="1"/>
                <c:pt idx="0">
                  <c:v>25th percentile migration</c:v>
                </c:pt>
              </c:strCache>
            </c:strRef>
          </c:tx>
          <c:spPr>
            <a:ln w="25400">
              <a:solidFill>
                <a:srgbClr val="597C3E"/>
              </a:solidFill>
            </a:ln>
          </c:spPr>
          <c:marker>
            <c:symbol val="square"/>
            <c:size val="5"/>
            <c:spPr>
              <a:solidFill>
                <a:srgbClr val="597C3E"/>
              </a:solidFill>
              <a:ln>
                <a:solidFill>
                  <a:srgbClr val="597C3E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35F4-4CB2-B7C2-6B1FF6431637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35F4-4CB2-B7C2-6B1FF6431637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35F4-4CB2-B7C2-6B1FF6431637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35F4-4CB2-B7C2-6B1FF6431637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35F4-4CB2-B7C2-6B1FF6431637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35F4-4CB2-B7C2-6B1FF6431637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35F4-4CB2-B7C2-6B1FF6431637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35F4-4CB2-B7C2-6B1FF6431637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35F4-4CB2-B7C2-6B1FF6431637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35F4-4CB2-B7C2-6B1FF6431637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35F4-4CB2-B7C2-6B1FF6431637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35F4-4CB2-B7C2-6B1FF6431637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35F4-4CB2-B7C2-6B1FF6431637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35F4-4CB2-B7C2-6B1FF6431637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35F4-4CB2-B7C2-6B1FF6431637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35F4-4CB2-B7C2-6B1FF6431637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0-35F4-4CB2-B7C2-6B1FF6431637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35F4-4CB2-B7C2-6B1FF6431637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2-35F4-4CB2-B7C2-6B1FF6431637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35F4-4CB2-B7C2-6B1FF6431637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4-35F4-4CB2-B7C2-6B1FF6431637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5-35F4-4CB2-B7C2-6B1FF6431637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6-35F4-4CB2-B7C2-6B1FF6431637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7-35F4-4CB2-B7C2-6B1FF6431637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8-35F4-4CB2-B7C2-6B1FF6431637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9-35F4-4CB2-B7C2-6B1FF6431637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A-35F4-4CB2-B7C2-6B1FF6431637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B-35F4-4CB2-B7C2-6B1FF6431637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C-35F4-4CB2-B7C2-6B1FF6431637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D-35F4-4CB2-B7C2-6B1FF6431637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E-35F4-4CB2-B7C2-6B1FF6431637}"/>
                </c:ext>
              </c:extLst>
            </c:dLbl>
            <c:dLbl>
              <c:idx val="31"/>
              <c:layout>
                <c:manualLayout>
                  <c:x val="3.650793650793651E-2"/>
                  <c:y val="2.919708029197075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F-35F4-4CB2-B7C2-6B1FF6431637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'Ross County'!$A$2:$A$33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'Ross County'!$C$2:$C$33</c:f>
              <c:numCache>
                <c:formatCode>General</c:formatCode>
                <c:ptCount val="32"/>
                <c:pt idx="25" formatCode="#,##0">
                  <c:v>76429</c:v>
                </c:pt>
                <c:pt idx="26" formatCode="#,##0">
                  <c:v>73729</c:v>
                </c:pt>
                <c:pt idx="27" formatCode="#,##0">
                  <c:v>70504</c:v>
                </c:pt>
                <c:pt idx="28" formatCode="#,##0">
                  <c:v>66844</c:v>
                </c:pt>
                <c:pt idx="29" formatCode="#,##0">
                  <c:v>62969</c:v>
                </c:pt>
                <c:pt idx="30" formatCode="#,##0">
                  <c:v>58974</c:v>
                </c:pt>
                <c:pt idx="31" formatCode="#,##0">
                  <c:v>55069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20-35F4-4CB2-B7C2-6B1FF6431637}"/>
            </c:ext>
          </c:extLst>
        </c:ser>
        <c:ser>
          <c:idx val="1"/>
          <c:order val="1"/>
          <c:tx>
            <c:strRef>
              <c:f>'Ross County'!$D$1</c:f>
              <c:strCache>
                <c:ptCount val="1"/>
                <c:pt idx="0">
                  <c:v>50th percentile migration</c:v>
                </c:pt>
              </c:strCache>
            </c:strRef>
          </c:tx>
          <c:spPr>
            <a:ln w="25400">
              <a:solidFill>
                <a:srgbClr val="3D9BB1"/>
              </a:solidFill>
            </a:ln>
          </c:spPr>
          <c:marker>
            <c:symbol val="triangle"/>
            <c:size val="5"/>
            <c:spPr>
              <a:solidFill>
                <a:srgbClr val="3D9BB1"/>
              </a:solidFill>
              <a:ln>
                <a:solidFill>
                  <a:srgbClr val="3D9BB1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1-35F4-4CB2-B7C2-6B1FF6431637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2-35F4-4CB2-B7C2-6B1FF6431637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3-35F4-4CB2-B7C2-6B1FF6431637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4-35F4-4CB2-B7C2-6B1FF6431637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5-35F4-4CB2-B7C2-6B1FF6431637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6-35F4-4CB2-B7C2-6B1FF6431637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7-35F4-4CB2-B7C2-6B1FF6431637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8-35F4-4CB2-B7C2-6B1FF6431637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9-35F4-4CB2-B7C2-6B1FF6431637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A-35F4-4CB2-B7C2-6B1FF6431637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B-35F4-4CB2-B7C2-6B1FF6431637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C-35F4-4CB2-B7C2-6B1FF6431637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D-35F4-4CB2-B7C2-6B1FF6431637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E-35F4-4CB2-B7C2-6B1FF6431637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F-35F4-4CB2-B7C2-6B1FF6431637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0-35F4-4CB2-B7C2-6B1FF6431637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1-35F4-4CB2-B7C2-6B1FF6431637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2-35F4-4CB2-B7C2-6B1FF6431637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3-35F4-4CB2-B7C2-6B1FF6431637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4-35F4-4CB2-B7C2-6B1FF6431637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5-35F4-4CB2-B7C2-6B1FF6431637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6-35F4-4CB2-B7C2-6B1FF6431637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7-35F4-4CB2-B7C2-6B1FF6431637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8-35F4-4CB2-B7C2-6B1FF6431637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9-35F4-4CB2-B7C2-6B1FF6431637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A-35F4-4CB2-B7C2-6B1FF6431637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B-35F4-4CB2-B7C2-6B1FF6431637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C-35F4-4CB2-B7C2-6B1FF6431637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D-35F4-4CB2-B7C2-6B1FF6431637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E-35F4-4CB2-B7C2-6B1FF6431637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F-35F4-4CB2-B7C2-6B1FF6431637}"/>
                </c:ext>
              </c:extLst>
            </c:dLbl>
            <c:dLbl>
              <c:idx val="31"/>
              <c:layout>
                <c:manualLayout>
                  <c:x val="3.4920634920634804E-2"/>
                  <c:y val="9.7323600973236012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0-35F4-4CB2-B7C2-6B1FF6431637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'Ross County'!$A$2:$A$33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'Ross County'!$D$2:$D$33</c:f>
              <c:numCache>
                <c:formatCode>General</c:formatCode>
                <c:ptCount val="32"/>
                <c:pt idx="25" formatCode="#,##0">
                  <c:v>76429</c:v>
                </c:pt>
                <c:pt idx="26" formatCode="#,##0">
                  <c:v>74734</c:v>
                </c:pt>
                <c:pt idx="27" formatCode="#,##0">
                  <c:v>72484</c:v>
                </c:pt>
                <c:pt idx="28" formatCode="#,##0">
                  <c:v>69854</c:v>
                </c:pt>
                <c:pt idx="29" formatCode="#,##0">
                  <c:v>67014</c:v>
                </c:pt>
                <c:pt idx="30" formatCode="#,##0">
                  <c:v>64064</c:v>
                </c:pt>
                <c:pt idx="31" formatCode="#,##0">
                  <c:v>61204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41-35F4-4CB2-B7C2-6B1FF6431637}"/>
            </c:ext>
          </c:extLst>
        </c:ser>
        <c:ser>
          <c:idx val="2"/>
          <c:order val="2"/>
          <c:tx>
            <c:strRef>
              <c:f>'Ross County'!$E$1</c:f>
              <c:strCache>
                <c:ptCount val="1"/>
                <c:pt idx="0">
                  <c:v>75th percentile migration</c:v>
                </c:pt>
              </c:strCache>
            </c:strRef>
          </c:tx>
          <c:spPr>
            <a:ln w="25400">
              <a:solidFill>
                <a:srgbClr val="D95F27"/>
              </a:solidFill>
            </a:ln>
          </c:spPr>
          <c:marker>
            <c:symbol val="diamond"/>
            <c:size val="5"/>
            <c:spPr>
              <a:solidFill>
                <a:srgbClr val="D95F27"/>
              </a:solidFill>
              <a:ln>
                <a:solidFill>
                  <a:srgbClr val="D95F27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2-35F4-4CB2-B7C2-6B1FF6431637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3-35F4-4CB2-B7C2-6B1FF6431637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4-35F4-4CB2-B7C2-6B1FF6431637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5-35F4-4CB2-B7C2-6B1FF6431637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6-35F4-4CB2-B7C2-6B1FF6431637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7-35F4-4CB2-B7C2-6B1FF6431637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8-35F4-4CB2-B7C2-6B1FF6431637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9-35F4-4CB2-B7C2-6B1FF6431637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A-35F4-4CB2-B7C2-6B1FF6431637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B-35F4-4CB2-B7C2-6B1FF6431637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C-35F4-4CB2-B7C2-6B1FF6431637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D-35F4-4CB2-B7C2-6B1FF6431637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E-35F4-4CB2-B7C2-6B1FF6431637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F-35F4-4CB2-B7C2-6B1FF6431637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0-35F4-4CB2-B7C2-6B1FF6431637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1-35F4-4CB2-B7C2-6B1FF6431637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2-35F4-4CB2-B7C2-6B1FF6431637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3-35F4-4CB2-B7C2-6B1FF6431637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4-35F4-4CB2-B7C2-6B1FF6431637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5-35F4-4CB2-B7C2-6B1FF6431637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6-35F4-4CB2-B7C2-6B1FF6431637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7-35F4-4CB2-B7C2-6B1FF6431637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8-35F4-4CB2-B7C2-6B1FF6431637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9-35F4-4CB2-B7C2-6B1FF6431637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A-35F4-4CB2-B7C2-6B1FF6431637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B-35F4-4CB2-B7C2-6B1FF6431637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C-35F4-4CB2-B7C2-6B1FF6431637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D-35F4-4CB2-B7C2-6B1FF6431637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E-35F4-4CB2-B7C2-6B1FF6431637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F-35F4-4CB2-B7C2-6B1FF6431637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0-35F4-4CB2-B7C2-6B1FF6431637}"/>
                </c:ext>
              </c:extLst>
            </c:dLbl>
            <c:dLbl>
              <c:idx val="31"/>
              <c:layout>
                <c:manualLayout>
                  <c:x val="3.650793650793651E-2"/>
                  <c:y val="-3.6496350364963549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1-35F4-4CB2-B7C2-6B1FF6431637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'Ross County'!$A$2:$A$33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'Ross County'!$E$2:$E$33</c:f>
              <c:numCache>
                <c:formatCode>General</c:formatCode>
                <c:ptCount val="32"/>
                <c:pt idx="25" formatCode="#,##0">
                  <c:v>76429</c:v>
                </c:pt>
                <c:pt idx="26" formatCode="#,##0">
                  <c:v>75279</c:v>
                </c:pt>
                <c:pt idx="27" formatCode="#,##0">
                  <c:v>73574</c:v>
                </c:pt>
                <c:pt idx="28" formatCode="#,##0">
                  <c:v>71494</c:v>
                </c:pt>
                <c:pt idx="29" formatCode="#,##0">
                  <c:v>69209</c:v>
                </c:pt>
                <c:pt idx="30" formatCode="#,##0">
                  <c:v>66834</c:v>
                </c:pt>
                <c:pt idx="31" formatCode="#,##0">
                  <c:v>64539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62-35F4-4CB2-B7C2-6B1FF6431637}"/>
            </c:ext>
          </c:extLst>
        </c:ser>
        <c:ser>
          <c:idx val="3"/>
          <c:order val="3"/>
          <c:tx>
            <c:strRef>
              <c:f>'Ross County'!$B$1</c:f>
              <c:strCache>
                <c:ptCount val="1"/>
                <c:pt idx="0">
                  <c:v>Historical</c:v>
                </c:pt>
              </c:strCache>
            </c:strRef>
          </c:tx>
          <c:spPr>
            <a:ln w="25400">
              <a:solidFill>
                <a:srgbClr val="193764"/>
              </a:solidFill>
            </a:ln>
          </c:spPr>
          <c:marker>
            <c:symbol val="circle"/>
            <c:size val="5"/>
            <c:spPr>
              <a:solidFill>
                <a:srgbClr val="193764"/>
              </a:solidFill>
              <a:ln>
                <a:solidFill>
                  <a:srgbClr val="193764"/>
                </a:solidFill>
              </a:ln>
            </c:spPr>
          </c:marker>
          <c:dLbls>
            <c:dLbl>
              <c:idx val="0"/>
              <c:layout>
                <c:manualLayout>
                  <c:x val="2.3495938007749032E-2"/>
                  <c:y val="6.4051190681456746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3-35F4-4CB2-B7C2-6B1FF6431637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4-35F4-4CB2-B7C2-6B1FF6431637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5-35F4-4CB2-B7C2-6B1FF6431637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6-35F4-4CB2-B7C2-6B1FF6431637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7-35F4-4CB2-B7C2-6B1FF6431637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8-35F4-4CB2-B7C2-6B1FF6431637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9-35F4-4CB2-B7C2-6B1FF6431637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A-35F4-4CB2-B7C2-6B1FF6431637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B-35F4-4CB2-B7C2-6B1FF6431637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C-35F4-4CB2-B7C2-6B1FF6431637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D-35F4-4CB2-B7C2-6B1FF6431637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E-35F4-4CB2-B7C2-6B1FF6431637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F-35F4-4CB2-B7C2-6B1FF6431637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0-35F4-4CB2-B7C2-6B1FF6431637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1-35F4-4CB2-B7C2-6B1FF6431637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2-35F4-4CB2-B7C2-6B1FF6431637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3-35F4-4CB2-B7C2-6B1FF6431637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4-35F4-4CB2-B7C2-6B1FF6431637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5-35F4-4CB2-B7C2-6B1FF6431637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6-35F4-4CB2-B7C2-6B1FF6431637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7-35F4-4CB2-B7C2-6B1FF6431637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8-35F4-4CB2-B7C2-6B1FF6431637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9-35F4-4CB2-B7C2-6B1FF6431637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A-35F4-4CB2-B7C2-6B1FF6431637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B-35F4-4CB2-B7C2-6B1FF6431637}"/>
                </c:ext>
              </c:extLst>
            </c:dLbl>
            <c:dLbl>
              <c:idx val="25"/>
              <c:layout>
                <c:manualLayout>
                  <c:x val="-3.2059617547806521E-2"/>
                  <c:y val="8.3515910876103952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C-35F4-4CB2-B7C2-6B1FF6431637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D-35F4-4CB2-B7C2-6B1FF6431637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E-35F4-4CB2-B7C2-6B1FF6431637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F-35F4-4CB2-B7C2-6B1FF6431637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80-35F4-4CB2-B7C2-6B1FF6431637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81-35F4-4CB2-B7C2-6B1FF6431637}"/>
                </c:ext>
              </c:extLst>
            </c:dLbl>
            <c:dLbl>
              <c:idx val="3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82-35F4-4CB2-B7C2-6B1FF6431637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'Ross County'!$A$2:$A$33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'Ross County'!$B$2:$B$33</c:f>
              <c:numCache>
                <c:formatCode>#,##0</c:formatCode>
                <c:ptCount val="32"/>
                <c:pt idx="0">
                  <c:v>73507</c:v>
                </c:pt>
                <c:pt idx="1">
                  <c:v>73840</c:v>
                </c:pt>
                <c:pt idx="2">
                  <c:v>74363</c:v>
                </c:pt>
                <c:pt idx="3">
                  <c:v>75008</c:v>
                </c:pt>
                <c:pt idx="4">
                  <c:v>75251</c:v>
                </c:pt>
                <c:pt idx="5">
                  <c:v>75935</c:v>
                </c:pt>
                <c:pt idx="6">
                  <c:v>76639</c:v>
                </c:pt>
                <c:pt idx="7">
                  <c:v>77419</c:v>
                </c:pt>
                <c:pt idx="8">
                  <c:v>77675</c:v>
                </c:pt>
                <c:pt idx="9">
                  <c:v>77862</c:v>
                </c:pt>
                <c:pt idx="10">
                  <c:v>78117</c:v>
                </c:pt>
                <c:pt idx="11">
                  <c:v>77669</c:v>
                </c:pt>
                <c:pt idx="12">
                  <c:v>77495</c:v>
                </c:pt>
                <c:pt idx="13">
                  <c:v>77496</c:v>
                </c:pt>
                <c:pt idx="14">
                  <c:v>77373</c:v>
                </c:pt>
                <c:pt idx="15">
                  <c:v>77385</c:v>
                </c:pt>
                <c:pt idx="16">
                  <c:v>77266</c:v>
                </c:pt>
                <c:pt idx="17">
                  <c:v>77738</c:v>
                </c:pt>
                <c:pt idx="18">
                  <c:v>77359</c:v>
                </c:pt>
                <c:pt idx="19">
                  <c:v>77173</c:v>
                </c:pt>
                <c:pt idx="20">
                  <c:v>77067</c:v>
                </c:pt>
                <c:pt idx="21">
                  <c:v>76493</c:v>
                </c:pt>
                <c:pt idx="22">
                  <c:v>76365</c:v>
                </c:pt>
                <c:pt idx="23">
                  <c:v>76276</c:v>
                </c:pt>
                <c:pt idx="24">
                  <c:v>75998</c:v>
                </c:pt>
                <c:pt idx="25">
                  <c:v>76429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83-35F4-4CB2-B7C2-6B1FF64316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0140001"/>
        <c:axId val="50140002"/>
      </c:scatterChart>
      <c:valAx>
        <c:axId val="50140001"/>
        <c:scaling>
          <c:orientation val="minMax"/>
          <c:max val="2055"/>
          <c:min val="2000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 baseline="0"/>
            </a:pPr>
            <a:endParaRPr lang="en-US"/>
          </a:p>
        </c:txPr>
        <c:crossAx val="50140002"/>
        <c:crosses val="autoZero"/>
        <c:crossBetween val="midCat"/>
        <c:majorUnit val="5"/>
      </c:valAx>
      <c:valAx>
        <c:axId val="5014000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 baseline="0"/>
            </a:pPr>
            <a:endParaRPr lang="en-US"/>
          </a:p>
        </c:txPr>
        <c:crossAx val="50140001"/>
        <c:crosses val="autoZero"/>
        <c:crossBetween val="midCat"/>
      </c:valAx>
    </c:plotArea>
    <c:legend>
      <c:legendPos val="b"/>
      <c:layout>
        <c:manualLayout>
          <c:xMode val="edge"/>
          <c:yMode val="edge"/>
          <c:x val="0.13"/>
          <c:y val="0.87"/>
          <c:w val="0.65"/>
          <c:h val="0.1"/>
        </c:manualLayout>
      </c:layout>
      <c:overlay val="0"/>
      <c:txPr>
        <a:bodyPr/>
        <a:lstStyle/>
        <a:p>
          <a:pPr>
            <a:defRPr sz="1400" baseline="0"/>
          </a:pPr>
          <a:endParaRPr lang="en-US"/>
        </a:p>
      </c:txPr>
    </c:legend>
    <c:plotVisOnly val="1"/>
    <c:dispBlanksAs val="gap"/>
    <c:showDLblsOverMax val="0"/>
  </c:chart>
  <c:externalData r:id="rId2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/>
          <a:lstStyle/>
          <a:p>
            <a:pPr>
              <a:defRPr/>
            </a:pPr>
            <a:r>
              <a:rPr lang="en-US" dirty="0"/>
              <a:t>Historical and </a:t>
            </a:r>
            <a:r>
              <a:rPr lang="en-US" sz="1800" b="1" i="0" u="none" strike="noStrike" kern="1200" baseline="0" dirty="0">
                <a:solidFill>
                  <a:prstClr val="black"/>
                </a:solidFill>
              </a:rPr>
              <a:t>Projected</a:t>
            </a:r>
            <a:r>
              <a:rPr lang="en-US" dirty="0"/>
              <a:t> Population - Union County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13"/>
          <c:y val="0.12"/>
          <c:w val="0.75"/>
          <c:h val="0.65"/>
        </c:manualLayout>
      </c:layout>
      <c:scatterChart>
        <c:scatterStyle val="lineMarker"/>
        <c:varyColors val="0"/>
        <c:ser>
          <c:idx val="0"/>
          <c:order val="0"/>
          <c:tx>
            <c:strRef>
              <c:f>'Union County'!$C$1</c:f>
              <c:strCache>
                <c:ptCount val="1"/>
                <c:pt idx="0">
                  <c:v>25th percentile migration</c:v>
                </c:pt>
              </c:strCache>
            </c:strRef>
          </c:tx>
          <c:spPr>
            <a:ln w="25400">
              <a:solidFill>
                <a:srgbClr val="597C3E"/>
              </a:solidFill>
            </a:ln>
          </c:spPr>
          <c:marker>
            <c:symbol val="square"/>
            <c:size val="5"/>
            <c:spPr>
              <a:solidFill>
                <a:srgbClr val="597C3E"/>
              </a:solidFill>
              <a:ln>
                <a:solidFill>
                  <a:srgbClr val="597C3E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1437-42A1-A158-571BE8A96BC1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437-42A1-A158-571BE8A96BC1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1437-42A1-A158-571BE8A96BC1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437-42A1-A158-571BE8A96BC1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1437-42A1-A158-571BE8A96BC1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437-42A1-A158-571BE8A96BC1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1437-42A1-A158-571BE8A96BC1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437-42A1-A158-571BE8A96BC1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1437-42A1-A158-571BE8A96BC1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437-42A1-A158-571BE8A96BC1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1437-42A1-A158-571BE8A96BC1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437-42A1-A158-571BE8A96BC1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1437-42A1-A158-571BE8A96BC1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437-42A1-A158-571BE8A96BC1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1437-42A1-A158-571BE8A96BC1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1437-42A1-A158-571BE8A96BC1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0-1437-42A1-A158-571BE8A96BC1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1437-42A1-A158-571BE8A96BC1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2-1437-42A1-A158-571BE8A96BC1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1437-42A1-A158-571BE8A96BC1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4-1437-42A1-A158-571BE8A96BC1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5-1437-42A1-A158-571BE8A96BC1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6-1437-42A1-A158-571BE8A96BC1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7-1437-42A1-A158-571BE8A96BC1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8-1437-42A1-A158-571BE8A96BC1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9-1437-42A1-A158-571BE8A96BC1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A-1437-42A1-A158-571BE8A96BC1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B-1437-42A1-A158-571BE8A96BC1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C-1437-42A1-A158-571BE8A96BC1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D-1437-42A1-A158-571BE8A96BC1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E-1437-42A1-A158-571BE8A96BC1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'Union County'!$A$2:$A$33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'Union County'!$C$2:$C$33</c:f>
              <c:numCache>
                <c:formatCode>General</c:formatCode>
                <c:ptCount val="32"/>
                <c:pt idx="25" formatCode="#,##0">
                  <c:v>73446</c:v>
                </c:pt>
                <c:pt idx="26" formatCode="#,##0">
                  <c:v>76771</c:v>
                </c:pt>
                <c:pt idx="27" formatCode="#,##0">
                  <c:v>79181</c:v>
                </c:pt>
                <c:pt idx="28" formatCode="#,##0">
                  <c:v>80851</c:v>
                </c:pt>
                <c:pt idx="29" formatCode="#,##0">
                  <c:v>82196</c:v>
                </c:pt>
                <c:pt idx="30" formatCode="#,##0">
                  <c:v>83406</c:v>
                </c:pt>
                <c:pt idx="31" formatCode="#,##0">
                  <c:v>84486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1F-1437-42A1-A158-571BE8A96BC1}"/>
            </c:ext>
          </c:extLst>
        </c:ser>
        <c:ser>
          <c:idx val="1"/>
          <c:order val="1"/>
          <c:tx>
            <c:strRef>
              <c:f>'Union County'!$D$1</c:f>
              <c:strCache>
                <c:ptCount val="1"/>
                <c:pt idx="0">
                  <c:v>50th percentile migration</c:v>
                </c:pt>
              </c:strCache>
            </c:strRef>
          </c:tx>
          <c:spPr>
            <a:ln w="25400">
              <a:solidFill>
                <a:srgbClr val="3D9BB1"/>
              </a:solidFill>
            </a:ln>
          </c:spPr>
          <c:marker>
            <c:symbol val="triangle"/>
            <c:size val="5"/>
            <c:spPr>
              <a:solidFill>
                <a:srgbClr val="3D9BB1"/>
              </a:solidFill>
              <a:ln>
                <a:solidFill>
                  <a:srgbClr val="3D9BB1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0-1437-42A1-A158-571BE8A96BC1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1-1437-42A1-A158-571BE8A96BC1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2-1437-42A1-A158-571BE8A96BC1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3-1437-42A1-A158-571BE8A96BC1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4-1437-42A1-A158-571BE8A96BC1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5-1437-42A1-A158-571BE8A96BC1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6-1437-42A1-A158-571BE8A96BC1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7-1437-42A1-A158-571BE8A96BC1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8-1437-42A1-A158-571BE8A96BC1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9-1437-42A1-A158-571BE8A96BC1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A-1437-42A1-A158-571BE8A96BC1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B-1437-42A1-A158-571BE8A96BC1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C-1437-42A1-A158-571BE8A96BC1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D-1437-42A1-A158-571BE8A96BC1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E-1437-42A1-A158-571BE8A96BC1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F-1437-42A1-A158-571BE8A96BC1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0-1437-42A1-A158-571BE8A96BC1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1-1437-42A1-A158-571BE8A96BC1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2-1437-42A1-A158-571BE8A96BC1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3-1437-42A1-A158-571BE8A96BC1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4-1437-42A1-A158-571BE8A96BC1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5-1437-42A1-A158-571BE8A96BC1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6-1437-42A1-A158-571BE8A96BC1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7-1437-42A1-A158-571BE8A96BC1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8-1437-42A1-A158-571BE8A96BC1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9-1437-42A1-A158-571BE8A96BC1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A-1437-42A1-A158-571BE8A96BC1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B-1437-42A1-A158-571BE8A96BC1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C-1437-42A1-A158-571BE8A96BC1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D-1437-42A1-A158-571BE8A96BC1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E-1437-42A1-A158-571BE8A96BC1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'Union County'!$A$2:$A$33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'Union County'!$D$2:$D$33</c:f>
              <c:numCache>
                <c:formatCode>General</c:formatCode>
                <c:ptCount val="32"/>
                <c:pt idx="25" formatCode="#,##0">
                  <c:v>73446</c:v>
                </c:pt>
                <c:pt idx="26" formatCode="#,##0">
                  <c:v>79021</c:v>
                </c:pt>
                <c:pt idx="27" formatCode="#,##0">
                  <c:v>83666</c:v>
                </c:pt>
                <c:pt idx="28" formatCode="#,##0">
                  <c:v>87691</c:v>
                </c:pt>
                <c:pt idx="29" formatCode="#,##0">
                  <c:v>91491</c:v>
                </c:pt>
                <c:pt idx="30" formatCode="#,##0">
                  <c:v>95276</c:v>
                </c:pt>
                <c:pt idx="31" formatCode="#,##0">
                  <c:v>99036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3F-1437-42A1-A158-571BE8A96BC1}"/>
            </c:ext>
          </c:extLst>
        </c:ser>
        <c:ser>
          <c:idx val="2"/>
          <c:order val="2"/>
          <c:tx>
            <c:strRef>
              <c:f>'Union County'!$E$1</c:f>
              <c:strCache>
                <c:ptCount val="1"/>
                <c:pt idx="0">
                  <c:v>75th percentile migration</c:v>
                </c:pt>
              </c:strCache>
            </c:strRef>
          </c:tx>
          <c:spPr>
            <a:ln w="25400">
              <a:solidFill>
                <a:srgbClr val="D95F27"/>
              </a:solidFill>
            </a:ln>
          </c:spPr>
          <c:marker>
            <c:symbol val="diamond"/>
            <c:size val="5"/>
            <c:spPr>
              <a:solidFill>
                <a:srgbClr val="D95F27"/>
              </a:solidFill>
              <a:ln>
                <a:solidFill>
                  <a:srgbClr val="D95F27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0-1437-42A1-A158-571BE8A96BC1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1-1437-42A1-A158-571BE8A96BC1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2-1437-42A1-A158-571BE8A96BC1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3-1437-42A1-A158-571BE8A96BC1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4-1437-42A1-A158-571BE8A96BC1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5-1437-42A1-A158-571BE8A96BC1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6-1437-42A1-A158-571BE8A96BC1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7-1437-42A1-A158-571BE8A96BC1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8-1437-42A1-A158-571BE8A96BC1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9-1437-42A1-A158-571BE8A96BC1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A-1437-42A1-A158-571BE8A96BC1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B-1437-42A1-A158-571BE8A96BC1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C-1437-42A1-A158-571BE8A96BC1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D-1437-42A1-A158-571BE8A96BC1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E-1437-42A1-A158-571BE8A96BC1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F-1437-42A1-A158-571BE8A96BC1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0-1437-42A1-A158-571BE8A96BC1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1-1437-42A1-A158-571BE8A96BC1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2-1437-42A1-A158-571BE8A96BC1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3-1437-42A1-A158-571BE8A96BC1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4-1437-42A1-A158-571BE8A96BC1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5-1437-42A1-A158-571BE8A96BC1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6-1437-42A1-A158-571BE8A96BC1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7-1437-42A1-A158-571BE8A96BC1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8-1437-42A1-A158-571BE8A96BC1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9-1437-42A1-A158-571BE8A96BC1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A-1437-42A1-A158-571BE8A96BC1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B-1437-42A1-A158-571BE8A96BC1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C-1437-42A1-A158-571BE8A96BC1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D-1437-42A1-A158-571BE8A96BC1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E-1437-42A1-A158-571BE8A96BC1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'Union County'!$A$2:$A$33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'Union County'!$E$2:$E$33</c:f>
              <c:numCache>
                <c:formatCode>General</c:formatCode>
                <c:ptCount val="32"/>
                <c:pt idx="25" formatCode="#,##0">
                  <c:v>73446</c:v>
                </c:pt>
                <c:pt idx="26" formatCode="#,##0">
                  <c:v>82226</c:v>
                </c:pt>
                <c:pt idx="27" formatCode="#,##0">
                  <c:v>90106</c:v>
                </c:pt>
                <c:pt idx="28" formatCode="#,##0">
                  <c:v>97451</c:v>
                </c:pt>
                <c:pt idx="29" formatCode="#,##0">
                  <c:v>104741</c:v>
                </c:pt>
                <c:pt idx="30" formatCode="#,##0">
                  <c:v>112216</c:v>
                </c:pt>
                <c:pt idx="31" formatCode="#,##0">
                  <c:v>119806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5F-1437-42A1-A158-571BE8A96BC1}"/>
            </c:ext>
          </c:extLst>
        </c:ser>
        <c:ser>
          <c:idx val="3"/>
          <c:order val="3"/>
          <c:tx>
            <c:strRef>
              <c:f>'Union County'!$B$1</c:f>
              <c:strCache>
                <c:ptCount val="1"/>
                <c:pt idx="0">
                  <c:v>Historical</c:v>
                </c:pt>
              </c:strCache>
            </c:strRef>
          </c:tx>
          <c:spPr>
            <a:ln w="25400">
              <a:solidFill>
                <a:srgbClr val="193764"/>
              </a:solidFill>
            </a:ln>
          </c:spPr>
          <c:marker>
            <c:symbol val="circle"/>
            <c:size val="5"/>
            <c:spPr>
              <a:solidFill>
                <a:srgbClr val="193764"/>
              </a:solidFill>
              <a:ln>
                <a:solidFill>
                  <a:srgbClr val="193764"/>
                </a:solidFill>
              </a:ln>
            </c:spPr>
          </c:marker>
          <c:dLbls>
            <c:dLbl>
              <c:idx val="0"/>
              <c:layout>
                <c:manualLayout>
                  <c:x val="1.0797525309336333E-2"/>
                  <c:y val="5.1885740559802197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0-1437-42A1-A158-571BE8A96BC1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1-1437-42A1-A158-571BE8A96BC1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2-1437-42A1-A158-571BE8A96BC1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3-1437-42A1-A158-571BE8A96BC1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4-1437-42A1-A158-571BE8A96BC1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5-1437-42A1-A158-571BE8A96BC1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6-1437-42A1-A158-571BE8A96BC1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7-1437-42A1-A158-571BE8A96BC1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8-1437-42A1-A158-571BE8A96BC1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9-1437-42A1-A158-571BE8A96BC1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A-1437-42A1-A158-571BE8A96BC1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B-1437-42A1-A158-571BE8A96BC1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C-1437-42A1-A158-571BE8A96BC1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D-1437-42A1-A158-571BE8A96BC1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E-1437-42A1-A158-571BE8A96BC1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F-1437-42A1-A158-571BE8A96BC1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0-1437-42A1-A158-571BE8A96BC1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1-1437-42A1-A158-571BE8A96BC1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2-1437-42A1-A158-571BE8A96BC1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3-1437-42A1-A158-571BE8A96BC1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4-1437-42A1-A158-571BE8A96BC1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5-1437-42A1-A158-571BE8A96BC1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6-1437-42A1-A158-571BE8A96BC1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7-1437-42A1-A158-571BE8A96BC1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8-1437-42A1-A158-571BE8A96BC1}"/>
                </c:ext>
              </c:extLst>
            </c:dLbl>
            <c:dLbl>
              <c:idx val="25"/>
              <c:layout>
                <c:manualLayout>
                  <c:x val="-3.0472315960504995E-2"/>
                  <c:y val="0.10784681111941299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9-1437-42A1-A158-571BE8A96BC1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A-1437-42A1-A158-571BE8A96BC1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B-1437-42A1-A158-571BE8A96BC1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C-1437-42A1-A158-571BE8A96BC1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D-1437-42A1-A158-571BE8A96BC1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E-1437-42A1-A158-571BE8A96BC1}"/>
                </c:ext>
              </c:extLst>
            </c:dLbl>
            <c:dLbl>
              <c:idx val="3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F-1437-42A1-A158-571BE8A96BC1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'Union County'!$A$2:$A$33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'Union County'!$B$2:$B$33</c:f>
              <c:numCache>
                <c:formatCode>#,##0</c:formatCode>
                <c:ptCount val="32"/>
                <c:pt idx="0">
                  <c:v>41338</c:v>
                </c:pt>
                <c:pt idx="1">
                  <c:v>42859</c:v>
                </c:pt>
                <c:pt idx="2">
                  <c:v>43517</c:v>
                </c:pt>
                <c:pt idx="3">
                  <c:v>44665</c:v>
                </c:pt>
                <c:pt idx="4">
                  <c:v>45819</c:v>
                </c:pt>
                <c:pt idx="5">
                  <c:v>46952</c:v>
                </c:pt>
                <c:pt idx="6">
                  <c:v>48589</c:v>
                </c:pt>
                <c:pt idx="7">
                  <c:v>49906</c:v>
                </c:pt>
                <c:pt idx="8">
                  <c:v>50856</c:v>
                </c:pt>
                <c:pt idx="9">
                  <c:v>51798</c:v>
                </c:pt>
                <c:pt idx="10">
                  <c:v>52538</c:v>
                </c:pt>
                <c:pt idx="11">
                  <c:v>53481</c:v>
                </c:pt>
                <c:pt idx="12">
                  <c:v>53482</c:v>
                </c:pt>
                <c:pt idx="13">
                  <c:v>54429</c:v>
                </c:pt>
                <c:pt idx="14">
                  <c:v>55075</c:v>
                </c:pt>
                <c:pt idx="15">
                  <c:v>55990</c:v>
                </c:pt>
                <c:pt idx="16">
                  <c:v>57502</c:v>
                </c:pt>
                <c:pt idx="17">
                  <c:v>59047</c:v>
                </c:pt>
                <c:pt idx="18">
                  <c:v>60345</c:v>
                </c:pt>
                <c:pt idx="19">
                  <c:v>61867</c:v>
                </c:pt>
                <c:pt idx="20">
                  <c:v>63069</c:v>
                </c:pt>
                <c:pt idx="21">
                  <c:v>65101</c:v>
                </c:pt>
                <c:pt idx="22">
                  <c:v>66942</c:v>
                </c:pt>
                <c:pt idx="23">
                  <c:v>69830</c:v>
                </c:pt>
                <c:pt idx="24">
                  <c:v>71983</c:v>
                </c:pt>
                <c:pt idx="25">
                  <c:v>73446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80-1437-42A1-A158-571BE8A96BC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0150001"/>
        <c:axId val="50150002"/>
      </c:scatterChart>
      <c:valAx>
        <c:axId val="50150001"/>
        <c:scaling>
          <c:orientation val="minMax"/>
          <c:max val="2055"/>
          <c:min val="2000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 baseline="0"/>
            </a:pPr>
            <a:endParaRPr lang="en-US"/>
          </a:p>
        </c:txPr>
        <c:crossAx val="50150002"/>
        <c:crosses val="autoZero"/>
        <c:crossBetween val="midCat"/>
        <c:majorUnit val="5"/>
      </c:valAx>
      <c:valAx>
        <c:axId val="5015000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 baseline="0"/>
            </a:pPr>
            <a:endParaRPr lang="en-US"/>
          </a:p>
        </c:txPr>
        <c:crossAx val="50150001"/>
        <c:crosses val="autoZero"/>
        <c:crossBetween val="midCat"/>
      </c:valAx>
    </c:plotArea>
    <c:legend>
      <c:legendPos val="b"/>
      <c:layout>
        <c:manualLayout>
          <c:xMode val="edge"/>
          <c:yMode val="edge"/>
          <c:x val="0.13"/>
          <c:y val="0.87"/>
          <c:w val="0.65"/>
          <c:h val="0.1"/>
        </c:manualLayout>
      </c:layout>
      <c:overlay val="0"/>
      <c:txPr>
        <a:bodyPr/>
        <a:lstStyle/>
        <a:p>
          <a:pPr>
            <a:defRPr sz="1400" baseline="0"/>
          </a:pPr>
          <a:endParaRPr lang="en-US"/>
        </a:p>
      </c:txPr>
    </c:legend>
    <c:plotVisOnly val="1"/>
    <c:dispBlanksAs val="gap"/>
    <c:showDLblsOverMax val="0"/>
  </c:chart>
  <c:externalData r:id="rId2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/>
          <a:lstStyle/>
          <a:p>
            <a:pPr>
              <a:defRPr/>
            </a:pPr>
            <a:r>
              <a:rPr lang="en-US" dirty="0"/>
              <a:t>Historical and </a:t>
            </a:r>
            <a:r>
              <a:rPr lang="en-US" sz="1800" b="1" i="0" u="none" strike="noStrike" kern="1200" baseline="0" dirty="0">
                <a:solidFill>
                  <a:prstClr val="black"/>
                </a:solidFill>
              </a:rPr>
              <a:t>Projected</a:t>
            </a:r>
            <a:r>
              <a:rPr lang="en-US" dirty="0"/>
              <a:t> Population - Columbus MSA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13"/>
          <c:y val="0.12"/>
          <c:w val="0.75"/>
          <c:h val="0.65"/>
        </c:manualLayout>
      </c:layout>
      <c:scatterChart>
        <c:scatterStyle val="lineMarker"/>
        <c:varyColors val="0"/>
        <c:ser>
          <c:idx val="0"/>
          <c:order val="0"/>
          <c:tx>
            <c:strRef>
              <c:f>'Columbus MSA'!$C$1</c:f>
              <c:strCache>
                <c:ptCount val="1"/>
                <c:pt idx="0">
                  <c:v>25th percentile migration</c:v>
                </c:pt>
              </c:strCache>
            </c:strRef>
          </c:tx>
          <c:spPr>
            <a:ln w="25400">
              <a:solidFill>
                <a:srgbClr val="597C3E"/>
              </a:solidFill>
            </a:ln>
          </c:spPr>
          <c:marker>
            <c:symbol val="square"/>
            <c:size val="5"/>
            <c:spPr>
              <a:solidFill>
                <a:srgbClr val="597C3E"/>
              </a:solidFill>
              <a:ln>
                <a:solidFill>
                  <a:srgbClr val="597C3E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0735-4F55-BE11-4C43E5205FC3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735-4F55-BE11-4C43E5205FC3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0735-4F55-BE11-4C43E5205FC3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735-4F55-BE11-4C43E5205FC3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0735-4F55-BE11-4C43E5205FC3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735-4F55-BE11-4C43E5205FC3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0735-4F55-BE11-4C43E5205FC3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735-4F55-BE11-4C43E5205FC3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0735-4F55-BE11-4C43E5205FC3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735-4F55-BE11-4C43E5205FC3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0735-4F55-BE11-4C43E5205FC3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735-4F55-BE11-4C43E5205FC3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0735-4F55-BE11-4C43E5205FC3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735-4F55-BE11-4C43E5205FC3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0735-4F55-BE11-4C43E5205FC3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735-4F55-BE11-4C43E5205FC3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0-0735-4F55-BE11-4C43E5205FC3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0735-4F55-BE11-4C43E5205FC3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2-0735-4F55-BE11-4C43E5205FC3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0735-4F55-BE11-4C43E5205FC3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4-0735-4F55-BE11-4C43E5205FC3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5-0735-4F55-BE11-4C43E5205FC3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6-0735-4F55-BE11-4C43E5205FC3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7-0735-4F55-BE11-4C43E5205FC3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8-0735-4F55-BE11-4C43E5205FC3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9-0735-4F55-BE11-4C43E5205FC3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A-0735-4F55-BE11-4C43E5205FC3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B-0735-4F55-BE11-4C43E5205FC3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C-0735-4F55-BE11-4C43E5205FC3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D-0735-4F55-BE11-4C43E5205FC3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E-0735-4F55-BE11-4C43E5205FC3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'Columbus MSA'!$A$2:$A$33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'Columbus MSA'!$C$2:$C$33</c:f>
              <c:numCache>
                <c:formatCode>General</c:formatCode>
                <c:ptCount val="32"/>
                <c:pt idx="25" formatCode="#,##0">
                  <c:v>2242028</c:v>
                </c:pt>
                <c:pt idx="26" formatCode="#,##0">
                  <c:v>2319023</c:v>
                </c:pt>
                <c:pt idx="27" formatCode="#,##0">
                  <c:v>2377958</c:v>
                </c:pt>
                <c:pt idx="28" formatCode="#,##0">
                  <c:v>2418888</c:v>
                </c:pt>
                <c:pt idx="29" formatCode="#,##0">
                  <c:v>2448713</c:v>
                </c:pt>
                <c:pt idx="30" formatCode="#,##0">
                  <c:v>2471673</c:v>
                </c:pt>
                <c:pt idx="31" formatCode="#,##0">
                  <c:v>2488953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1F-0735-4F55-BE11-4C43E5205FC3}"/>
            </c:ext>
          </c:extLst>
        </c:ser>
        <c:ser>
          <c:idx val="1"/>
          <c:order val="1"/>
          <c:tx>
            <c:strRef>
              <c:f>'Columbus MSA'!$D$1</c:f>
              <c:strCache>
                <c:ptCount val="1"/>
                <c:pt idx="0">
                  <c:v>50th percentile migration</c:v>
                </c:pt>
              </c:strCache>
            </c:strRef>
          </c:tx>
          <c:spPr>
            <a:ln w="25400">
              <a:solidFill>
                <a:srgbClr val="3D9BB1"/>
              </a:solidFill>
            </a:ln>
          </c:spPr>
          <c:marker>
            <c:symbol val="triangle"/>
            <c:size val="5"/>
            <c:spPr>
              <a:solidFill>
                <a:srgbClr val="3D9BB1"/>
              </a:solidFill>
              <a:ln>
                <a:solidFill>
                  <a:srgbClr val="3D9BB1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0-0735-4F55-BE11-4C43E5205FC3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1-0735-4F55-BE11-4C43E5205FC3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2-0735-4F55-BE11-4C43E5205FC3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3-0735-4F55-BE11-4C43E5205FC3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4-0735-4F55-BE11-4C43E5205FC3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5-0735-4F55-BE11-4C43E5205FC3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6-0735-4F55-BE11-4C43E5205FC3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7-0735-4F55-BE11-4C43E5205FC3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8-0735-4F55-BE11-4C43E5205FC3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9-0735-4F55-BE11-4C43E5205FC3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A-0735-4F55-BE11-4C43E5205FC3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B-0735-4F55-BE11-4C43E5205FC3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C-0735-4F55-BE11-4C43E5205FC3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D-0735-4F55-BE11-4C43E5205FC3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E-0735-4F55-BE11-4C43E5205FC3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F-0735-4F55-BE11-4C43E5205FC3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0-0735-4F55-BE11-4C43E5205FC3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1-0735-4F55-BE11-4C43E5205FC3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2-0735-4F55-BE11-4C43E5205FC3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3-0735-4F55-BE11-4C43E5205FC3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4-0735-4F55-BE11-4C43E5205FC3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5-0735-4F55-BE11-4C43E5205FC3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6-0735-4F55-BE11-4C43E5205FC3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7-0735-4F55-BE11-4C43E5205FC3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8-0735-4F55-BE11-4C43E5205FC3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9-0735-4F55-BE11-4C43E5205FC3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A-0735-4F55-BE11-4C43E5205FC3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B-0735-4F55-BE11-4C43E5205FC3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C-0735-4F55-BE11-4C43E5205FC3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D-0735-4F55-BE11-4C43E5205FC3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E-0735-4F55-BE11-4C43E5205FC3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'Columbus MSA'!$A$2:$A$33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'Columbus MSA'!$D$2:$D$33</c:f>
              <c:numCache>
                <c:formatCode>General</c:formatCode>
                <c:ptCount val="32"/>
                <c:pt idx="25" formatCode="#,##0">
                  <c:v>2242028</c:v>
                </c:pt>
                <c:pt idx="26" formatCode="#,##0">
                  <c:v>2344408</c:v>
                </c:pt>
                <c:pt idx="27" formatCode="#,##0">
                  <c:v>2429998</c:v>
                </c:pt>
                <c:pt idx="28" formatCode="#,##0">
                  <c:v>2499288</c:v>
                </c:pt>
                <c:pt idx="29" formatCode="#,##0">
                  <c:v>2558373</c:v>
                </c:pt>
                <c:pt idx="30" formatCode="#,##0">
                  <c:v>2610998</c:v>
                </c:pt>
                <c:pt idx="31" formatCode="#,##0">
                  <c:v>2658193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3F-0735-4F55-BE11-4C43E5205FC3}"/>
            </c:ext>
          </c:extLst>
        </c:ser>
        <c:ser>
          <c:idx val="2"/>
          <c:order val="2"/>
          <c:tx>
            <c:strRef>
              <c:f>'Columbus MSA'!$E$1</c:f>
              <c:strCache>
                <c:ptCount val="1"/>
                <c:pt idx="0">
                  <c:v>75th percentile migration</c:v>
                </c:pt>
              </c:strCache>
            </c:strRef>
          </c:tx>
          <c:spPr>
            <a:ln w="25400">
              <a:solidFill>
                <a:srgbClr val="D95F27"/>
              </a:solidFill>
            </a:ln>
          </c:spPr>
          <c:marker>
            <c:symbol val="diamond"/>
            <c:size val="5"/>
            <c:spPr>
              <a:solidFill>
                <a:srgbClr val="D95F27"/>
              </a:solidFill>
              <a:ln>
                <a:solidFill>
                  <a:srgbClr val="D95F27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0-0735-4F55-BE11-4C43E5205FC3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1-0735-4F55-BE11-4C43E5205FC3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2-0735-4F55-BE11-4C43E5205FC3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3-0735-4F55-BE11-4C43E5205FC3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4-0735-4F55-BE11-4C43E5205FC3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5-0735-4F55-BE11-4C43E5205FC3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6-0735-4F55-BE11-4C43E5205FC3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7-0735-4F55-BE11-4C43E5205FC3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8-0735-4F55-BE11-4C43E5205FC3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9-0735-4F55-BE11-4C43E5205FC3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A-0735-4F55-BE11-4C43E5205FC3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B-0735-4F55-BE11-4C43E5205FC3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C-0735-4F55-BE11-4C43E5205FC3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D-0735-4F55-BE11-4C43E5205FC3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E-0735-4F55-BE11-4C43E5205FC3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F-0735-4F55-BE11-4C43E5205FC3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0-0735-4F55-BE11-4C43E5205FC3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1-0735-4F55-BE11-4C43E5205FC3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2-0735-4F55-BE11-4C43E5205FC3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3-0735-4F55-BE11-4C43E5205FC3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4-0735-4F55-BE11-4C43E5205FC3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5-0735-4F55-BE11-4C43E5205FC3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6-0735-4F55-BE11-4C43E5205FC3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7-0735-4F55-BE11-4C43E5205FC3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8-0735-4F55-BE11-4C43E5205FC3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9-0735-4F55-BE11-4C43E5205FC3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A-0735-4F55-BE11-4C43E5205FC3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B-0735-4F55-BE11-4C43E5205FC3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C-0735-4F55-BE11-4C43E5205FC3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D-0735-4F55-BE11-4C43E5205FC3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E-0735-4F55-BE11-4C43E5205FC3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'Columbus MSA'!$A$2:$A$33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'Columbus MSA'!$E$2:$E$33</c:f>
              <c:numCache>
                <c:formatCode>General</c:formatCode>
                <c:ptCount val="32"/>
                <c:pt idx="25" formatCode="#,##0">
                  <c:v>2242028</c:v>
                </c:pt>
                <c:pt idx="26" formatCode="#,##0">
                  <c:v>2375318</c:v>
                </c:pt>
                <c:pt idx="27" formatCode="#,##0">
                  <c:v>2493268</c:v>
                </c:pt>
                <c:pt idx="28" formatCode="#,##0">
                  <c:v>2596693</c:v>
                </c:pt>
                <c:pt idx="29" formatCode="#,##0">
                  <c:v>2691173</c:v>
                </c:pt>
                <c:pt idx="30" formatCode="#,##0">
                  <c:v>2779923</c:v>
                </c:pt>
                <c:pt idx="31" formatCode="#,##0">
                  <c:v>2863678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5F-0735-4F55-BE11-4C43E5205FC3}"/>
            </c:ext>
          </c:extLst>
        </c:ser>
        <c:ser>
          <c:idx val="3"/>
          <c:order val="3"/>
          <c:tx>
            <c:strRef>
              <c:f>'Columbus MSA'!$B$1</c:f>
              <c:strCache>
                <c:ptCount val="1"/>
                <c:pt idx="0">
                  <c:v>Historical</c:v>
                </c:pt>
              </c:strCache>
            </c:strRef>
          </c:tx>
          <c:spPr>
            <a:ln w="25400">
              <a:solidFill>
                <a:srgbClr val="193764"/>
              </a:solidFill>
            </a:ln>
          </c:spPr>
          <c:marker>
            <c:symbol val="circle"/>
            <c:size val="5"/>
            <c:spPr>
              <a:solidFill>
                <a:srgbClr val="193764"/>
              </a:solidFill>
              <a:ln>
                <a:solidFill>
                  <a:srgbClr val="193764"/>
                </a:solidFill>
              </a:ln>
            </c:spPr>
          </c:marker>
          <c:dLbls>
            <c:dLbl>
              <c:idx val="0"/>
              <c:layout>
                <c:manualLayout>
                  <c:x val="2.2579302587176574E-2"/>
                  <c:y val="7.1350460754449396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0-0735-4F55-BE11-4C43E5205FC3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1-0735-4F55-BE11-4C43E5205FC3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2-0735-4F55-BE11-4C43E5205FC3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3-0735-4F55-BE11-4C43E5205FC3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4-0735-4F55-BE11-4C43E5205FC3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5-0735-4F55-BE11-4C43E5205FC3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6-0735-4F55-BE11-4C43E5205FC3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7-0735-4F55-BE11-4C43E5205FC3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8-0735-4F55-BE11-4C43E5205FC3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9-0735-4F55-BE11-4C43E5205FC3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A-0735-4F55-BE11-4C43E5205FC3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B-0735-4F55-BE11-4C43E5205FC3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C-0735-4F55-BE11-4C43E5205FC3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D-0735-4F55-BE11-4C43E5205FC3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E-0735-4F55-BE11-4C43E5205FC3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F-0735-4F55-BE11-4C43E5205FC3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0-0735-4F55-BE11-4C43E5205FC3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1-0735-4F55-BE11-4C43E5205FC3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2-0735-4F55-BE11-4C43E5205FC3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3-0735-4F55-BE11-4C43E5205FC3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4-0735-4F55-BE11-4C43E5205FC3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5-0735-4F55-BE11-4C43E5205FC3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6-0735-4F55-BE11-4C43E5205FC3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7-0735-4F55-BE11-4C43E5205FC3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8-0735-4F55-BE11-4C43E5205FC3}"/>
                </c:ext>
              </c:extLst>
            </c:dLbl>
            <c:dLbl>
              <c:idx val="25"/>
              <c:layout>
                <c:manualLayout>
                  <c:x val="-4.7261967254093241E-2"/>
                  <c:y val="8.1082820851773096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9-0735-4F55-BE11-4C43E5205FC3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A-0735-4F55-BE11-4C43E5205FC3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B-0735-4F55-BE11-4C43E5205FC3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C-0735-4F55-BE11-4C43E5205FC3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D-0735-4F55-BE11-4C43E5205FC3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E-0735-4F55-BE11-4C43E5205FC3}"/>
                </c:ext>
              </c:extLst>
            </c:dLbl>
            <c:dLbl>
              <c:idx val="3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F-0735-4F55-BE11-4C43E5205FC3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'Columbus MSA'!$A$2:$A$33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'Columbus MSA'!$B$2:$B$33</c:f>
              <c:numCache>
                <c:formatCode>#,##0</c:formatCode>
                <c:ptCount val="32"/>
                <c:pt idx="0">
                  <c:v>1682068</c:v>
                </c:pt>
                <c:pt idx="1">
                  <c:v>1706779</c:v>
                </c:pt>
                <c:pt idx="2">
                  <c:v>1726352</c:v>
                </c:pt>
                <c:pt idx="3">
                  <c:v>1749262</c:v>
                </c:pt>
                <c:pt idx="4">
                  <c:v>1769572</c:v>
                </c:pt>
                <c:pt idx="5">
                  <c:v>1791126</c:v>
                </c:pt>
                <c:pt idx="6">
                  <c:v>1816992</c:v>
                </c:pt>
                <c:pt idx="7">
                  <c:v>1841539</c:v>
                </c:pt>
                <c:pt idx="8">
                  <c:v>1865647</c:v>
                </c:pt>
                <c:pt idx="9">
                  <c:v>1887548</c:v>
                </c:pt>
                <c:pt idx="10">
                  <c:v>1906466</c:v>
                </c:pt>
                <c:pt idx="11">
                  <c:v>1926850</c:v>
                </c:pt>
                <c:pt idx="12">
                  <c:v>1948133</c:v>
                </c:pt>
                <c:pt idx="13">
                  <c:v>1975418</c:v>
                </c:pt>
                <c:pt idx="14">
                  <c:v>2003406</c:v>
                </c:pt>
                <c:pt idx="15">
                  <c:v>2029746</c:v>
                </c:pt>
                <c:pt idx="16">
                  <c:v>2054988</c:v>
                </c:pt>
                <c:pt idx="17">
                  <c:v>2085784</c:v>
                </c:pt>
                <c:pt idx="18">
                  <c:v>2107634</c:v>
                </c:pt>
                <c:pt idx="19">
                  <c:v>2127695</c:v>
                </c:pt>
                <c:pt idx="20">
                  <c:v>2141983</c:v>
                </c:pt>
                <c:pt idx="21">
                  <c:v>2146774</c:v>
                </c:pt>
                <c:pt idx="22">
                  <c:v>2166993</c:v>
                </c:pt>
                <c:pt idx="23">
                  <c:v>2192164</c:v>
                </c:pt>
                <c:pt idx="24">
                  <c:v>2220716</c:v>
                </c:pt>
                <c:pt idx="25">
                  <c:v>2242028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80-0735-4F55-BE11-4C43E5205FC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0160001"/>
        <c:axId val="50160002"/>
      </c:scatterChart>
      <c:valAx>
        <c:axId val="50160001"/>
        <c:scaling>
          <c:orientation val="minMax"/>
          <c:max val="2055"/>
          <c:min val="2000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 baseline="0"/>
            </a:pPr>
            <a:endParaRPr lang="en-US"/>
          </a:p>
        </c:txPr>
        <c:crossAx val="50160002"/>
        <c:crosses val="autoZero"/>
        <c:crossBetween val="midCat"/>
        <c:majorUnit val="5"/>
      </c:valAx>
      <c:valAx>
        <c:axId val="5016000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 baseline="0"/>
            </a:pPr>
            <a:endParaRPr lang="en-US"/>
          </a:p>
        </c:txPr>
        <c:crossAx val="50160001"/>
        <c:crosses val="autoZero"/>
        <c:crossBetween val="midCat"/>
      </c:valAx>
    </c:plotArea>
    <c:legend>
      <c:legendPos val="b"/>
      <c:layout>
        <c:manualLayout>
          <c:xMode val="edge"/>
          <c:yMode val="edge"/>
          <c:x val="0.13"/>
          <c:y val="0.87"/>
          <c:w val="0.65"/>
          <c:h val="0.1"/>
        </c:manualLayout>
      </c:layout>
      <c:overlay val="0"/>
      <c:txPr>
        <a:bodyPr/>
        <a:lstStyle/>
        <a:p>
          <a:pPr>
            <a:defRPr sz="1400" baseline="0"/>
          </a:pPr>
          <a:endParaRPr lang="en-US"/>
        </a:p>
      </c:txPr>
    </c:legend>
    <c:plotVisOnly val="1"/>
    <c:dispBlanksAs val="gap"/>
    <c:showDLblsOverMax val="0"/>
  </c:chart>
  <c:externalData r:id="rId2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/>
          <a:lstStyle/>
          <a:p>
            <a:pPr>
              <a:defRPr/>
            </a:pPr>
            <a:r>
              <a:rPr lang="en-US" dirty="0"/>
              <a:t>Historical and </a:t>
            </a:r>
            <a:r>
              <a:rPr lang="en-US" sz="1800" b="1" i="0" u="none" strike="noStrike" kern="1200" baseline="0" dirty="0">
                <a:solidFill>
                  <a:prstClr val="black"/>
                </a:solidFill>
              </a:rPr>
              <a:t>Projected</a:t>
            </a:r>
            <a:r>
              <a:rPr lang="en-US" dirty="0"/>
              <a:t> Population - MORPC 15-County Region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13"/>
          <c:y val="0.12"/>
          <c:w val="0.75"/>
          <c:h val="0.65"/>
        </c:manualLayout>
      </c:layout>
      <c:scatterChart>
        <c:scatterStyle val="lineMarker"/>
        <c:varyColors val="0"/>
        <c:ser>
          <c:idx val="0"/>
          <c:order val="0"/>
          <c:tx>
            <c:strRef>
              <c:f>'MORPC 15-county region'!$C$1</c:f>
              <c:strCache>
                <c:ptCount val="1"/>
                <c:pt idx="0">
                  <c:v>25th percentile migration</c:v>
                </c:pt>
              </c:strCache>
            </c:strRef>
          </c:tx>
          <c:spPr>
            <a:ln w="25400">
              <a:solidFill>
                <a:srgbClr val="597C3E"/>
              </a:solidFill>
            </a:ln>
          </c:spPr>
          <c:marker>
            <c:symbol val="square"/>
            <c:size val="5"/>
            <c:spPr>
              <a:solidFill>
                <a:srgbClr val="597C3E"/>
              </a:solidFill>
              <a:ln>
                <a:solidFill>
                  <a:srgbClr val="597C3E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B4E4-4F02-8667-3B7076B4633D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B4E4-4F02-8667-3B7076B4633D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B4E4-4F02-8667-3B7076B4633D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B4E4-4F02-8667-3B7076B4633D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B4E4-4F02-8667-3B7076B4633D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B4E4-4F02-8667-3B7076B4633D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B4E4-4F02-8667-3B7076B4633D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B4E4-4F02-8667-3B7076B4633D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B4E4-4F02-8667-3B7076B4633D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B4E4-4F02-8667-3B7076B4633D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B4E4-4F02-8667-3B7076B4633D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B4E4-4F02-8667-3B7076B4633D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B4E4-4F02-8667-3B7076B4633D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B4E4-4F02-8667-3B7076B4633D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B4E4-4F02-8667-3B7076B4633D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B4E4-4F02-8667-3B7076B4633D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0-B4E4-4F02-8667-3B7076B4633D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B4E4-4F02-8667-3B7076B4633D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2-B4E4-4F02-8667-3B7076B4633D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B4E4-4F02-8667-3B7076B4633D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4-B4E4-4F02-8667-3B7076B4633D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5-B4E4-4F02-8667-3B7076B4633D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6-B4E4-4F02-8667-3B7076B4633D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7-B4E4-4F02-8667-3B7076B4633D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8-B4E4-4F02-8667-3B7076B4633D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9-B4E4-4F02-8667-3B7076B4633D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A-B4E4-4F02-8667-3B7076B4633D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B-B4E4-4F02-8667-3B7076B4633D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C-B4E4-4F02-8667-3B7076B4633D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D-B4E4-4F02-8667-3B7076B4633D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E-B4E4-4F02-8667-3B7076B4633D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'MORPC 15-county region'!$A$2:$A$33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'MORPC 15-county region'!$C$2:$C$33</c:f>
              <c:numCache>
                <c:formatCode>General</c:formatCode>
                <c:ptCount val="32"/>
                <c:pt idx="25" formatCode="#,##0">
                  <c:v>2522428</c:v>
                </c:pt>
                <c:pt idx="26" formatCode="#,##0">
                  <c:v>2591773</c:v>
                </c:pt>
                <c:pt idx="27" formatCode="#,##0">
                  <c:v>2640573</c:v>
                </c:pt>
                <c:pt idx="28" formatCode="#,##0">
                  <c:v>2669518</c:v>
                </c:pt>
                <c:pt idx="29" formatCode="#,##0">
                  <c:v>2686538</c:v>
                </c:pt>
                <c:pt idx="30" formatCode="#,##0">
                  <c:v>2696438</c:v>
                </c:pt>
                <c:pt idx="31" formatCode="#,##0">
                  <c:v>2700898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1F-B4E4-4F02-8667-3B7076B4633D}"/>
            </c:ext>
          </c:extLst>
        </c:ser>
        <c:ser>
          <c:idx val="1"/>
          <c:order val="1"/>
          <c:tx>
            <c:strRef>
              <c:f>'MORPC 15-county region'!$D$1</c:f>
              <c:strCache>
                <c:ptCount val="1"/>
                <c:pt idx="0">
                  <c:v>50th percentile migration</c:v>
                </c:pt>
              </c:strCache>
            </c:strRef>
          </c:tx>
          <c:spPr>
            <a:ln w="25400">
              <a:solidFill>
                <a:srgbClr val="3D9BB1"/>
              </a:solidFill>
            </a:ln>
          </c:spPr>
          <c:marker>
            <c:symbol val="triangle"/>
            <c:size val="5"/>
            <c:spPr>
              <a:solidFill>
                <a:srgbClr val="3D9BB1"/>
              </a:solidFill>
              <a:ln>
                <a:solidFill>
                  <a:srgbClr val="3D9BB1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0-B4E4-4F02-8667-3B7076B4633D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1-B4E4-4F02-8667-3B7076B4633D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2-B4E4-4F02-8667-3B7076B4633D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3-B4E4-4F02-8667-3B7076B4633D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4-B4E4-4F02-8667-3B7076B4633D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5-B4E4-4F02-8667-3B7076B4633D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6-B4E4-4F02-8667-3B7076B4633D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7-B4E4-4F02-8667-3B7076B4633D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8-B4E4-4F02-8667-3B7076B4633D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9-B4E4-4F02-8667-3B7076B4633D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A-B4E4-4F02-8667-3B7076B4633D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B-B4E4-4F02-8667-3B7076B4633D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C-B4E4-4F02-8667-3B7076B4633D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D-B4E4-4F02-8667-3B7076B4633D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E-B4E4-4F02-8667-3B7076B4633D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F-B4E4-4F02-8667-3B7076B4633D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0-B4E4-4F02-8667-3B7076B4633D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1-B4E4-4F02-8667-3B7076B4633D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2-B4E4-4F02-8667-3B7076B4633D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3-B4E4-4F02-8667-3B7076B4633D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4-B4E4-4F02-8667-3B7076B4633D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5-B4E4-4F02-8667-3B7076B4633D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6-B4E4-4F02-8667-3B7076B4633D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7-B4E4-4F02-8667-3B7076B4633D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8-B4E4-4F02-8667-3B7076B4633D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9-B4E4-4F02-8667-3B7076B4633D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A-B4E4-4F02-8667-3B7076B4633D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B-B4E4-4F02-8667-3B7076B4633D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C-B4E4-4F02-8667-3B7076B4633D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D-B4E4-4F02-8667-3B7076B4633D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E-B4E4-4F02-8667-3B7076B4633D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'MORPC 15-county region'!$A$2:$A$33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'MORPC 15-county region'!$D$2:$D$33</c:f>
              <c:numCache>
                <c:formatCode>General</c:formatCode>
                <c:ptCount val="32"/>
                <c:pt idx="25" formatCode="#,##0">
                  <c:v>2522428</c:v>
                </c:pt>
                <c:pt idx="26" formatCode="#,##0">
                  <c:v>2621483</c:v>
                </c:pt>
                <c:pt idx="27" formatCode="#,##0">
                  <c:v>2701203</c:v>
                </c:pt>
                <c:pt idx="28" formatCode="#,##0">
                  <c:v>2763033</c:v>
                </c:pt>
                <c:pt idx="29" formatCode="#,##0">
                  <c:v>2813883</c:v>
                </c:pt>
                <c:pt idx="30" formatCode="#,##0">
                  <c:v>2857983</c:v>
                </c:pt>
                <c:pt idx="31" formatCode="#,##0">
                  <c:v>2896873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3F-B4E4-4F02-8667-3B7076B4633D}"/>
            </c:ext>
          </c:extLst>
        </c:ser>
        <c:ser>
          <c:idx val="2"/>
          <c:order val="2"/>
          <c:tx>
            <c:strRef>
              <c:f>'MORPC 15-county region'!$E$1</c:f>
              <c:strCache>
                <c:ptCount val="1"/>
                <c:pt idx="0">
                  <c:v>75th percentile migration</c:v>
                </c:pt>
              </c:strCache>
            </c:strRef>
          </c:tx>
          <c:spPr>
            <a:ln w="25400">
              <a:solidFill>
                <a:srgbClr val="D95F27"/>
              </a:solidFill>
            </a:ln>
          </c:spPr>
          <c:marker>
            <c:symbol val="diamond"/>
            <c:size val="5"/>
            <c:spPr>
              <a:solidFill>
                <a:srgbClr val="D95F27"/>
              </a:solidFill>
              <a:ln>
                <a:solidFill>
                  <a:srgbClr val="D95F27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0-B4E4-4F02-8667-3B7076B4633D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1-B4E4-4F02-8667-3B7076B4633D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2-B4E4-4F02-8667-3B7076B4633D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3-B4E4-4F02-8667-3B7076B4633D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4-B4E4-4F02-8667-3B7076B4633D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5-B4E4-4F02-8667-3B7076B4633D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6-B4E4-4F02-8667-3B7076B4633D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7-B4E4-4F02-8667-3B7076B4633D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8-B4E4-4F02-8667-3B7076B4633D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9-B4E4-4F02-8667-3B7076B4633D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A-B4E4-4F02-8667-3B7076B4633D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B-B4E4-4F02-8667-3B7076B4633D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C-B4E4-4F02-8667-3B7076B4633D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D-B4E4-4F02-8667-3B7076B4633D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E-B4E4-4F02-8667-3B7076B4633D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F-B4E4-4F02-8667-3B7076B4633D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0-B4E4-4F02-8667-3B7076B4633D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1-B4E4-4F02-8667-3B7076B4633D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2-B4E4-4F02-8667-3B7076B4633D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3-B4E4-4F02-8667-3B7076B4633D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4-B4E4-4F02-8667-3B7076B4633D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5-B4E4-4F02-8667-3B7076B4633D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6-B4E4-4F02-8667-3B7076B4633D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7-B4E4-4F02-8667-3B7076B4633D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8-B4E4-4F02-8667-3B7076B4633D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9-B4E4-4F02-8667-3B7076B4633D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A-B4E4-4F02-8667-3B7076B4633D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B-B4E4-4F02-8667-3B7076B4633D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C-B4E4-4F02-8667-3B7076B4633D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D-B4E4-4F02-8667-3B7076B4633D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E-B4E4-4F02-8667-3B7076B4633D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'MORPC 15-county region'!$A$2:$A$33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'MORPC 15-county region'!$E$2:$E$33</c:f>
              <c:numCache>
                <c:formatCode>General</c:formatCode>
                <c:ptCount val="32"/>
                <c:pt idx="25" formatCode="#,##0">
                  <c:v>2522428</c:v>
                </c:pt>
                <c:pt idx="26" formatCode="#,##0">
                  <c:v>2655423</c:v>
                </c:pt>
                <c:pt idx="27" formatCode="#,##0">
                  <c:v>2770558</c:v>
                </c:pt>
                <c:pt idx="28" formatCode="#,##0">
                  <c:v>2869668</c:v>
                </c:pt>
                <c:pt idx="29" formatCode="#,##0">
                  <c:v>2959158</c:v>
                </c:pt>
                <c:pt idx="30" formatCode="#,##0">
                  <c:v>3042688</c:v>
                </c:pt>
                <c:pt idx="31" formatCode="#,##0">
                  <c:v>3121463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5F-B4E4-4F02-8667-3B7076B4633D}"/>
            </c:ext>
          </c:extLst>
        </c:ser>
        <c:ser>
          <c:idx val="3"/>
          <c:order val="3"/>
          <c:tx>
            <c:strRef>
              <c:f>'MORPC 15-county region'!$B$1</c:f>
              <c:strCache>
                <c:ptCount val="1"/>
                <c:pt idx="0">
                  <c:v>Historical</c:v>
                </c:pt>
              </c:strCache>
            </c:strRef>
          </c:tx>
          <c:spPr>
            <a:ln w="25400">
              <a:solidFill>
                <a:srgbClr val="193764"/>
              </a:solidFill>
            </a:ln>
          </c:spPr>
          <c:marker>
            <c:symbol val="circle"/>
            <c:size val="5"/>
            <c:spPr>
              <a:solidFill>
                <a:srgbClr val="193764"/>
              </a:solidFill>
              <a:ln>
                <a:solidFill>
                  <a:srgbClr val="193764"/>
                </a:solidFill>
              </a:ln>
            </c:spPr>
          </c:marker>
          <c:dLbls>
            <c:dLbl>
              <c:idx val="0"/>
              <c:layout>
                <c:manualLayout>
                  <c:x val="2.5753905761779779E-2"/>
                  <c:y val="5.1885740559802287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0-B4E4-4F02-8667-3B7076B4633D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1-B4E4-4F02-8667-3B7076B4633D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2-B4E4-4F02-8667-3B7076B4633D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3-B4E4-4F02-8667-3B7076B4633D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4-B4E4-4F02-8667-3B7076B4633D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5-B4E4-4F02-8667-3B7076B4633D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6-B4E4-4F02-8667-3B7076B4633D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7-B4E4-4F02-8667-3B7076B4633D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8-B4E4-4F02-8667-3B7076B4633D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9-B4E4-4F02-8667-3B7076B4633D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A-B4E4-4F02-8667-3B7076B4633D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B-B4E4-4F02-8667-3B7076B4633D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C-B4E4-4F02-8667-3B7076B4633D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D-B4E4-4F02-8667-3B7076B4633D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E-B4E4-4F02-8667-3B7076B4633D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F-B4E4-4F02-8667-3B7076B4633D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0-B4E4-4F02-8667-3B7076B4633D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1-B4E4-4F02-8667-3B7076B4633D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2-B4E4-4F02-8667-3B7076B4633D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3-B4E4-4F02-8667-3B7076B4633D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4-B4E4-4F02-8667-3B7076B4633D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5-B4E4-4F02-8667-3B7076B4633D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6-B4E4-4F02-8667-3B7076B4633D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7-B4E4-4F02-8667-3B7076B4633D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8-B4E4-4F02-8667-3B7076B4633D}"/>
                </c:ext>
              </c:extLst>
            </c:dLbl>
            <c:dLbl>
              <c:idx val="25"/>
              <c:layout>
                <c:manualLayout>
                  <c:x val="-4.2500062492188476E-2"/>
                  <c:y val="6.8917370730118582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9-B4E4-4F02-8667-3B7076B4633D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A-B4E4-4F02-8667-3B7076B4633D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B-B4E4-4F02-8667-3B7076B4633D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C-B4E4-4F02-8667-3B7076B4633D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D-B4E4-4F02-8667-3B7076B4633D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E-B4E4-4F02-8667-3B7076B4633D}"/>
                </c:ext>
              </c:extLst>
            </c:dLbl>
            <c:dLbl>
              <c:idx val="3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F-B4E4-4F02-8667-3B7076B4633D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'MORPC 15-county region'!$A$2:$A$33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'MORPC 15-county region'!$B$2:$B$33</c:f>
              <c:numCache>
                <c:formatCode>#,##0</c:formatCode>
                <c:ptCount val="32"/>
                <c:pt idx="0">
                  <c:v>1950805</c:v>
                </c:pt>
                <c:pt idx="1">
                  <c:v>1976410</c:v>
                </c:pt>
                <c:pt idx="2">
                  <c:v>1997739</c:v>
                </c:pt>
                <c:pt idx="3">
                  <c:v>2022581</c:v>
                </c:pt>
                <c:pt idx="4">
                  <c:v>2043896</c:v>
                </c:pt>
                <c:pt idx="5">
                  <c:v>2066931</c:v>
                </c:pt>
                <c:pt idx="6">
                  <c:v>2093863</c:v>
                </c:pt>
                <c:pt idx="7">
                  <c:v>2120350</c:v>
                </c:pt>
                <c:pt idx="8">
                  <c:v>2145521</c:v>
                </c:pt>
                <c:pt idx="9">
                  <c:v>2167524</c:v>
                </c:pt>
                <c:pt idx="10">
                  <c:v>2186934</c:v>
                </c:pt>
                <c:pt idx="11">
                  <c:v>2207151</c:v>
                </c:pt>
                <c:pt idx="12">
                  <c:v>2227311</c:v>
                </c:pt>
                <c:pt idx="13">
                  <c:v>2254486</c:v>
                </c:pt>
                <c:pt idx="14">
                  <c:v>2282556</c:v>
                </c:pt>
                <c:pt idx="15">
                  <c:v>2308495</c:v>
                </c:pt>
                <c:pt idx="16">
                  <c:v>2333694</c:v>
                </c:pt>
                <c:pt idx="17">
                  <c:v>2365217</c:v>
                </c:pt>
                <c:pt idx="18">
                  <c:v>2387781</c:v>
                </c:pt>
                <c:pt idx="19">
                  <c:v>2407967</c:v>
                </c:pt>
                <c:pt idx="20">
                  <c:v>2422325</c:v>
                </c:pt>
                <c:pt idx="21">
                  <c:v>2426120</c:v>
                </c:pt>
                <c:pt idx="22">
                  <c:v>2445878</c:v>
                </c:pt>
                <c:pt idx="23">
                  <c:v>2471227</c:v>
                </c:pt>
                <c:pt idx="24">
                  <c:v>2499936</c:v>
                </c:pt>
                <c:pt idx="25">
                  <c:v>2522428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80-B4E4-4F02-8667-3B7076B4633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0170001"/>
        <c:axId val="50170002"/>
      </c:scatterChart>
      <c:valAx>
        <c:axId val="50170001"/>
        <c:scaling>
          <c:orientation val="minMax"/>
          <c:max val="2055"/>
          <c:min val="2000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 baseline="0"/>
            </a:pPr>
            <a:endParaRPr lang="en-US"/>
          </a:p>
        </c:txPr>
        <c:crossAx val="50170002"/>
        <c:crosses val="autoZero"/>
        <c:crossBetween val="midCat"/>
        <c:majorUnit val="5"/>
      </c:valAx>
      <c:valAx>
        <c:axId val="5017000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 baseline="0"/>
            </a:pPr>
            <a:endParaRPr lang="en-US"/>
          </a:p>
        </c:txPr>
        <c:crossAx val="50170001"/>
        <c:crosses val="autoZero"/>
        <c:crossBetween val="midCat"/>
      </c:valAx>
    </c:plotArea>
    <c:legend>
      <c:legendPos val="b"/>
      <c:layout>
        <c:manualLayout>
          <c:xMode val="edge"/>
          <c:yMode val="edge"/>
          <c:x val="0.13"/>
          <c:y val="0.87"/>
          <c:w val="0.65"/>
          <c:h val="0.1"/>
        </c:manualLayout>
      </c:layout>
      <c:overlay val="0"/>
      <c:txPr>
        <a:bodyPr/>
        <a:lstStyle/>
        <a:p>
          <a:pPr>
            <a:defRPr sz="1400" baseline="0"/>
          </a:pPr>
          <a:endParaRPr lang="en-US"/>
        </a:p>
      </c:txPr>
    </c:legend>
    <c:plotVisOnly val="1"/>
    <c:dispBlanksAs val="gap"/>
    <c:showDLblsOverMax val="0"/>
  </c:chart>
  <c:externalData r:id="rId2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/>
          <a:lstStyle/>
          <a:p>
            <a:pPr>
              <a:defRPr/>
            </a:pPr>
            <a:r>
              <a:rPr lang="en-US" dirty="0"/>
              <a:t>Historical and </a:t>
            </a:r>
            <a:r>
              <a:rPr lang="en-US" sz="1800" b="1" i="0" u="none" strike="noStrike" kern="1200" baseline="0" dirty="0">
                <a:solidFill>
                  <a:prstClr val="black"/>
                </a:solidFill>
              </a:rPr>
              <a:t>Projected</a:t>
            </a:r>
            <a:r>
              <a:rPr lang="en-US" dirty="0"/>
              <a:t> Population - MORPC 10-County Region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13"/>
          <c:y val="0.12"/>
          <c:w val="0.75"/>
          <c:h val="0.65"/>
        </c:manualLayout>
      </c:layout>
      <c:scatterChart>
        <c:scatterStyle val="lineMarker"/>
        <c:varyColors val="0"/>
        <c:ser>
          <c:idx val="0"/>
          <c:order val="0"/>
          <c:tx>
            <c:strRef>
              <c:f>'MORPC 10-county region'!$C$1</c:f>
              <c:strCache>
                <c:ptCount val="1"/>
                <c:pt idx="0">
                  <c:v>25th percentile migration</c:v>
                </c:pt>
              </c:strCache>
            </c:strRef>
          </c:tx>
          <c:spPr>
            <a:ln w="25400">
              <a:solidFill>
                <a:srgbClr val="597C3E"/>
              </a:solidFill>
            </a:ln>
          </c:spPr>
          <c:marker>
            <c:symbol val="square"/>
            <c:size val="5"/>
            <c:spPr>
              <a:solidFill>
                <a:srgbClr val="597C3E"/>
              </a:solidFill>
              <a:ln>
                <a:solidFill>
                  <a:srgbClr val="597C3E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EEE8-4199-9685-F8E84A70D37F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EE8-4199-9685-F8E84A70D37F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EEE8-4199-9685-F8E84A70D37F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EE8-4199-9685-F8E84A70D37F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EEE8-4199-9685-F8E84A70D37F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EE8-4199-9685-F8E84A70D37F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EEE8-4199-9685-F8E84A70D37F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EE8-4199-9685-F8E84A70D37F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EEE8-4199-9685-F8E84A70D37F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EEE8-4199-9685-F8E84A70D37F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EEE8-4199-9685-F8E84A70D37F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EE8-4199-9685-F8E84A70D37F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EEE8-4199-9685-F8E84A70D37F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EEE8-4199-9685-F8E84A70D37F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EEE8-4199-9685-F8E84A70D37F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EEE8-4199-9685-F8E84A70D37F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0-EEE8-4199-9685-F8E84A70D37F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EEE8-4199-9685-F8E84A70D37F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2-EEE8-4199-9685-F8E84A70D37F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EEE8-4199-9685-F8E84A70D37F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4-EEE8-4199-9685-F8E84A70D37F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5-EEE8-4199-9685-F8E84A70D37F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6-EEE8-4199-9685-F8E84A70D37F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7-EEE8-4199-9685-F8E84A70D37F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8-EEE8-4199-9685-F8E84A70D37F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9-EEE8-4199-9685-F8E84A70D37F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A-EEE8-4199-9685-F8E84A70D37F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B-EEE8-4199-9685-F8E84A70D37F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C-EEE8-4199-9685-F8E84A70D37F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D-EEE8-4199-9685-F8E84A70D37F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E-EEE8-4199-9685-F8E84A70D37F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'MORPC 10-county region'!$A$2:$A$33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'MORPC 10-county region'!$C$2:$C$33</c:f>
              <c:numCache>
                <c:formatCode>General</c:formatCode>
                <c:ptCount val="32"/>
                <c:pt idx="25" formatCode="#,##0">
                  <c:v>2307715</c:v>
                </c:pt>
                <c:pt idx="26" formatCode="#,##0">
                  <c:v>2383585</c:v>
                </c:pt>
                <c:pt idx="27" formatCode="#,##0">
                  <c:v>2440685</c:v>
                </c:pt>
                <c:pt idx="28" formatCode="#,##0">
                  <c:v>2479160</c:v>
                </c:pt>
                <c:pt idx="29" formatCode="#,##0">
                  <c:v>2506295</c:v>
                </c:pt>
                <c:pt idx="30" formatCode="#,##0">
                  <c:v>2526775</c:v>
                </c:pt>
                <c:pt idx="31" formatCode="#,##0">
                  <c:v>2541690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1F-EEE8-4199-9685-F8E84A70D37F}"/>
            </c:ext>
          </c:extLst>
        </c:ser>
        <c:ser>
          <c:idx val="1"/>
          <c:order val="1"/>
          <c:tx>
            <c:strRef>
              <c:f>'MORPC 10-county region'!$D$1</c:f>
              <c:strCache>
                <c:ptCount val="1"/>
                <c:pt idx="0">
                  <c:v>50th percentile migration</c:v>
                </c:pt>
              </c:strCache>
            </c:strRef>
          </c:tx>
          <c:spPr>
            <a:ln w="25400">
              <a:solidFill>
                <a:srgbClr val="3D9BB1"/>
              </a:solidFill>
            </a:ln>
          </c:spPr>
          <c:marker>
            <c:symbol val="triangle"/>
            <c:size val="5"/>
            <c:spPr>
              <a:solidFill>
                <a:srgbClr val="3D9BB1"/>
              </a:solidFill>
              <a:ln>
                <a:solidFill>
                  <a:srgbClr val="3D9BB1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0-EEE8-4199-9685-F8E84A70D37F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1-EEE8-4199-9685-F8E84A70D37F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2-EEE8-4199-9685-F8E84A70D37F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3-EEE8-4199-9685-F8E84A70D37F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4-EEE8-4199-9685-F8E84A70D37F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5-EEE8-4199-9685-F8E84A70D37F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6-EEE8-4199-9685-F8E84A70D37F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7-EEE8-4199-9685-F8E84A70D37F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8-EEE8-4199-9685-F8E84A70D37F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9-EEE8-4199-9685-F8E84A70D37F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A-EEE8-4199-9685-F8E84A70D37F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B-EEE8-4199-9685-F8E84A70D37F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C-EEE8-4199-9685-F8E84A70D37F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D-EEE8-4199-9685-F8E84A70D37F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E-EEE8-4199-9685-F8E84A70D37F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F-EEE8-4199-9685-F8E84A70D37F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0-EEE8-4199-9685-F8E84A70D37F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1-EEE8-4199-9685-F8E84A70D37F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2-EEE8-4199-9685-F8E84A70D37F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3-EEE8-4199-9685-F8E84A70D37F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4-EEE8-4199-9685-F8E84A70D37F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5-EEE8-4199-9685-F8E84A70D37F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6-EEE8-4199-9685-F8E84A70D37F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7-EEE8-4199-9685-F8E84A70D37F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8-EEE8-4199-9685-F8E84A70D37F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9-EEE8-4199-9685-F8E84A70D37F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A-EEE8-4199-9685-F8E84A70D37F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B-EEE8-4199-9685-F8E84A70D37F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C-EEE8-4199-9685-F8E84A70D37F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D-EEE8-4199-9685-F8E84A70D37F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E-EEE8-4199-9685-F8E84A70D37F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'MORPC 10-county region'!$A$2:$A$33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'MORPC 10-county region'!$D$2:$D$33</c:f>
              <c:numCache>
                <c:formatCode>General</c:formatCode>
                <c:ptCount val="32"/>
                <c:pt idx="25" formatCode="#,##0">
                  <c:v>2307715</c:v>
                </c:pt>
                <c:pt idx="26" formatCode="#,##0">
                  <c:v>2409885</c:v>
                </c:pt>
                <c:pt idx="27" formatCode="#,##0">
                  <c:v>2494555</c:v>
                </c:pt>
                <c:pt idx="28" formatCode="#,##0">
                  <c:v>2562425</c:v>
                </c:pt>
                <c:pt idx="29" formatCode="#,##0">
                  <c:v>2619875</c:v>
                </c:pt>
                <c:pt idx="30" formatCode="#,##0">
                  <c:v>2671065</c:v>
                </c:pt>
                <c:pt idx="31" formatCode="#,##0">
                  <c:v>2717005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3F-EEE8-4199-9685-F8E84A70D37F}"/>
            </c:ext>
          </c:extLst>
        </c:ser>
        <c:ser>
          <c:idx val="2"/>
          <c:order val="2"/>
          <c:tx>
            <c:strRef>
              <c:f>'MORPC 10-county region'!$E$1</c:f>
              <c:strCache>
                <c:ptCount val="1"/>
                <c:pt idx="0">
                  <c:v>75th percentile migration</c:v>
                </c:pt>
              </c:strCache>
            </c:strRef>
          </c:tx>
          <c:spPr>
            <a:ln w="25400">
              <a:solidFill>
                <a:srgbClr val="D95F27"/>
              </a:solidFill>
            </a:ln>
          </c:spPr>
          <c:marker>
            <c:symbol val="diamond"/>
            <c:size val="5"/>
            <c:spPr>
              <a:solidFill>
                <a:srgbClr val="D95F27"/>
              </a:solidFill>
              <a:ln>
                <a:solidFill>
                  <a:srgbClr val="D95F27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0-EEE8-4199-9685-F8E84A70D37F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1-EEE8-4199-9685-F8E84A70D37F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2-EEE8-4199-9685-F8E84A70D37F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3-EEE8-4199-9685-F8E84A70D37F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4-EEE8-4199-9685-F8E84A70D37F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5-EEE8-4199-9685-F8E84A70D37F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6-EEE8-4199-9685-F8E84A70D37F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7-EEE8-4199-9685-F8E84A70D37F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8-EEE8-4199-9685-F8E84A70D37F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9-EEE8-4199-9685-F8E84A70D37F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A-EEE8-4199-9685-F8E84A70D37F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B-EEE8-4199-9685-F8E84A70D37F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C-EEE8-4199-9685-F8E84A70D37F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D-EEE8-4199-9685-F8E84A70D37F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E-EEE8-4199-9685-F8E84A70D37F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F-EEE8-4199-9685-F8E84A70D37F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0-EEE8-4199-9685-F8E84A70D37F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1-EEE8-4199-9685-F8E84A70D37F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2-EEE8-4199-9685-F8E84A70D37F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3-EEE8-4199-9685-F8E84A70D37F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4-EEE8-4199-9685-F8E84A70D37F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5-EEE8-4199-9685-F8E84A70D37F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6-EEE8-4199-9685-F8E84A70D37F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7-EEE8-4199-9685-F8E84A70D37F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8-EEE8-4199-9685-F8E84A70D37F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9-EEE8-4199-9685-F8E84A70D37F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A-EEE8-4199-9685-F8E84A70D37F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B-EEE8-4199-9685-F8E84A70D37F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C-EEE8-4199-9685-F8E84A70D37F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D-EEE8-4199-9685-F8E84A70D37F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E-EEE8-4199-9685-F8E84A70D37F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'MORPC 10-county region'!$A$2:$A$33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'MORPC 10-county region'!$E$2:$E$33</c:f>
              <c:numCache>
                <c:formatCode>General</c:formatCode>
                <c:ptCount val="32"/>
                <c:pt idx="25" formatCode="#,##0">
                  <c:v>2307715</c:v>
                </c:pt>
                <c:pt idx="26" formatCode="#,##0">
                  <c:v>2442335</c:v>
                </c:pt>
                <c:pt idx="27" formatCode="#,##0">
                  <c:v>2560960</c:v>
                </c:pt>
                <c:pt idx="28" formatCode="#,##0">
                  <c:v>2664625</c:v>
                </c:pt>
                <c:pt idx="29" formatCode="#,##0">
                  <c:v>2759205</c:v>
                </c:pt>
                <c:pt idx="30" formatCode="#,##0">
                  <c:v>2848280</c:v>
                </c:pt>
                <c:pt idx="31" formatCode="#,##0">
                  <c:v>2932555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5F-EEE8-4199-9685-F8E84A70D37F}"/>
            </c:ext>
          </c:extLst>
        </c:ser>
        <c:ser>
          <c:idx val="3"/>
          <c:order val="3"/>
          <c:tx>
            <c:strRef>
              <c:f>'MORPC 10-county region'!$B$1</c:f>
              <c:strCache>
                <c:ptCount val="1"/>
                <c:pt idx="0">
                  <c:v>Historical</c:v>
                </c:pt>
              </c:strCache>
            </c:strRef>
          </c:tx>
          <c:spPr>
            <a:ln w="25400">
              <a:solidFill>
                <a:srgbClr val="193764"/>
              </a:solidFill>
            </a:ln>
          </c:spPr>
          <c:marker>
            <c:symbol val="circle"/>
            <c:size val="5"/>
            <c:spPr>
              <a:solidFill>
                <a:srgbClr val="193764"/>
              </a:solidFill>
              <a:ln>
                <a:solidFill>
                  <a:srgbClr val="193764"/>
                </a:solidFill>
              </a:ln>
            </c:spPr>
          </c:marker>
          <c:dLbls>
            <c:dLbl>
              <c:idx val="0"/>
              <c:layout>
                <c:manualLayout>
                  <c:x val="2.7341207349081364E-2"/>
                  <c:y val="7.621664080311128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0-EEE8-4199-9685-F8E84A70D37F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1-EEE8-4199-9685-F8E84A70D37F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2-EEE8-4199-9685-F8E84A70D37F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3-EEE8-4199-9685-F8E84A70D37F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4-EEE8-4199-9685-F8E84A70D37F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5-EEE8-4199-9685-F8E84A70D37F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6-EEE8-4199-9685-F8E84A70D37F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7-EEE8-4199-9685-F8E84A70D37F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8-EEE8-4199-9685-F8E84A70D37F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9-EEE8-4199-9685-F8E84A70D37F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A-EEE8-4199-9685-F8E84A70D37F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B-EEE8-4199-9685-F8E84A70D37F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C-EEE8-4199-9685-F8E84A70D37F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D-EEE8-4199-9685-F8E84A70D37F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E-EEE8-4199-9685-F8E84A70D37F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F-EEE8-4199-9685-F8E84A70D37F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0-EEE8-4199-9685-F8E84A70D37F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1-EEE8-4199-9685-F8E84A70D37F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2-EEE8-4199-9685-F8E84A70D37F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3-EEE8-4199-9685-F8E84A70D37F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4-EEE8-4199-9685-F8E84A70D37F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5-EEE8-4199-9685-F8E84A70D37F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6-EEE8-4199-9685-F8E84A70D37F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7-EEE8-4199-9685-F8E84A70D37F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8-EEE8-4199-9685-F8E84A70D37F}"/>
                </c:ext>
              </c:extLst>
            </c:dLbl>
            <c:dLbl>
              <c:idx val="25"/>
              <c:layout>
                <c:manualLayout>
                  <c:x val="-4.8849268841394823E-2"/>
                  <c:y val="8.3515910876103897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9-EEE8-4199-9685-F8E84A70D37F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A-EEE8-4199-9685-F8E84A70D37F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B-EEE8-4199-9685-F8E84A70D37F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C-EEE8-4199-9685-F8E84A70D37F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D-EEE8-4199-9685-F8E84A70D37F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E-EEE8-4199-9685-F8E84A70D37F}"/>
                </c:ext>
              </c:extLst>
            </c:dLbl>
            <c:dLbl>
              <c:idx val="3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F-EEE8-4199-9685-F8E84A70D37F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'MORPC 10-county region'!$A$2:$A$33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'MORPC 10-county region'!$B$2:$B$33</c:f>
              <c:numCache>
                <c:formatCode>#,##0</c:formatCode>
                <c:ptCount val="32"/>
                <c:pt idx="0">
                  <c:v>1740458</c:v>
                </c:pt>
                <c:pt idx="1">
                  <c:v>1765568</c:v>
                </c:pt>
                <c:pt idx="2">
                  <c:v>1785635</c:v>
                </c:pt>
                <c:pt idx="3">
                  <c:v>1809099</c:v>
                </c:pt>
                <c:pt idx="4">
                  <c:v>1829849</c:v>
                </c:pt>
                <c:pt idx="5">
                  <c:v>1851923</c:v>
                </c:pt>
                <c:pt idx="6">
                  <c:v>1878004</c:v>
                </c:pt>
                <c:pt idx="7">
                  <c:v>1902869</c:v>
                </c:pt>
                <c:pt idx="8">
                  <c:v>1927240</c:v>
                </c:pt>
                <c:pt idx="9">
                  <c:v>1949324</c:v>
                </c:pt>
                <c:pt idx="10">
                  <c:v>1968534</c:v>
                </c:pt>
                <c:pt idx="11">
                  <c:v>1989259</c:v>
                </c:pt>
                <c:pt idx="12">
                  <c:v>2010292</c:v>
                </c:pt>
                <c:pt idx="13">
                  <c:v>2038169</c:v>
                </c:pt>
                <c:pt idx="14">
                  <c:v>2066286</c:v>
                </c:pt>
                <c:pt idx="15">
                  <c:v>2092651</c:v>
                </c:pt>
                <c:pt idx="16">
                  <c:v>2118032</c:v>
                </c:pt>
                <c:pt idx="17">
                  <c:v>2149019</c:v>
                </c:pt>
                <c:pt idx="18">
                  <c:v>2171937</c:v>
                </c:pt>
                <c:pt idx="19">
                  <c:v>2192144</c:v>
                </c:pt>
                <c:pt idx="20">
                  <c:v>2206673</c:v>
                </c:pt>
                <c:pt idx="21">
                  <c:v>2210971</c:v>
                </c:pt>
                <c:pt idx="22">
                  <c:v>2231322</c:v>
                </c:pt>
                <c:pt idx="23">
                  <c:v>2256975</c:v>
                </c:pt>
                <c:pt idx="24">
                  <c:v>2285992</c:v>
                </c:pt>
                <c:pt idx="25">
                  <c:v>2307715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80-EEE8-4199-9685-F8E84A70D37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0180001"/>
        <c:axId val="50180002"/>
      </c:scatterChart>
      <c:valAx>
        <c:axId val="50180001"/>
        <c:scaling>
          <c:orientation val="minMax"/>
          <c:max val="2055"/>
          <c:min val="2000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 baseline="0"/>
            </a:pPr>
            <a:endParaRPr lang="en-US"/>
          </a:p>
        </c:txPr>
        <c:crossAx val="50180002"/>
        <c:crosses val="autoZero"/>
        <c:crossBetween val="midCat"/>
        <c:majorUnit val="5"/>
      </c:valAx>
      <c:valAx>
        <c:axId val="5018000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 baseline="0"/>
            </a:pPr>
            <a:endParaRPr lang="en-US"/>
          </a:p>
        </c:txPr>
        <c:crossAx val="50180001"/>
        <c:crosses val="autoZero"/>
        <c:crossBetween val="midCat"/>
      </c:valAx>
    </c:plotArea>
    <c:legend>
      <c:legendPos val="b"/>
      <c:layout>
        <c:manualLayout>
          <c:xMode val="edge"/>
          <c:yMode val="edge"/>
          <c:x val="0.13"/>
          <c:y val="0.87"/>
          <c:w val="0.65"/>
          <c:h val="0.1"/>
        </c:manualLayout>
      </c:layout>
      <c:overlay val="0"/>
      <c:txPr>
        <a:bodyPr/>
        <a:lstStyle/>
        <a:p>
          <a:pPr>
            <a:defRPr sz="1400" baseline="0"/>
          </a:pPr>
          <a:endParaRPr lang="en-US"/>
        </a:p>
      </c:txPr>
    </c:legend>
    <c:plotVisOnly val="1"/>
    <c:dispBlanksAs val="gap"/>
    <c:showDLblsOverMax val="0"/>
  </c:chart>
  <c:externalData r:id="rId2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/>
          <a:lstStyle/>
          <a:p>
            <a:pPr>
              <a:defRPr/>
            </a:pPr>
            <a:r>
              <a:rPr lang="en-US" dirty="0"/>
              <a:t>Historical and </a:t>
            </a:r>
            <a:r>
              <a:rPr lang="en-US" sz="1800" b="1" i="0" u="none" strike="noStrike" kern="1200" baseline="0" dirty="0">
                <a:solidFill>
                  <a:prstClr val="black"/>
                </a:solidFill>
              </a:rPr>
              <a:t>Projected</a:t>
            </a:r>
            <a:r>
              <a:rPr lang="en-US" dirty="0"/>
              <a:t> Population - MORPC 7-County Region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13"/>
          <c:y val="0.12"/>
          <c:w val="0.75"/>
          <c:h val="0.65"/>
        </c:manualLayout>
      </c:layout>
      <c:scatterChart>
        <c:scatterStyle val="lineMarker"/>
        <c:varyColors val="0"/>
        <c:ser>
          <c:idx val="0"/>
          <c:order val="0"/>
          <c:tx>
            <c:strRef>
              <c:f>'MORPC 7-county region'!$C$1</c:f>
              <c:strCache>
                <c:ptCount val="1"/>
                <c:pt idx="0">
                  <c:v>25th percentile migration</c:v>
                </c:pt>
              </c:strCache>
            </c:strRef>
          </c:tx>
          <c:spPr>
            <a:ln w="25400">
              <a:solidFill>
                <a:srgbClr val="597C3E"/>
              </a:solidFill>
            </a:ln>
          </c:spPr>
          <c:marker>
            <c:symbol val="square"/>
            <c:size val="5"/>
            <c:spPr>
              <a:solidFill>
                <a:srgbClr val="597C3E"/>
              </a:solidFill>
              <a:ln>
                <a:solidFill>
                  <a:srgbClr val="597C3E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5B4D-47B4-89B9-1DECC952348A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5B4D-47B4-89B9-1DECC952348A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5B4D-47B4-89B9-1DECC952348A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5B4D-47B4-89B9-1DECC952348A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5B4D-47B4-89B9-1DECC952348A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B4D-47B4-89B9-1DECC952348A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5B4D-47B4-89B9-1DECC952348A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5B4D-47B4-89B9-1DECC952348A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5B4D-47B4-89B9-1DECC952348A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5B4D-47B4-89B9-1DECC952348A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5B4D-47B4-89B9-1DECC952348A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5B4D-47B4-89B9-1DECC952348A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5B4D-47B4-89B9-1DECC952348A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5B4D-47B4-89B9-1DECC952348A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5B4D-47B4-89B9-1DECC952348A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5B4D-47B4-89B9-1DECC952348A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0-5B4D-47B4-89B9-1DECC952348A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5B4D-47B4-89B9-1DECC952348A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2-5B4D-47B4-89B9-1DECC952348A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5B4D-47B4-89B9-1DECC952348A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4-5B4D-47B4-89B9-1DECC952348A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5-5B4D-47B4-89B9-1DECC952348A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6-5B4D-47B4-89B9-1DECC952348A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7-5B4D-47B4-89B9-1DECC952348A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8-5B4D-47B4-89B9-1DECC952348A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9-5B4D-47B4-89B9-1DECC952348A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A-5B4D-47B4-89B9-1DECC952348A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B-5B4D-47B4-89B9-1DECC952348A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C-5B4D-47B4-89B9-1DECC952348A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D-5B4D-47B4-89B9-1DECC952348A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E-5B4D-47B4-89B9-1DECC952348A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'MORPC 7-county region'!$A$2:$A$33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'MORPC 7-county region'!$C$2:$C$33</c:f>
              <c:numCache>
                <c:formatCode>General</c:formatCode>
                <c:ptCount val="32"/>
                <c:pt idx="25" formatCode="#,##0">
                  <c:v>2142293</c:v>
                </c:pt>
                <c:pt idx="26" formatCode="#,##0">
                  <c:v>2221348</c:v>
                </c:pt>
                <c:pt idx="27" formatCode="#,##0">
                  <c:v>2283383</c:v>
                </c:pt>
                <c:pt idx="28" formatCode="#,##0">
                  <c:v>2327983</c:v>
                </c:pt>
                <c:pt idx="29" formatCode="#,##0">
                  <c:v>2361638</c:v>
                </c:pt>
                <c:pt idx="30" formatCode="#,##0">
                  <c:v>2388693</c:v>
                </c:pt>
                <c:pt idx="31" formatCode="#,##0">
                  <c:v>2410033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1F-5B4D-47B4-89B9-1DECC952348A}"/>
            </c:ext>
          </c:extLst>
        </c:ser>
        <c:ser>
          <c:idx val="1"/>
          <c:order val="1"/>
          <c:tx>
            <c:strRef>
              <c:f>'MORPC 7-county region'!$D$1</c:f>
              <c:strCache>
                <c:ptCount val="1"/>
                <c:pt idx="0">
                  <c:v>50th percentile migration</c:v>
                </c:pt>
              </c:strCache>
            </c:strRef>
          </c:tx>
          <c:spPr>
            <a:ln w="25400">
              <a:solidFill>
                <a:srgbClr val="3D9BB1"/>
              </a:solidFill>
            </a:ln>
          </c:spPr>
          <c:marker>
            <c:symbol val="triangle"/>
            <c:size val="5"/>
            <c:spPr>
              <a:solidFill>
                <a:srgbClr val="3D9BB1"/>
              </a:solidFill>
              <a:ln>
                <a:solidFill>
                  <a:srgbClr val="3D9BB1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0-5B4D-47B4-89B9-1DECC952348A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1-5B4D-47B4-89B9-1DECC952348A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2-5B4D-47B4-89B9-1DECC952348A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3-5B4D-47B4-89B9-1DECC952348A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4-5B4D-47B4-89B9-1DECC952348A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5-5B4D-47B4-89B9-1DECC952348A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6-5B4D-47B4-89B9-1DECC952348A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7-5B4D-47B4-89B9-1DECC952348A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8-5B4D-47B4-89B9-1DECC952348A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9-5B4D-47B4-89B9-1DECC952348A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A-5B4D-47B4-89B9-1DECC952348A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B-5B4D-47B4-89B9-1DECC952348A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C-5B4D-47B4-89B9-1DECC952348A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D-5B4D-47B4-89B9-1DECC952348A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E-5B4D-47B4-89B9-1DECC952348A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F-5B4D-47B4-89B9-1DECC952348A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0-5B4D-47B4-89B9-1DECC952348A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1-5B4D-47B4-89B9-1DECC952348A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2-5B4D-47B4-89B9-1DECC952348A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3-5B4D-47B4-89B9-1DECC952348A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4-5B4D-47B4-89B9-1DECC952348A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5-5B4D-47B4-89B9-1DECC952348A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6-5B4D-47B4-89B9-1DECC952348A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7-5B4D-47B4-89B9-1DECC952348A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8-5B4D-47B4-89B9-1DECC952348A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9-5B4D-47B4-89B9-1DECC952348A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A-5B4D-47B4-89B9-1DECC952348A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B-5B4D-47B4-89B9-1DECC952348A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C-5B4D-47B4-89B9-1DECC952348A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D-5B4D-47B4-89B9-1DECC952348A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E-5B4D-47B4-89B9-1DECC952348A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'MORPC 7-county region'!$A$2:$A$33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'MORPC 7-county region'!$D$2:$D$33</c:f>
              <c:numCache>
                <c:formatCode>General</c:formatCode>
                <c:ptCount val="32"/>
                <c:pt idx="25" formatCode="#,##0">
                  <c:v>2142293</c:v>
                </c:pt>
                <c:pt idx="26" formatCode="#,##0">
                  <c:v>2245478</c:v>
                </c:pt>
                <c:pt idx="27" formatCode="#,##0">
                  <c:v>2332848</c:v>
                </c:pt>
                <c:pt idx="28" formatCode="#,##0">
                  <c:v>2404453</c:v>
                </c:pt>
                <c:pt idx="29" formatCode="#,##0">
                  <c:v>2465973</c:v>
                </c:pt>
                <c:pt idx="30" formatCode="#,##0">
                  <c:v>2521293</c:v>
                </c:pt>
                <c:pt idx="31" formatCode="#,##0">
                  <c:v>2571158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3F-5B4D-47B4-89B9-1DECC952348A}"/>
            </c:ext>
          </c:extLst>
        </c:ser>
        <c:ser>
          <c:idx val="2"/>
          <c:order val="2"/>
          <c:tx>
            <c:strRef>
              <c:f>'MORPC 7-county region'!$E$1</c:f>
              <c:strCache>
                <c:ptCount val="1"/>
                <c:pt idx="0">
                  <c:v>75th percentile migration</c:v>
                </c:pt>
              </c:strCache>
            </c:strRef>
          </c:tx>
          <c:spPr>
            <a:ln w="25400">
              <a:solidFill>
                <a:srgbClr val="D95F27"/>
              </a:solidFill>
            </a:ln>
          </c:spPr>
          <c:marker>
            <c:symbol val="diamond"/>
            <c:size val="5"/>
            <c:spPr>
              <a:solidFill>
                <a:srgbClr val="D95F27"/>
              </a:solidFill>
              <a:ln>
                <a:solidFill>
                  <a:srgbClr val="D95F27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0-5B4D-47B4-89B9-1DECC952348A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1-5B4D-47B4-89B9-1DECC952348A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2-5B4D-47B4-89B9-1DECC952348A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3-5B4D-47B4-89B9-1DECC952348A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4-5B4D-47B4-89B9-1DECC952348A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5-5B4D-47B4-89B9-1DECC952348A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6-5B4D-47B4-89B9-1DECC952348A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7-5B4D-47B4-89B9-1DECC952348A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8-5B4D-47B4-89B9-1DECC952348A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9-5B4D-47B4-89B9-1DECC952348A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A-5B4D-47B4-89B9-1DECC952348A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B-5B4D-47B4-89B9-1DECC952348A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C-5B4D-47B4-89B9-1DECC952348A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D-5B4D-47B4-89B9-1DECC952348A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E-5B4D-47B4-89B9-1DECC952348A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F-5B4D-47B4-89B9-1DECC952348A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0-5B4D-47B4-89B9-1DECC952348A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1-5B4D-47B4-89B9-1DECC952348A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2-5B4D-47B4-89B9-1DECC952348A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3-5B4D-47B4-89B9-1DECC952348A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4-5B4D-47B4-89B9-1DECC952348A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5-5B4D-47B4-89B9-1DECC952348A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6-5B4D-47B4-89B9-1DECC952348A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7-5B4D-47B4-89B9-1DECC952348A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8-5B4D-47B4-89B9-1DECC952348A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9-5B4D-47B4-89B9-1DECC952348A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A-5B4D-47B4-89B9-1DECC952348A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B-5B4D-47B4-89B9-1DECC952348A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C-5B4D-47B4-89B9-1DECC952348A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D-5B4D-47B4-89B9-1DECC952348A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E-5B4D-47B4-89B9-1DECC952348A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'MORPC 7-county region'!$A$2:$A$33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'MORPC 7-county region'!$E$2:$E$33</c:f>
              <c:numCache>
                <c:formatCode>General</c:formatCode>
                <c:ptCount val="32"/>
                <c:pt idx="25" formatCode="#,##0">
                  <c:v>2142293</c:v>
                </c:pt>
                <c:pt idx="26" formatCode="#,##0">
                  <c:v>2275153</c:v>
                </c:pt>
                <c:pt idx="27" formatCode="#,##0">
                  <c:v>2393568</c:v>
                </c:pt>
                <c:pt idx="28" formatCode="#,##0">
                  <c:v>2497928</c:v>
                </c:pt>
                <c:pt idx="29" formatCode="#,##0">
                  <c:v>2593418</c:v>
                </c:pt>
                <c:pt idx="30" formatCode="#,##0">
                  <c:v>2683413</c:v>
                </c:pt>
                <c:pt idx="31" formatCode="#,##0">
                  <c:v>2768403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5F-5B4D-47B4-89B9-1DECC952348A}"/>
            </c:ext>
          </c:extLst>
        </c:ser>
        <c:ser>
          <c:idx val="3"/>
          <c:order val="3"/>
          <c:tx>
            <c:strRef>
              <c:f>'MORPC 7-county region'!$B$1</c:f>
              <c:strCache>
                <c:ptCount val="1"/>
                <c:pt idx="0">
                  <c:v>Historical</c:v>
                </c:pt>
              </c:strCache>
            </c:strRef>
          </c:tx>
          <c:spPr>
            <a:ln w="25400">
              <a:solidFill>
                <a:srgbClr val="193764"/>
              </a:solidFill>
            </a:ln>
          </c:spPr>
          <c:marker>
            <c:symbol val="circle"/>
            <c:size val="5"/>
            <c:spPr>
              <a:solidFill>
                <a:srgbClr val="193764"/>
              </a:solidFill>
              <a:ln>
                <a:solidFill>
                  <a:srgbClr val="193764"/>
                </a:solidFill>
              </a:ln>
            </c:spPr>
          </c:marker>
          <c:dLbls>
            <c:dLbl>
              <c:idx val="0"/>
              <c:layout>
                <c:manualLayout>
                  <c:x val="2.2579302587176574E-2"/>
                  <c:y val="6.405119068145678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0-5B4D-47B4-89B9-1DECC952348A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1-5B4D-47B4-89B9-1DECC952348A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2-5B4D-47B4-89B9-1DECC952348A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3-5B4D-47B4-89B9-1DECC952348A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4-5B4D-47B4-89B9-1DECC952348A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5-5B4D-47B4-89B9-1DECC952348A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6-5B4D-47B4-89B9-1DECC952348A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7-5B4D-47B4-89B9-1DECC952348A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8-5B4D-47B4-89B9-1DECC952348A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9-5B4D-47B4-89B9-1DECC952348A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A-5B4D-47B4-89B9-1DECC952348A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B-5B4D-47B4-89B9-1DECC952348A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C-5B4D-47B4-89B9-1DECC952348A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D-5B4D-47B4-89B9-1DECC952348A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E-5B4D-47B4-89B9-1DECC952348A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F-5B4D-47B4-89B9-1DECC952348A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0-5B4D-47B4-89B9-1DECC952348A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1-5B4D-47B4-89B9-1DECC952348A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2-5B4D-47B4-89B9-1DECC952348A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3-5B4D-47B4-89B9-1DECC952348A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4-5B4D-47B4-89B9-1DECC952348A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5-5B4D-47B4-89B9-1DECC952348A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6-5B4D-47B4-89B9-1DECC952348A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7-5B4D-47B4-89B9-1DECC952348A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8-5B4D-47B4-89B9-1DECC952348A}"/>
                </c:ext>
              </c:extLst>
            </c:dLbl>
            <c:dLbl>
              <c:idx val="25"/>
              <c:layout>
                <c:manualLayout>
                  <c:x val="-4.408736407949012E-2"/>
                  <c:y val="6.4051190681456746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9-5B4D-47B4-89B9-1DECC952348A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A-5B4D-47B4-89B9-1DECC952348A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B-5B4D-47B4-89B9-1DECC952348A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C-5B4D-47B4-89B9-1DECC952348A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D-5B4D-47B4-89B9-1DECC952348A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E-5B4D-47B4-89B9-1DECC952348A}"/>
                </c:ext>
              </c:extLst>
            </c:dLbl>
            <c:dLbl>
              <c:idx val="3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F-5B4D-47B4-89B9-1DECC952348A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'MORPC 7-county region'!$A$2:$A$33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'MORPC 7-county region'!$B$2:$B$33</c:f>
              <c:numCache>
                <c:formatCode>#,##0</c:formatCode>
                <c:ptCount val="32"/>
                <c:pt idx="0">
                  <c:v>1587894</c:v>
                </c:pt>
                <c:pt idx="1">
                  <c:v>1611514</c:v>
                </c:pt>
                <c:pt idx="2">
                  <c:v>1630115</c:v>
                </c:pt>
                <c:pt idx="3">
                  <c:v>1651971</c:v>
                </c:pt>
                <c:pt idx="4">
                  <c:v>1671468</c:v>
                </c:pt>
                <c:pt idx="5">
                  <c:v>1692543</c:v>
                </c:pt>
                <c:pt idx="6">
                  <c:v>1717904</c:v>
                </c:pt>
                <c:pt idx="7">
                  <c:v>1741602</c:v>
                </c:pt>
                <c:pt idx="8">
                  <c:v>1765175</c:v>
                </c:pt>
                <c:pt idx="9">
                  <c:v>1787287</c:v>
                </c:pt>
                <c:pt idx="10">
                  <c:v>1806190</c:v>
                </c:pt>
                <c:pt idx="11">
                  <c:v>1826502</c:v>
                </c:pt>
                <c:pt idx="12">
                  <c:v>1848298</c:v>
                </c:pt>
                <c:pt idx="13">
                  <c:v>1876335</c:v>
                </c:pt>
                <c:pt idx="14">
                  <c:v>1904351</c:v>
                </c:pt>
                <c:pt idx="15">
                  <c:v>1931013</c:v>
                </c:pt>
                <c:pt idx="16">
                  <c:v>1956466</c:v>
                </c:pt>
                <c:pt idx="17">
                  <c:v>1987398</c:v>
                </c:pt>
                <c:pt idx="18">
                  <c:v>2009191</c:v>
                </c:pt>
                <c:pt idx="19">
                  <c:v>2029205</c:v>
                </c:pt>
                <c:pt idx="20">
                  <c:v>2043488</c:v>
                </c:pt>
                <c:pt idx="21">
                  <c:v>2047954</c:v>
                </c:pt>
                <c:pt idx="22">
                  <c:v>2068370</c:v>
                </c:pt>
                <c:pt idx="23">
                  <c:v>2093407</c:v>
                </c:pt>
                <c:pt idx="24">
                  <c:v>2121543</c:v>
                </c:pt>
                <c:pt idx="25">
                  <c:v>2142293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80-5B4D-47B4-89B9-1DECC952348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0190001"/>
        <c:axId val="50190002"/>
      </c:scatterChart>
      <c:valAx>
        <c:axId val="50190001"/>
        <c:scaling>
          <c:orientation val="minMax"/>
          <c:max val="2055"/>
          <c:min val="2000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 baseline="0"/>
            </a:pPr>
            <a:endParaRPr lang="en-US"/>
          </a:p>
        </c:txPr>
        <c:crossAx val="50190002"/>
        <c:crosses val="autoZero"/>
        <c:crossBetween val="midCat"/>
        <c:majorUnit val="5"/>
      </c:valAx>
      <c:valAx>
        <c:axId val="5019000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 baseline="0"/>
            </a:pPr>
            <a:endParaRPr lang="en-US"/>
          </a:p>
        </c:txPr>
        <c:crossAx val="50190001"/>
        <c:crosses val="autoZero"/>
        <c:crossBetween val="midCat"/>
      </c:valAx>
    </c:plotArea>
    <c:legend>
      <c:legendPos val="b"/>
      <c:layout>
        <c:manualLayout>
          <c:xMode val="edge"/>
          <c:yMode val="edge"/>
          <c:x val="0.13"/>
          <c:y val="0.87"/>
          <c:w val="0.65"/>
          <c:h val="0.1"/>
        </c:manualLayout>
      </c:layout>
      <c:overlay val="0"/>
      <c:txPr>
        <a:bodyPr/>
        <a:lstStyle/>
        <a:p>
          <a:pPr>
            <a:defRPr sz="1400" baseline="0"/>
          </a:pPr>
          <a:endParaRPr lang="en-US"/>
        </a:p>
      </c:txPr>
    </c:legend>
    <c:plotVisOnly val="1"/>
    <c:dispBlanksAs val="gap"/>
    <c:showDLblsOverMax val="0"/>
  </c:chart>
  <c:externalData r:id="rId2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/>
          <a:lstStyle/>
          <a:p>
            <a:pPr>
              <a:defRPr/>
            </a:pPr>
            <a:r>
              <a:rPr lang="en-US" dirty="0"/>
              <a:t>Historical and </a:t>
            </a:r>
            <a:r>
              <a:rPr lang="en-US" sz="1800" b="1" i="0" u="none" strike="noStrike" kern="1200" baseline="0" dirty="0">
                <a:solidFill>
                  <a:prstClr val="black"/>
                </a:solidFill>
              </a:rPr>
              <a:t>Projected</a:t>
            </a:r>
            <a:r>
              <a:rPr lang="en-US" dirty="0"/>
              <a:t> Population - MORPC CORPO Region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13"/>
          <c:y val="0.12"/>
          <c:w val="0.75"/>
          <c:h val="0.65"/>
        </c:manualLayout>
      </c:layout>
      <c:scatterChart>
        <c:scatterStyle val="lineMarker"/>
        <c:varyColors val="0"/>
        <c:ser>
          <c:idx val="0"/>
          <c:order val="0"/>
          <c:tx>
            <c:strRef>
              <c:f>'MORPC CORPO region'!$C$1</c:f>
              <c:strCache>
                <c:ptCount val="1"/>
                <c:pt idx="0">
                  <c:v>25th percentile migration</c:v>
                </c:pt>
              </c:strCache>
            </c:strRef>
          </c:tx>
          <c:spPr>
            <a:ln w="25400">
              <a:solidFill>
                <a:srgbClr val="597C3E"/>
              </a:solidFill>
            </a:ln>
          </c:spPr>
          <c:marker>
            <c:symbol val="square"/>
            <c:size val="5"/>
            <c:spPr>
              <a:solidFill>
                <a:srgbClr val="597C3E"/>
              </a:solidFill>
              <a:ln>
                <a:solidFill>
                  <a:srgbClr val="597C3E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3F1F-4879-83A9-D57FF8C8F1E0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3F1F-4879-83A9-D57FF8C8F1E0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3F1F-4879-83A9-D57FF8C8F1E0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3F1F-4879-83A9-D57FF8C8F1E0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3F1F-4879-83A9-D57FF8C8F1E0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3F1F-4879-83A9-D57FF8C8F1E0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3F1F-4879-83A9-D57FF8C8F1E0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3F1F-4879-83A9-D57FF8C8F1E0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3F1F-4879-83A9-D57FF8C8F1E0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3F1F-4879-83A9-D57FF8C8F1E0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3F1F-4879-83A9-D57FF8C8F1E0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3F1F-4879-83A9-D57FF8C8F1E0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3F1F-4879-83A9-D57FF8C8F1E0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3F1F-4879-83A9-D57FF8C8F1E0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3F1F-4879-83A9-D57FF8C8F1E0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3F1F-4879-83A9-D57FF8C8F1E0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0-3F1F-4879-83A9-D57FF8C8F1E0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3F1F-4879-83A9-D57FF8C8F1E0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2-3F1F-4879-83A9-D57FF8C8F1E0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3F1F-4879-83A9-D57FF8C8F1E0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4-3F1F-4879-83A9-D57FF8C8F1E0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5-3F1F-4879-83A9-D57FF8C8F1E0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6-3F1F-4879-83A9-D57FF8C8F1E0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7-3F1F-4879-83A9-D57FF8C8F1E0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8-3F1F-4879-83A9-D57FF8C8F1E0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9-3F1F-4879-83A9-D57FF8C8F1E0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A-3F1F-4879-83A9-D57FF8C8F1E0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B-3F1F-4879-83A9-D57FF8C8F1E0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C-3F1F-4879-83A9-D57FF8C8F1E0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D-3F1F-4879-83A9-D57FF8C8F1E0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E-3F1F-4879-83A9-D57FF8C8F1E0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'MORPC CORPO region'!$A$2:$A$33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'MORPC CORPO region'!$C$2:$C$33</c:f>
              <c:numCache>
                <c:formatCode>General</c:formatCode>
                <c:ptCount val="32"/>
                <c:pt idx="25" formatCode="#,##0">
                  <c:v>518583</c:v>
                </c:pt>
                <c:pt idx="26" formatCode="#,##0">
                  <c:v>523678</c:v>
                </c:pt>
                <c:pt idx="27" formatCode="#,##0">
                  <c:v>522473</c:v>
                </c:pt>
                <c:pt idx="28" formatCode="#,##0">
                  <c:v>517388</c:v>
                </c:pt>
                <c:pt idx="29" formatCode="#,##0">
                  <c:v>511313</c:v>
                </c:pt>
                <c:pt idx="30" formatCode="#,##0">
                  <c:v>505103</c:v>
                </c:pt>
                <c:pt idx="31" formatCode="#,##0">
                  <c:v>498423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1F-3F1F-4879-83A9-D57FF8C8F1E0}"/>
            </c:ext>
          </c:extLst>
        </c:ser>
        <c:ser>
          <c:idx val="1"/>
          <c:order val="1"/>
          <c:tx>
            <c:strRef>
              <c:f>'MORPC CORPO region'!$D$1</c:f>
              <c:strCache>
                <c:ptCount val="1"/>
                <c:pt idx="0">
                  <c:v>50th percentile migration</c:v>
                </c:pt>
              </c:strCache>
            </c:strRef>
          </c:tx>
          <c:spPr>
            <a:ln w="25400">
              <a:solidFill>
                <a:srgbClr val="3D9BB1"/>
              </a:solidFill>
            </a:ln>
          </c:spPr>
          <c:marker>
            <c:symbol val="triangle"/>
            <c:size val="5"/>
            <c:spPr>
              <a:solidFill>
                <a:srgbClr val="3D9BB1"/>
              </a:solidFill>
              <a:ln>
                <a:solidFill>
                  <a:srgbClr val="3D9BB1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0-3F1F-4879-83A9-D57FF8C8F1E0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1-3F1F-4879-83A9-D57FF8C8F1E0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2-3F1F-4879-83A9-D57FF8C8F1E0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3-3F1F-4879-83A9-D57FF8C8F1E0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4-3F1F-4879-83A9-D57FF8C8F1E0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5-3F1F-4879-83A9-D57FF8C8F1E0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6-3F1F-4879-83A9-D57FF8C8F1E0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7-3F1F-4879-83A9-D57FF8C8F1E0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8-3F1F-4879-83A9-D57FF8C8F1E0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9-3F1F-4879-83A9-D57FF8C8F1E0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A-3F1F-4879-83A9-D57FF8C8F1E0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B-3F1F-4879-83A9-D57FF8C8F1E0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C-3F1F-4879-83A9-D57FF8C8F1E0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D-3F1F-4879-83A9-D57FF8C8F1E0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E-3F1F-4879-83A9-D57FF8C8F1E0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F-3F1F-4879-83A9-D57FF8C8F1E0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0-3F1F-4879-83A9-D57FF8C8F1E0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1-3F1F-4879-83A9-D57FF8C8F1E0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2-3F1F-4879-83A9-D57FF8C8F1E0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3-3F1F-4879-83A9-D57FF8C8F1E0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4-3F1F-4879-83A9-D57FF8C8F1E0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5-3F1F-4879-83A9-D57FF8C8F1E0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6-3F1F-4879-83A9-D57FF8C8F1E0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7-3F1F-4879-83A9-D57FF8C8F1E0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8-3F1F-4879-83A9-D57FF8C8F1E0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9-3F1F-4879-83A9-D57FF8C8F1E0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A-3F1F-4879-83A9-D57FF8C8F1E0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B-3F1F-4879-83A9-D57FF8C8F1E0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C-3F1F-4879-83A9-D57FF8C8F1E0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D-3F1F-4879-83A9-D57FF8C8F1E0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E-3F1F-4879-83A9-D57FF8C8F1E0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'MORPC CORPO region'!$A$2:$A$33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'MORPC CORPO region'!$D$2:$D$33</c:f>
              <c:numCache>
                <c:formatCode>General</c:formatCode>
                <c:ptCount val="32"/>
                <c:pt idx="25" formatCode="#,##0">
                  <c:v>518583</c:v>
                </c:pt>
                <c:pt idx="26" formatCode="#,##0">
                  <c:v>532618</c:v>
                </c:pt>
                <c:pt idx="27" formatCode="#,##0">
                  <c:v>540453</c:v>
                </c:pt>
                <c:pt idx="28" formatCode="#,##0">
                  <c:v>544948</c:v>
                </c:pt>
                <c:pt idx="29" formatCode="#,##0">
                  <c:v>548843</c:v>
                </c:pt>
                <c:pt idx="30" formatCode="#,##0">
                  <c:v>552883</c:v>
                </c:pt>
                <c:pt idx="31" formatCode="#,##0">
                  <c:v>556708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3F-3F1F-4879-83A9-D57FF8C8F1E0}"/>
            </c:ext>
          </c:extLst>
        </c:ser>
        <c:ser>
          <c:idx val="2"/>
          <c:order val="2"/>
          <c:tx>
            <c:strRef>
              <c:f>'MORPC CORPO region'!$E$1</c:f>
              <c:strCache>
                <c:ptCount val="1"/>
                <c:pt idx="0">
                  <c:v>75th percentile migration</c:v>
                </c:pt>
              </c:strCache>
            </c:strRef>
          </c:tx>
          <c:spPr>
            <a:ln w="25400">
              <a:solidFill>
                <a:srgbClr val="D95F27"/>
              </a:solidFill>
            </a:ln>
          </c:spPr>
          <c:marker>
            <c:symbol val="diamond"/>
            <c:size val="5"/>
            <c:spPr>
              <a:solidFill>
                <a:srgbClr val="D95F27"/>
              </a:solidFill>
              <a:ln>
                <a:solidFill>
                  <a:srgbClr val="D95F27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0-3F1F-4879-83A9-D57FF8C8F1E0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1-3F1F-4879-83A9-D57FF8C8F1E0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2-3F1F-4879-83A9-D57FF8C8F1E0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3-3F1F-4879-83A9-D57FF8C8F1E0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4-3F1F-4879-83A9-D57FF8C8F1E0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5-3F1F-4879-83A9-D57FF8C8F1E0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6-3F1F-4879-83A9-D57FF8C8F1E0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7-3F1F-4879-83A9-D57FF8C8F1E0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8-3F1F-4879-83A9-D57FF8C8F1E0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9-3F1F-4879-83A9-D57FF8C8F1E0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A-3F1F-4879-83A9-D57FF8C8F1E0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B-3F1F-4879-83A9-D57FF8C8F1E0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C-3F1F-4879-83A9-D57FF8C8F1E0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D-3F1F-4879-83A9-D57FF8C8F1E0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E-3F1F-4879-83A9-D57FF8C8F1E0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F-3F1F-4879-83A9-D57FF8C8F1E0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0-3F1F-4879-83A9-D57FF8C8F1E0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1-3F1F-4879-83A9-D57FF8C8F1E0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2-3F1F-4879-83A9-D57FF8C8F1E0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3-3F1F-4879-83A9-D57FF8C8F1E0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4-3F1F-4879-83A9-D57FF8C8F1E0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5-3F1F-4879-83A9-D57FF8C8F1E0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6-3F1F-4879-83A9-D57FF8C8F1E0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7-3F1F-4879-83A9-D57FF8C8F1E0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8-3F1F-4879-83A9-D57FF8C8F1E0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9-3F1F-4879-83A9-D57FF8C8F1E0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A-3F1F-4879-83A9-D57FF8C8F1E0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B-3F1F-4879-83A9-D57FF8C8F1E0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C-3F1F-4879-83A9-D57FF8C8F1E0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D-3F1F-4879-83A9-D57FF8C8F1E0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E-3F1F-4879-83A9-D57FF8C8F1E0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'MORPC CORPO region'!$A$2:$A$33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'MORPC CORPO region'!$E$2:$E$33</c:f>
              <c:numCache>
                <c:formatCode>General</c:formatCode>
                <c:ptCount val="32"/>
                <c:pt idx="25" formatCode="#,##0">
                  <c:v>518583</c:v>
                </c:pt>
                <c:pt idx="26" formatCode="#,##0">
                  <c:v>544418</c:v>
                </c:pt>
                <c:pt idx="27" formatCode="#,##0">
                  <c:v>564248</c:v>
                </c:pt>
                <c:pt idx="28" formatCode="#,##0">
                  <c:v>581218</c:v>
                </c:pt>
                <c:pt idx="29" formatCode="#,##0">
                  <c:v>598268</c:v>
                </c:pt>
                <c:pt idx="30" formatCode="#,##0">
                  <c:v>615968</c:v>
                </c:pt>
                <c:pt idx="31" formatCode="#,##0">
                  <c:v>633708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5F-3F1F-4879-83A9-D57FF8C8F1E0}"/>
            </c:ext>
          </c:extLst>
        </c:ser>
        <c:ser>
          <c:idx val="3"/>
          <c:order val="3"/>
          <c:tx>
            <c:strRef>
              <c:f>'MORPC CORPO region'!$B$1</c:f>
              <c:strCache>
                <c:ptCount val="1"/>
                <c:pt idx="0">
                  <c:v>Historical</c:v>
                </c:pt>
              </c:strCache>
            </c:strRef>
          </c:tx>
          <c:spPr>
            <a:ln w="25400">
              <a:solidFill>
                <a:srgbClr val="193764"/>
              </a:solidFill>
            </a:ln>
          </c:spPr>
          <c:marker>
            <c:symbol val="circle"/>
            <c:size val="5"/>
            <c:spPr>
              <a:solidFill>
                <a:srgbClr val="193764"/>
              </a:solidFill>
              <a:ln>
                <a:solidFill>
                  <a:srgbClr val="193764"/>
                </a:solidFill>
              </a:ln>
            </c:spPr>
          </c:marker>
          <c:dLbls>
            <c:dLbl>
              <c:idx val="0"/>
              <c:layout>
                <c:manualLayout>
                  <c:x val="2.6607049118860141E-2"/>
                  <c:y val="5.6751920608464089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0-3F1F-4879-83A9-D57FF8C8F1E0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1-3F1F-4879-83A9-D57FF8C8F1E0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2-3F1F-4879-83A9-D57FF8C8F1E0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3-3F1F-4879-83A9-D57FF8C8F1E0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4-3F1F-4879-83A9-D57FF8C8F1E0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5-3F1F-4879-83A9-D57FF8C8F1E0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6-3F1F-4879-83A9-D57FF8C8F1E0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7-3F1F-4879-83A9-D57FF8C8F1E0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8-3F1F-4879-83A9-D57FF8C8F1E0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9-3F1F-4879-83A9-D57FF8C8F1E0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A-3F1F-4879-83A9-D57FF8C8F1E0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B-3F1F-4879-83A9-D57FF8C8F1E0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C-3F1F-4879-83A9-D57FF8C8F1E0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D-3F1F-4879-83A9-D57FF8C8F1E0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E-3F1F-4879-83A9-D57FF8C8F1E0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F-3F1F-4879-83A9-D57FF8C8F1E0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0-3F1F-4879-83A9-D57FF8C8F1E0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1-3F1F-4879-83A9-D57FF8C8F1E0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2-3F1F-4879-83A9-D57FF8C8F1E0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3-3F1F-4879-83A9-D57FF8C8F1E0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4-3F1F-4879-83A9-D57FF8C8F1E0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5-3F1F-4879-83A9-D57FF8C8F1E0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6-3F1F-4879-83A9-D57FF8C8F1E0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7-3F1F-4879-83A9-D57FF8C8F1E0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8-3F1F-4879-83A9-D57FF8C8F1E0}"/>
                </c:ext>
              </c:extLst>
            </c:dLbl>
            <c:dLbl>
              <c:idx val="25"/>
              <c:layout>
                <c:manualLayout>
                  <c:x val="-3.5297712785901762E-2"/>
                  <c:y val="7.135046075444943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9-3F1F-4879-83A9-D57FF8C8F1E0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A-3F1F-4879-83A9-D57FF8C8F1E0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B-3F1F-4879-83A9-D57FF8C8F1E0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C-3F1F-4879-83A9-D57FF8C8F1E0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D-3F1F-4879-83A9-D57FF8C8F1E0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E-3F1F-4879-83A9-D57FF8C8F1E0}"/>
                </c:ext>
              </c:extLst>
            </c:dLbl>
            <c:dLbl>
              <c:idx val="3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F-3F1F-4879-83A9-D57FF8C8F1E0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'MORPC CORPO region'!$A$2:$A$33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'MORPC CORPO region'!$B$2:$B$33</c:f>
              <c:numCache>
                <c:formatCode>#,##0</c:formatCode>
                <c:ptCount val="32"/>
                <c:pt idx="0">
                  <c:v>410413</c:v>
                </c:pt>
                <c:pt idx="1">
                  <c:v>415758</c:v>
                </c:pt>
                <c:pt idx="2">
                  <c:v>420709</c:v>
                </c:pt>
                <c:pt idx="3">
                  <c:v>427425</c:v>
                </c:pt>
                <c:pt idx="4">
                  <c:v>433634</c:v>
                </c:pt>
                <c:pt idx="5">
                  <c:v>439323</c:v>
                </c:pt>
                <c:pt idx="6">
                  <c:v>445653</c:v>
                </c:pt>
                <c:pt idx="7">
                  <c:v>451524</c:v>
                </c:pt>
                <c:pt idx="8">
                  <c:v>455489</c:v>
                </c:pt>
                <c:pt idx="9">
                  <c:v>457957</c:v>
                </c:pt>
                <c:pt idx="10">
                  <c:v>460429</c:v>
                </c:pt>
                <c:pt idx="11">
                  <c:v>462323</c:v>
                </c:pt>
                <c:pt idx="12">
                  <c:v>461731</c:v>
                </c:pt>
                <c:pt idx="13">
                  <c:v>464280</c:v>
                </c:pt>
                <c:pt idx="14">
                  <c:v>467555</c:v>
                </c:pt>
                <c:pt idx="15">
                  <c:v>469403</c:v>
                </c:pt>
                <c:pt idx="16">
                  <c:v>472008</c:v>
                </c:pt>
                <c:pt idx="17">
                  <c:v>476302</c:v>
                </c:pt>
                <c:pt idx="18">
                  <c:v>480586</c:v>
                </c:pt>
                <c:pt idx="19">
                  <c:v>484654</c:v>
                </c:pt>
                <c:pt idx="20">
                  <c:v>488228</c:v>
                </c:pt>
                <c:pt idx="21">
                  <c:v>492459</c:v>
                </c:pt>
                <c:pt idx="22">
                  <c:v>496419</c:v>
                </c:pt>
                <c:pt idx="23">
                  <c:v>504604</c:v>
                </c:pt>
                <c:pt idx="24">
                  <c:v>512133</c:v>
                </c:pt>
                <c:pt idx="25">
                  <c:v>518583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80-3F1F-4879-83A9-D57FF8C8F1E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0200001"/>
        <c:axId val="50200002"/>
      </c:scatterChart>
      <c:valAx>
        <c:axId val="50200001"/>
        <c:scaling>
          <c:orientation val="minMax"/>
          <c:max val="2055"/>
          <c:min val="2000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 baseline="0"/>
            </a:pPr>
            <a:endParaRPr lang="en-US"/>
          </a:p>
        </c:txPr>
        <c:crossAx val="50200002"/>
        <c:crosses val="autoZero"/>
        <c:crossBetween val="midCat"/>
        <c:majorUnit val="5"/>
      </c:valAx>
      <c:valAx>
        <c:axId val="5020000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 baseline="0"/>
            </a:pPr>
            <a:endParaRPr lang="en-US"/>
          </a:p>
        </c:txPr>
        <c:crossAx val="50200001"/>
        <c:crosses val="autoZero"/>
        <c:crossBetween val="midCat"/>
      </c:valAx>
    </c:plotArea>
    <c:legend>
      <c:legendPos val="b"/>
      <c:layout>
        <c:manualLayout>
          <c:xMode val="edge"/>
          <c:yMode val="edge"/>
          <c:x val="0.13"/>
          <c:y val="0.87"/>
          <c:w val="0.65"/>
          <c:h val="0.1"/>
        </c:manualLayout>
      </c:layout>
      <c:overlay val="0"/>
      <c:txPr>
        <a:bodyPr/>
        <a:lstStyle/>
        <a:p>
          <a:pPr>
            <a:defRPr sz="1400" baseline="0"/>
          </a:pPr>
          <a:endParaRPr lang="en-US"/>
        </a:p>
      </c:txPr>
    </c:legend>
    <c:plotVisOnly val="1"/>
    <c:dispBlanksAs val="gap"/>
    <c:showDLblsOverMax val="0"/>
  </c:chart>
  <c:externalData r:id="rId2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/>
          <a:lstStyle/>
          <a:p>
            <a:pPr>
              <a:defRPr/>
            </a:pPr>
            <a:r>
              <a:rPr lang="en-US" dirty="0"/>
              <a:t>Historical and </a:t>
            </a:r>
            <a:r>
              <a:rPr lang="en-US" sz="1800" b="1" i="0" u="none" strike="noStrike" kern="1200" baseline="0" dirty="0">
                <a:solidFill>
                  <a:prstClr val="black"/>
                </a:solidFill>
              </a:rPr>
              <a:t>Projected</a:t>
            </a:r>
            <a:r>
              <a:rPr lang="en-US" dirty="0"/>
              <a:t> Population - MORPC CEDS Region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13"/>
          <c:y val="0.12"/>
          <c:w val="0.75"/>
          <c:h val="0.65"/>
        </c:manualLayout>
      </c:layout>
      <c:scatterChart>
        <c:scatterStyle val="lineMarker"/>
        <c:varyColors val="0"/>
        <c:ser>
          <c:idx val="0"/>
          <c:order val="0"/>
          <c:tx>
            <c:strRef>
              <c:f>'MORPC CEDS region'!$C$1</c:f>
              <c:strCache>
                <c:ptCount val="1"/>
                <c:pt idx="0">
                  <c:v>25th percentile migration</c:v>
                </c:pt>
              </c:strCache>
            </c:strRef>
          </c:tx>
          <c:spPr>
            <a:ln w="25400">
              <a:solidFill>
                <a:srgbClr val="597C3E"/>
              </a:solidFill>
            </a:ln>
          </c:spPr>
          <c:marker>
            <c:symbol val="square"/>
            <c:size val="5"/>
            <c:spPr>
              <a:solidFill>
                <a:srgbClr val="597C3E"/>
              </a:solidFill>
              <a:ln>
                <a:solidFill>
                  <a:srgbClr val="597C3E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BBBD-4FBB-96BD-1F0657F069BD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BBBD-4FBB-96BD-1F0657F069BD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BBBD-4FBB-96BD-1F0657F069BD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BBBD-4FBB-96BD-1F0657F069BD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BBBD-4FBB-96BD-1F0657F069BD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BBBD-4FBB-96BD-1F0657F069BD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BBBD-4FBB-96BD-1F0657F069BD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BBBD-4FBB-96BD-1F0657F069BD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BBBD-4FBB-96BD-1F0657F069BD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BBBD-4FBB-96BD-1F0657F069BD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BBBD-4FBB-96BD-1F0657F069BD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BBBD-4FBB-96BD-1F0657F069BD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BBBD-4FBB-96BD-1F0657F069BD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BBBD-4FBB-96BD-1F0657F069BD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BBBD-4FBB-96BD-1F0657F069BD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BBBD-4FBB-96BD-1F0657F069BD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0-BBBD-4FBB-96BD-1F0657F069BD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BBBD-4FBB-96BD-1F0657F069BD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2-BBBD-4FBB-96BD-1F0657F069BD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BBBD-4FBB-96BD-1F0657F069BD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4-BBBD-4FBB-96BD-1F0657F069BD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5-BBBD-4FBB-96BD-1F0657F069BD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6-BBBD-4FBB-96BD-1F0657F069BD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7-BBBD-4FBB-96BD-1F0657F069BD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8-BBBD-4FBB-96BD-1F0657F069BD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9-BBBD-4FBB-96BD-1F0657F069BD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A-BBBD-4FBB-96BD-1F0657F069BD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B-BBBD-4FBB-96BD-1F0657F069BD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C-BBBD-4FBB-96BD-1F0657F069BD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D-BBBD-4FBB-96BD-1F0657F069BD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E-BBBD-4FBB-96BD-1F0657F069BD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'MORPC CEDS region'!$A$2:$A$33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'MORPC CEDS region'!$C$2:$C$33</c:f>
              <c:numCache>
                <c:formatCode>General</c:formatCode>
                <c:ptCount val="32"/>
                <c:pt idx="25" formatCode="#,##0">
                  <c:v>2354017</c:v>
                </c:pt>
                <c:pt idx="26" formatCode="#,##0">
                  <c:v>2428462</c:v>
                </c:pt>
                <c:pt idx="27" formatCode="#,##0">
                  <c:v>2483657</c:v>
                </c:pt>
                <c:pt idx="28" formatCode="#,##0">
                  <c:v>2519857</c:v>
                </c:pt>
                <c:pt idx="29" formatCode="#,##0">
                  <c:v>2544492</c:v>
                </c:pt>
                <c:pt idx="30" formatCode="#,##0">
                  <c:v>2562362</c:v>
                </c:pt>
                <c:pt idx="31" formatCode="#,##0">
                  <c:v>2574677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1F-BBBD-4FBB-96BD-1F0657F069BD}"/>
            </c:ext>
          </c:extLst>
        </c:ser>
        <c:ser>
          <c:idx val="1"/>
          <c:order val="1"/>
          <c:tx>
            <c:strRef>
              <c:f>'MORPC CEDS region'!$D$1</c:f>
              <c:strCache>
                <c:ptCount val="1"/>
                <c:pt idx="0">
                  <c:v>50th percentile migration</c:v>
                </c:pt>
              </c:strCache>
            </c:strRef>
          </c:tx>
          <c:spPr>
            <a:ln w="25400">
              <a:solidFill>
                <a:srgbClr val="3D9BB1"/>
              </a:solidFill>
            </a:ln>
          </c:spPr>
          <c:marker>
            <c:symbol val="triangle"/>
            <c:size val="5"/>
            <c:spPr>
              <a:solidFill>
                <a:srgbClr val="3D9BB1"/>
              </a:solidFill>
              <a:ln>
                <a:solidFill>
                  <a:srgbClr val="3D9BB1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0-BBBD-4FBB-96BD-1F0657F069BD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1-BBBD-4FBB-96BD-1F0657F069BD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2-BBBD-4FBB-96BD-1F0657F069BD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3-BBBD-4FBB-96BD-1F0657F069BD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4-BBBD-4FBB-96BD-1F0657F069BD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5-BBBD-4FBB-96BD-1F0657F069BD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6-BBBD-4FBB-96BD-1F0657F069BD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7-BBBD-4FBB-96BD-1F0657F069BD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8-BBBD-4FBB-96BD-1F0657F069BD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9-BBBD-4FBB-96BD-1F0657F069BD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A-BBBD-4FBB-96BD-1F0657F069BD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B-BBBD-4FBB-96BD-1F0657F069BD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C-BBBD-4FBB-96BD-1F0657F069BD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D-BBBD-4FBB-96BD-1F0657F069BD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E-BBBD-4FBB-96BD-1F0657F069BD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F-BBBD-4FBB-96BD-1F0657F069BD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0-BBBD-4FBB-96BD-1F0657F069BD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1-BBBD-4FBB-96BD-1F0657F069BD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2-BBBD-4FBB-96BD-1F0657F069BD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3-BBBD-4FBB-96BD-1F0657F069BD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4-BBBD-4FBB-96BD-1F0657F069BD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5-BBBD-4FBB-96BD-1F0657F069BD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6-BBBD-4FBB-96BD-1F0657F069BD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7-BBBD-4FBB-96BD-1F0657F069BD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8-BBBD-4FBB-96BD-1F0657F069BD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9-BBBD-4FBB-96BD-1F0657F069BD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A-BBBD-4FBB-96BD-1F0657F069BD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B-BBBD-4FBB-96BD-1F0657F069BD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C-BBBD-4FBB-96BD-1F0657F069BD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D-BBBD-4FBB-96BD-1F0657F069BD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E-BBBD-4FBB-96BD-1F0657F069BD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'MORPC CEDS region'!$A$2:$A$33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'MORPC CEDS region'!$D$2:$D$33</c:f>
              <c:numCache>
                <c:formatCode>General</c:formatCode>
                <c:ptCount val="32"/>
                <c:pt idx="25" formatCode="#,##0">
                  <c:v>2354017</c:v>
                </c:pt>
                <c:pt idx="26" formatCode="#,##0">
                  <c:v>2455962</c:v>
                </c:pt>
                <c:pt idx="27" formatCode="#,##0">
                  <c:v>2539927</c:v>
                </c:pt>
                <c:pt idx="28" formatCode="#,##0">
                  <c:v>2606772</c:v>
                </c:pt>
                <c:pt idx="29" formatCode="#,##0">
                  <c:v>2662982</c:v>
                </c:pt>
                <c:pt idx="30" formatCode="#,##0">
                  <c:v>2712797</c:v>
                </c:pt>
                <c:pt idx="31" formatCode="#,##0">
                  <c:v>2757297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3F-BBBD-4FBB-96BD-1F0657F069BD}"/>
            </c:ext>
          </c:extLst>
        </c:ser>
        <c:ser>
          <c:idx val="2"/>
          <c:order val="2"/>
          <c:tx>
            <c:strRef>
              <c:f>'MORPC CEDS region'!$E$1</c:f>
              <c:strCache>
                <c:ptCount val="1"/>
                <c:pt idx="0">
                  <c:v>75th percentile migration</c:v>
                </c:pt>
              </c:strCache>
            </c:strRef>
          </c:tx>
          <c:spPr>
            <a:ln w="25400">
              <a:solidFill>
                <a:srgbClr val="D95F27"/>
              </a:solidFill>
            </a:ln>
          </c:spPr>
          <c:marker>
            <c:symbol val="diamond"/>
            <c:size val="5"/>
            <c:spPr>
              <a:solidFill>
                <a:srgbClr val="D95F27"/>
              </a:solidFill>
              <a:ln>
                <a:solidFill>
                  <a:srgbClr val="D95F27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0-BBBD-4FBB-96BD-1F0657F069BD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1-BBBD-4FBB-96BD-1F0657F069BD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2-BBBD-4FBB-96BD-1F0657F069BD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3-BBBD-4FBB-96BD-1F0657F069BD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4-BBBD-4FBB-96BD-1F0657F069BD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5-BBBD-4FBB-96BD-1F0657F069BD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6-BBBD-4FBB-96BD-1F0657F069BD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7-BBBD-4FBB-96BD-1F0657F069BD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8-BBBD-4FBB-96BD-1F0657F069BD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9-BBBD-4FBB-96BD-1F0657F069BD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A-BBBD-4FBB-96BD-1F0657F069BD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B-BBBD-4FBB-96BD-1F0657F069BD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C-BBBD-4FBB-96BD-1F0657F069BD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D-BBBD-4FBB-96BD-1F0657F069BD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E-BBBD-4FBB-96BD-1F0657F069BD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F-BBBD-4FBB-96BD-1F0657F069BD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0-BBBD-4FBB-96BD-1F0657F069BD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1-BBBD-4FBB-96BD-1F0657F069BD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2-BBBD-4FBB-96BD-1F0657F069BD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3-BBBD-4FBB-96BD-1F0657F069BD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4-BBBD-4FBB-96BD-1F0657F069BD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5-BBBD-4FBB-96BD-1F0657F069BD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6-BBBD-4FBB-96BD-1F0657F069BD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7-BBBD-4FBB-96BD-1F0657F069BD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8-BBBD-4FBB-96BD-1F0657F069BD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9-BBBD-4FBB-96BD-1F0657F069BD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A-BBBD-4FBB-96BD-1F0657F069BD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B-BBBD-4FBB-96BD-1F0657F069BD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C-BBBD-4FBB-96BD-1F0657F069BD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D-BBBD-4FBB-96BD-1F0657F069BD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E-BBBD-4FBB-96BD-1F0657F069BD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'MORPC CEDS region'!$A$2:$A$33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'MORPC CEDS region'!$E$2:$E$33</c:f>
              <c:numCache>
                <c:formatCode>General</c:formatCode>
                <c:ptCount val="32"/>
                <c:pt idx="25" formatCode="#,##0">
                  <c:v>2354017</c:v>
                </c:pt>
                <c:pt idx="26" formatCode="#,##0">
                  <c:v>2488562</c:v>
                </c:pt>
                <c:pt idx="27" formatCode="#,##0">
                  <c:v>2606627</c:v>
                </c:pt>
                <c:pt idx="28" formatCode="#,##0">
                  <c:v>2709432</c:v>
                </c:pt>
                <c:pt idx="29" formatCode="#,##0">
                  <c:v>2802932</c:v>
                </c:pt>
                <c:pt idx="30" formatCode="#,##0">
                  <c:v>2890792</c:v>
                </c:pt>
                <c:pt idx="31" formatCode="#,##0">
                  <c:v>2973802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5F-BBBD-4FBB-96BD-1F0657F069BD}"/>
            </c:ext>
          </c:extLst>
        </c:ser>
        <c:ser>
          <c:idx val="3"/>
          <c:order val="3"/>
          <c:tx>
            <c:strRef>
              <c:f>'MORPC CEDS region'!$B$1</c:f>
              <c:strCache>
                <c:ptCount val="1"/>
                <c:pt idx="0">
                  <c:v>Historical</c:v>
                </c:pt>
              </c:strCache>
            </c:strRef>
          </c:tx>
          <c:spPr>
            <a:ln w="25400">
              <a:solidFill>
                <a:srgbClr val="193764"/>
              </a:solidFill>
            </a:ln>
          </c:spPr>
          <c:marker>
            <c:symbol val="circle"/>
            <c:size val="5"/>
            <c:spPr>
              <a:solidFill>
                <a:srgbClr val="193764"/>
              </a:solidFill>
              <a:ln>
                <a:solidFill>
                  <a:srgbClr val="193764"/>
                </a:solidFill>
              </a:ln>
            </c:spPr>
          </c:marker>
          <c:dLbls>
            <c:dLbl>
              <c:idx val="0"/>
              <c:layout>
                <c:manualLayout>
                  <c:x val="2.2579302587176574E-2"/>
                  <c:y val="8.1082820851773096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0-BBBD-4FBB-96BD-1F0657F069BD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1-BBBD-4FBB-96BD-1F0657F069BD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2-BBBD-4FBB-96BD-1F0657F069BD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3-BBBD-4FBB-96BD-1F0657F069BD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4-BBBD-4FBB-96BD-1F0657F069BD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5-BBBD-4FBB-96BD-1F0657F069BD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6-BBBD-4FBB-96BD-1F0657F069BD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7-BBBD-4FBB-96BD-1F0657F069BD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8-BBBD-4FBB-96BD-1F0657F069BD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9-BBBD-4FBB-96BD-1F0657F069BD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A-BBBD-4FBB-96BD-1F0657F069BD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B-BBBD-4FBB-96BD-1F0657F069BD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C-BBBD-4FBB-96BD-1F0657F069BD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D-BBBD-4FBB-96BD-1F0657F069BD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E-BBBD-4FBB-96BD-1F0657F069BD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F-BBBD-4FBB-96BD-1F0657F069BD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0-BBBD-4FBB-96BD-1F0657F069BD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1-BBBD-4FBB-96BD-1F0657F069BD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2-BBBD-4FBB-96BD-1F0657F069BD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3-BBBD-4FBB-96BD-1F0657F069BD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4-BBBD-4FBB-96BD-1F0657F069BD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5-BBBD-4FBB-96BD-1F0657F069BD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6-BBBD-4FBB-96BD-1F0657F069BD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7-BBBD-4FBB-96BD-1F0657F069BD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8-BBBD-4FBB-96BD-1F0657F069BD}"/>
                </c:ext>
              </c:extLst>
            </c:dLbl>
            <c:dLbl>
              <c:idx val="25"/>
              <c:layout>
                <c:manualLayout>
                  <c:x val="-4.5674665666791708E-2"/>
                  <c:y val="9.5681360997758494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9-BBBD-4FBB-96BD-1F0657F069BD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A-BBBD-4FBB-96BD-1F0657F069BD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B-BBBD-4FBB-96BD-1F0657F069BD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C-BBBD-4FBB-96BD-1F0657F069BD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D-BBBD-4FBB-96BD-1F0657F069BD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E-BBBD-4FBB-96BD-1F0657F069BD}"/>
                </c:ext>
              </c:extLst>
            </c:dLbl>
            <c:dLbl>
              <c:idx val="3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F-BBBD-4FBB-96BD-1F0657F069BD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'MORPC CEDS region'!$A$2:$A$33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'MORPC CEDS region'!$B$2:$B$33</c:f>
              <c:numCache>
                <c:formatCode>#,##0</c:formatCode>
                <c:ptCount val="32"/>
                <c:pt idx="0">
                  <c:v>1786442</c:v>
                </c:pt>
                <c:pt idx="1">
                  <c:v>1811433</c:v>
                </c:pt>
                <c:pt idx="2">
                  <c:v>1831724</c:v>
                </c:pt>
                <c:pt idx="3">
                  <c:v>1855356</c:v>
                </c:pt>
                <c:pt idx="4">
                  <c:v>1876096</c:v>
                </c:pt>
                <c:pt idx="5">
                  <c:v>1897989</c:v>
                </c:pt>
                <c:pt idx="6">
                  <c:v>1923906</c:v>
                </c:pt>
                <c:pt idx="7">
                  <c:v>1949023</c:v>
                </c:pt>
                <c:pt idx="8">
                  <c:v>1973355</c:v>
                </c:pt>
                <c:pt idx="9">
                  <c:v>1995379</c:v>
                </c:pt>
                <c:pt idx="10">
                  <c:v>2014295</c:v>
                </c:pt>
                <c:pt idx="11">
                  <c:v>2034975</c:v>
                </c:pt>
                <c:pt idx="12">
                  <c:v>2055867</c:v>
                </c:pt>
                <c:pt idx="13">
                  <c:v>2083804</c:v>
                </c:pt>
                <c:pt idx="14">
                  <c:v>2112072</c:v>
                </c:pt>
                <c:pt idx="15">
                  <c:v>2138287</c:v>
                </c:pt>
                <c:pt idx="16">
                  <c:v>2163631</c:v>
                </c:pt>
                <c:pt idx="17">
                  <c:v>2194762</c:v>
                </c:pt>
                <c:pt idx="18">
                  <c:v>2217827</c:v>
                </c:pt>
                <c:pt idx="19">
                  <c:v>2238409</c:v>
                </c:pt>
                <c:pt idx="20">
                  <c:v>2252790</c:v>
                </c:pt>
                <c:pt idx="21">
                  <c:v>2257137</c:v>
                </c:pt>
                <c:pt idx="22">
                  <c:v>2277389</c:v>
                </c:pt>
                <c:pt idx="23">
                  <c:v>2303039</c:v>
                </c:pt>
                <c:pt idx="24">
                  <c:v>2332064</c:v>
                </c:pt>
                <c:pt idx="25">
                  <c:v>2354017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80-BBBD-4FBB-96BD-1F0657F069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0210001"/>
        <c:axId val="50210002"/>
      </c:scatterChart>
      <c:valAx>
        <c:axId val="50210001"/>
        <c:scaling>
          <c:orientation val="minMax"/>
          <c:max val="2055"/>
          <c:min val="2000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 baseline="0"/>
            </a:pPr>
            <a:endParaRPr lang="en-US"/>
          </a:p>
        </c:txPr>
        <c:crossAx val="50210002"/>
        <c:crosses val="autoZero"/>
        <c:crossBetween val="midCat"/>
        <c:majorUnit val="5"/>
      </c:valAx>
      <c:valAx>
        <c:axId val="5021000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 baseline="0"/>
            </a:pPr>
            <a:endParaRPr lang="en-US"/>
          </a:p>
        </c:txPr>
        <c:crossAx val="50210001"/>
        <c:crosses val="autoZero"/>
        <c:crossBetween val="midCat"/>
      </c:valAx>
    </c:plotArea>
    <c:legend>
      <c:legendPos val="b"/>
      <c:layout>
        <c:manualLayout>
          <c:xMode val="edge"/>
          <c:yMode val="edge"/>
          <c:x val="0.13"/>
          <c:y val="0.87"/>
          <c:w val="0.65"/>
          <c:h val="0.1"/>
        </c:manualLayout>
      </c:layout>
      <c:overlay val="0"/>
      <c:txPr>
        <a:bodyPr/>
        <a:lstStyle/>
        <a:p>
          <a:pPr>
            <a:defRPr sz="1400" baseline="0"/>
          </a:pPr>
          <a:endParaRPr lang="en-US"/>
        </a:p>
      </c:txPr>
    </c:legend>
    <c:plotVisOnly val="1"/>
    <c:dispBlanksAs val="gap"/>
    <c:showDLblsOverMax val="0"/>
  </c:chart>
  <c:externalData r:id="rId2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/>
          <a:lstStyle/>
          <a:p>
            <a:pPr>
              <a:defRPr/>
            </a:pPr>
            <a:r>
              <a:rPr lang="en-US" dirty="0"/>
              <a:t>Historical and </a:t>
            </a:r>
            <a:r>
              <a:rPr lang="en-US" sz="1800" b="1" i="0" u="none" strike="noStrike" kern="1200" baseline="0" dirty="0">
                <a:solidFill>
                  <a:prstClr val="black"/>
                </a:solidFill>
              </a:rPr>
              <a:t>Projected</a:t>
            </a:r>
            <a:r>
              <a:rPr lang="en-US" dirty="0"/>
              <a:t> Population - </a:t>
            </a:r>
            <a:r>
              <a:rPr lang="en-US" dirty="0" err="1"/>
              <a:t>OneColumbus</a:t>
            </a:r>
            <a:r>
              <a:rPr lang="en-US" dirty="0"/>
              <a:t> Region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13"/>
          <c:y val="0.12"/>
          <c:w val="0.75"/>
          <c:h val="0.65"/>
        </c:manualLayout>
      </c:layout>
      <c:scatterChart>
        <c:scatterStyle val="lineMarker"/>
        <c:varyColors val="0"/>
        <c:ser>
          <c:idx val="0"/>
          <c:order val="0"/>
          <c:tx>
            <c:strRef>
              <c:f>'OneColumbus region'!$C$1</c:f>
              <c:strCache>
                <c:ptCount val="1"/>
                <c:pt idx="0">
                  <c:v>25th percentile migration</c:v>
                </c:pt>
              </c:strCache>
            </c:strRef>
          </c:tx>
          <c:spPr>
            <a:ln w="25400">
              <a:solidFill>
                <a:srgbClr val="597C3E"/>
              </a:solidFill>
            </a:ln>
          </c:spPr>
          <c:marker>
            <c:symbol val="square"/>
            <c:size val="5"/>
            <c:spPr>
              <a:solidFill>
                <a:srgbClr val="597C3E"/>
              </a:solidFill>
              <a:ln>
                <a:solidFill>
                  <a:srgbClr val="597C3E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CB24-43AC-BBD6-A8D37C2ADA21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CB24-43AC-BBD6-A8D37C2ADA21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CB24-43AC-BBD6-A8D37C2ADA21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CB24-43AC-BBD6-A8D37C2ADA21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CB24-43AC-BBD6-A8D37C2ADA21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CB24-43AC-BBD6-A8D37C2ADA21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CB24-43AC-BBD6-A8D37C2ADA21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CB24-43AC-BBD6-A8D37C2ADA21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CB24-43AC-BBD6-A8D37C2ADA21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CB24-43AC-BBD6-A8D37C2ADA21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CB24-43AC-BBD6-A8D37C2ADA21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CB24-43AC-BBD6-A8D37C2ADA21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CB24-43AC-BBD6-A8D37C2ADA21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CB24-43AC-BBD6-A8D37C2ADA21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CB24-43AC-BBD6-A8D37C2ADA21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CB24-43AC-BBD6-A8D37C2ADA21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0-CB24-43AC-BBD6-A8D37C2ADA21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CB24-43AC-BBD6-A8D37C2ADA21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2-CB24-43AC-BBD6-A8D37C2ADA21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CB24-43AC-BBD6-A8D37C2ADA21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4-CB24-43AC-BBD6-A8D37C2ADA21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5-CB24-43AC-BBD6-A8D37C2ADA21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6-CB24-43AC-BBD6-A8D37C2ADA21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7-CB24-43AC-BBD6-A8D37C2ADA21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8-CB24-43AC-BBD6-A8D37C2ADA21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9-CB24-43AC-BBD6-A8D37C2ADA21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A-CB24-43AC-BBD6-A8D37C2ADA21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B-CB24-43AC-BBD6-A8D37C2ADA21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C-CB24-43AC-BBD6-A8D37C2ADA21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D-CB24-43AC-BBD6-A8D37C2ADA21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E-CB24-43AC-BBD6-A8D37C2ADA21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'OneColumbus region'!$A$2:$A$33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'OneColumbus region'!$C$2:$C$33</c:f>
              <c:numCache>
                <c:formatCode>General</c:formatCode>
                <c:ptCount val="32"/>
                <c:pt idx="25" formatCode="#,##0">
                  <c:v>2354017</c:v>
                </c:pt>
                <c:pt idx="26" formatCode="#,##0">
                  <c:v>2428462</c:v>
                </c:pt>
                <c:pt idx="27" formatCode="#,##0">
                  <c:v>2483657</c:v>
                </c:pt>
                <c:pt idx="28" formatCode="#,##0">
                  <c:v>2519857</c:v>
                </c:pt>
                <c:pt idx="29" formatCode="#,##0">
                  <c:v>2544492</c:v>
                </c:pt>
                <c:pt idx="30" formatCode="#,##0">
                  <c:v>2562362</c:v>
                </c:pt>
                <c:pt idx="31" formatCode="#,##0">
                  <c:v>2574677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1F-CB24-43AC-BBD6-A8D37C2ADA21}"/>
            </c:ext>
          </c:extLst>
        </c:ser>
        <c:ser>
          <c:idx val="1"/>
          <c:order val="1"/>
          <c:tx>
            <c:strRef>
              <c:f>'OneColumbus region'!$D$1</c:f>
              <c:strCache>
                <c:ptCount val="1"/>
                <c:pt idx="0">
                  <c:v>50th percentile migration</c:v>
                </c:pt>
              </c:strCache>
            </c:strRef>
          </c:tx>
          <c:spPr>
            <a:ln w="25400">
              <a:solidFill>
                <a:srgbClr val="3D9BB1"/>
              </a:solidFill>
            </a:ln>
          </c:spPr>
          <c:marker>
            <c:symbol val="triangle"/>
            <c:size val="5"/>
            <c:spPr>
              <a:solidFill>
                <a:srgbClr val="3D9BB1"/>
              </a:solidFill>
              <a:ln>
                <a:solidFill>
                  <a:srgbClr val="3D9BB1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0-CB24-43AC-BBD6-A8D37C2ADA21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1-CB24-43AC-BBD6-A8D37C2ADA21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2-CB24-43AC-BBD6-A8D37C2ADA21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3-CB24-43AC-BBD6-A8D37C2ADA21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4-CB24-43AC-BBD6-A8D37C2ADA21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5-CB24-43AC-BBD6-A8D37C2ADA21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6-CB24-43AC-BBD6-A8D37C2ADA21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7-CB24-43AC-BBD6-A8D37C2ADA21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8-CB24-43AC-BBD6-A8D37C2ADA21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9-CB24-43AC-BBD6-A8D37C2ADA21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A-CB24-43AC-BBD6-A8D37C2ADA21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B-CB24-43AC-BBD6-A8D37C2ADA21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C-CB24-43AC-BBD6-A8D37C2ADA21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D-CB24-43AC-BBD6-A8D37C2ADA21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E-CB24-43AC-BBD6-A8D37C2ADA21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F-CB24-43AC-BBD6-A8D37C2ADA21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0-CB24-43AC-BBD6-A8D37C2ADA21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1-CB24-43AC-BBD6-A8D37C2ADA21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2-CB24-43AC-BBD6-A8D37C2ADA21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3-CB24-43AC-BBD6-A8D37C2ADA21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4-CB24-43AC-BBD6-A8D37C2ADA21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5-CB24-43AC-BBD6-A8D37C2ADA21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6-CB24-43AC-BBD6-A8D37C2ADA21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7-CB24-43AC-BBD6-A8D37C2ADA21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8-CB24-43AC-BBD6-A8D37C2ADA21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9-CB24-43AC-BBD6-A8D37C2ADA21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A-CB24-43AC-BBD6-A8D37C2ADA21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B-CB24-43AC-BBD6-A8D37C2ADA21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C-CB24-43AC-BBD6-A8D37C2ADA21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D-CB24-43AC-BBD6-A8D37C2ADA21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E-CB24-43AC-BBD6-A8D37C2ADA21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'OneColumbus region'!$A$2:$A$33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'OneColumbus region'!$D$2:$D$33</c:f>
              <c:numCache>
                <c:formatCode>General</c:formatCode>
                <c:ptCount val="32"/>
                <c:pt idx="25" formatCode="#,##0">
                  <c:v>2354017</c:v>
                </c:pt>
                <c:pt idx="26" formatCode="#,##0">
                  <c:v>2455962</c:v>
                </c:pt>
                <c:pt idx="27" formatCode="#,##0">
                  <c:v>2539927</c:v>
                </c:pt>
                <c:pt idx="28" formatCode="#,##0">
                  <c:v>2606772</c:v>
                </c:pt>
                <c:pt idx="29" formatCode="#,##0">
                  <c:v>2662982</c:v>
                </c:pt>
                <c:pt idx="30" formatCode="#,##0">
                  <c:v>2712797</c:v>
                </c:pt>
                <c:pt idx="31" formatCode="#,##0">
                  <c:v>2757297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3F-CB24-43AC-BBD6-A8D37C2ADA21}"/>
            </c:ext>
          </c:extLst>
        </c:ser>
        <c:ser>
          <c:idx val="2"/>
          <c:order val="2"/>
          <c:tx>
            <c:strRef>
              <c:f>'OneColumbus region'!$E$1</c:f>
              <c:strCache>
                <c:ptCount val="1"/>
                <c:pt idx="0">
                  <c:v>75th percentile migration</c:v>
                </c:pt>
              </c:strCache>
            </c:strRef>
          </c:tx>
          <c:spPr>
            <a:ln w="25400">
              <a:solidFill>
                <a:srgbClr val="D95F27"/>
              </a:solidFill>
            </a:ln>
          </c:spPr>
          <c:marker>
            <c:symbol val="diamond"/>
            <c:size val="5"/>
            <c:spPr>
              <a:solidFill>
                <a:srgbClr val="D95F27"/>
              </a:solidFill>
              <a:ln>
                <a:solidFill>
                  <a:srgbClr val="D95F27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0-CB24-43AC-BBD6-A8D37C2ADA21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1-CB24-43AC-BBD6-A8D37C2ADA21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2-CB24-43AC-BBD6-A8D37C2ADA21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3-CB24-43AC-BBD6-A8D37C2ADA21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4-CB24-43AC-BBD6-A8D37C2ADA21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5-CB24-43AC-BBD6-A8D37C2ADA21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6-CB24-43AC-BBD6-A8D37C2ADA21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7-CB24-43AC-BBD6-A8D37C2ADA21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8-CB24-43AC-BBD6-A8D37C2ADA21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9-CB24-43AC-BBD6-A8D37C2ADA21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A-CB24-43AC-BBD6-A8D37C2ADA21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B-CB24-43AC-BBD6-A8D37C2ADA21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C-CB24-43AC-BBD6-A8D37C2ADA21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D-CB24-43AC-BBD6-A8D37C2ADA21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E-CB24-43AC-BBD6-A8D37C2ADA21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F-CB24-43AC-BBD6-A8D37C2ADA21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0-CB24-43AC-BBD6-A8D37C2ADA21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1-CB24-43AC-BBD6-A8D37C2ADA21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2-CB24-43AC-BBD6-A8D37C2ADA21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3-CB24-43AC-BBD6-A8D37C2ADA21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4-CB24-43AC-BBD6-A8D37C2ADA21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5-CB24-43AC-BBD6-A8D37C2ADA21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6-CB24-43AC-BBD6-A8D37C2ADA21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7-CB24-43AC-BBD6-A8D37C2ADA21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8-CB24-43AC-BBD6-A8D37C2ADA21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9-CB24-43AC-BBD6-A8D37C2ADA21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A-CB24-43AC-BBD6-A8D37C2ADA21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B-CB24-43AC-BBD6-A8D37C2ADA21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C-CB24-43AC-BBD6-A8D37C2ADA21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D-CB24-43AC-BBD6-A8D37C2ADA21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E-CB24-43AC-BBD6-A8D37C2ADA21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'OneColumbus region'!$A$2:$A$33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'OneColumbus region'!$E$2:$E$33</c:f>
              <c:numCache>
                <c:formatCode>General</c:formatCode>
                <c:ptCount val="32"/>
                <c:pt idx="25" formatCode="#,##0">
                  <c:v>2354017</c:v>
                </c:pt>
                <c:pt idx="26" formatCode="#,##0">
                  <c:v>2488562</c:v>
                </c:pt>
                <c:pt idx="27" formatCode="#,##0">
                  <c:v>2606627</c:v>
                </c:pt>
                <c:pt idx="28" formatCode="#,##0">
                  <c:v>2709432</c:v>
                </c:pt>
                <c:pt idx="29" formatCode="#,##0">
                  <c:v>2802932</c:v>
                </c:pt>
                <c:pt idx="30" formatCode="#,##0">
                  <c:v>2890792</c:v>
                </c:pt>
                <c:pt idx="31" formatCode="#,##0">
                  <c:v>2973802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5F-CB24-43AC-BBD6-A8D37C2ADA21}"/>
            </c:ext>
          </c:extLst>
        </c:ser>
        <c:ser>
          <c:idx val="3"/>
          <c:order val="3"/>
          <c:tx>
            <c:strRef>
              <c:f>'OneColumbus region'!$B$1</c:f>
              <c:strCache>
                <c:ptCount val="1"/>
                <c:pt idx="0">
                  <c:v>Historical</c:v>
                </c:pt>
              </c:strCache>
            </c:strRef>
          </c:tx>
          <c:spPr>
            <a:ln w="25400">
              <a:solidFill>
                <a:srgbClr val="193764"/>
              </a:solidFill>
            </a:ln>
          </c:spPr>
          <c:marker>
            <c:symbol val="circle"/>
            <c:size val="5"/>
            <c:spPr>
              <a:solidFill>
                <a:srgbClr val="193764"/>
              </a:solidFill>
              <a:ln>
                <a:solidFill>
                  <a:srgbClr val="193764"/>
                </a:solidFill>
              </a:ln>
            </c:spPr>
          </c:marker>
          <c:dLbls>
            <c:dLbl>
              <c:idx val="0"/>
              <c:layout>
                <c:manualLayout>
                  <c:x val="1.6230096237970226E-2"/>
                  <c:y val="8.5949000900434891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0-CB24-43AC-BBD6-A8D37C2ADA21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1-CB24-43AC-BBD6-A8D37C2ADA21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2-CB24-43AC-BBD6-A8D37C2ADA21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3-CB24-43AC-BBD6-A8D37C2ADA21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4-CB24-43AC-BBD6-A8D37C2ADA21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5-CB24-43AC-BBD6-A8D37C2ADA21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6-CB24-43AC-BBD6-A8D37C2ADA21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7-CB24-43AC-BBD6-A8D37C2ADA21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8-CB24-43AC-BBD6-A8D37C2ADA21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9-CB24-43AC-BBD6-A8D37C2ADA21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A-CB24-43AC-BBD6-A8D37C2ADA21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B-CB24-43AC-BBD6-A8D37C2ADA21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C-CB24-43AC-BBD6-A8D37C2ADA21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D-CB24-43AC-BBD6-A8D37C2ADA21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E-CB24-43AC-BBD6-A8D37C2ADA21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F-CB24-43AC-BBD6-A8D37C2ADA21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0-CB24-43AC-BBD6-A8D37C2ADA21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1-CB24-43AC-BBD6-A8D37C2ADA21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2-CB24-43AC-BBD6-A8D37C2ADA21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3-CB24-43AC-BBD6-A8D37C2ADA21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4-CB24-43AC-BBD6-A8D37C2ADA21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5-CB24-43AC-BBD6-A8D37C2ADA21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6-CB24-43AC-BBD6-A8D37C2ADA21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7-CB24-43AC-BBD6-A8D37C2ADA21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8-CB24-43AC-BBD6-A8D37C2ADA21}"/>
                </c:ext>
              </c:extLst>
            </c:dLbl>
            <c:dLbl>
              <c:idx val="25"/>
              <c:layout>
                <c:manualLayout>
                  <c:x val="-4.7261967254093241E-2"/>
                  <c:y val="9.0815180949096685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9-CB24-43AC-BBD6-A8D37C2ADA21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A-CB24-43AC-BBD6-A8D37C2ADA21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B-CB24-43AC-BBD6-A8D37C2ADA21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C-CB24-43AC-BBD6-A8D37C2ADA21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D-CB24-43AC-BBD6-A8D37C2ADA21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E-CB24-43AC-BBD6-A8D37C2ADA21}"/>
                </c:ext>
              </c:extLst>
            </c:dLbl>
            <c:dLbl>
              <c:idx val="3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F-CB24-43AC-BBD6-A8D37C2ADA21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'OneColumbus region'!$A$2:$A$33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'OneColumbus region'!$B$2:$B$33</c:f>
              <c:numCache>
                <c:formatCode>#,##0</c:formatCode>
                <c:ptCount val="32"/>
                <c:pt idx="0">
                  <c:v>1786442</c:v>
                </c:pt>
                <c:pt idx="1">
                  <c:v>1811433</c:v>
                </c:pt>
                <c:pt idx="2">
                  <c:v>1831724</c:v>
                </c:pt>
                <c:pt idx="3">
                  <c:v>1855356</c:v>
                </c:pt>
                <c:pt idx="4">
                  <c:v>1876096</c:v>
                </c:pt>
                <c:pt idx="5">
                  <c:v>1897989</c:v>
                </c:pt>
                <c:pt idx="6">
                  <c:v>1923906</c:v>
                </c:pt>
                <c:pt idx="7">
                  <c:v>1949023</c:v>
                </c:pt>
                <c:pt idx="8">
                  <c:v>1973355</c:v>
                </c:pt>
                <c:pt idx="9">
                  <c:v>1995379</c:v>
                </c:pt>
                <c:pt idx="10">
                  <c:v>2014295</c:v>
                </c:pt>
                <c:pt idx="11">
                  <c:v>2034975</c:v>
                </c:pt>
                <c:pt idx="12">
                  <c:v>2055867</c:v>
                </c:pt>
                <c:pt idx="13">
                  <c:v>2083804</c:v>
                </c:pt>
                <c:pt idx="14">
                  <c:v>2112072</c:v>
                </c:pt>
                <c:pt idx="15">
                  <c:v>2138287</c:v>
                </c:pt>
                <c:pt idx="16">
                  <c:v>2163631</c:v>
                </c:pt>
                <c:pt idx="17">
                  <c:v>2194762</c:v>
                </c:pt>
                <c:pt idx="18">
                  <c:v>2217827</c:v>
                </c:pt>
                <c:pt idx="19">
                  <c:v>2238409</c:v>
                </c:pt>
                <c:pt idx="20">
                  <c:v>2252790</c:v>
                </c:pt>
                <c:pt idx="21">
                  <c:v>2257137</c:v>
                </c:pt>
                <c:pt idx="22">
                  <c:v>2277389</c:v>
                </c:pt>
                <c:pt idx="23">
                  <c:v>2303039</c:v>
                </c:pt>
                <c:pt idx="24">
                  <c:v>2332064</c:v>
                </c:pt>
                <c:pt idx="25">
                  <c:v>2354017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80-CB24-43AC-BBD6-A8D37C2ADA2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0220001"/>
        <c:axId val="50220002"/>
      </c:scatterChart>
      <c:valAx>
        <c:axId val="50220001"/>
        <c:scaling>
          <c:orientation val="minMax"/>
          <c:max val="2055"/>
          <c:min val="2000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 baseline="0"/>
            </a:pPr>
            <a:endParaRPr lang="en-US"/>
          </a:p>
        </c:txPr>
        <c:crossAx val="50220002"/>
        <c:crosses val="autoZero"/>
        <c:crossBetween val="midCat"/>
        <c:majorUnit val="5"/>
      </c:valAx>
      <c:valAx>
        <c:axId val="5022000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 baseline="0"/>
            </a:pPr>
            <a:endParaRPr lang="en-US"/>
          </a:p>
        </c:txPr>
        <c:crossAx val="50220001"/>
        <c:crosses val="autoZero"/>
        <c:crossBetween val="midCat"/>
      </c:valAx>
    </c:plotArea>
    <c:legend>
      <c:legendPos val="b"/>
      <c:layout>
        <c:manualLayout>
          <c:xMode val="edge"/>
          <c:yMode val="edge"/>
          <c:x val="0.13"/>
          <c:y val="0.87"/>
          <c:w val="0.65"/>
          <c:h val="0.1"/>
        </c:manualLayout>
      </c:layout>
      <c:overlay val="0"/>
      <c:txPr>
        <a:bodyPr/>
        <a:lstStyle/>
        <a:p>
          <a:pPr>
            <a:defRPr sz="1400" baseline="0"/>
          </a:pPr>
          <a:endParaRPr lang="en-US"/>
        </a:p>
      </c:txPr>
    </c:legend>
    <c:plotVisOnly val="1"/>
    <c:dispBlanksAs val="gap"/>
    <c:showDLblsOverMax val="0"/>
  </c:chart>
  <c:externalData r:id="rId2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/>
          <a:lstStyle/>
          <a:p>
            <a:pPr>
              <a:defRPr/>
            </a:pPr>
            <a:r>
              <a:rPr lang="en-US" dirty="0"/>
              <a:t>Historical and </a:t>
            </a:r>
            <a:r>
              <a:rPr lang="en-US" sz="1800" b="1" i="0" u="none" strike="noStrike" baseline="0" dirty="0">
                <a:effectLst/>
              </a:rPr>
              <a:t>Projected</a:t>
            </a:r>
            <a:r>
              <a:rPr lang="en-US" dirty="0"/>
              <a:t> Population - Franklin-Delaware County Region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13"/>
          <c:y val="0.12"/>
          <c:w val="0.75"/>
          <c:h val="0.65"/>
        </c:manualLayout>
      </c:layout>
      <c:scatterChart>
        <c:scatterStyle val="lineMarker"/>
        <c:varyColors val="0"/>
        <c:ser>
          <c:idx val="0"/>
          <c:order val="0"/>
          <c:tx>
            <c:strRef>
              <c:f>'Franklin-Delaware county region'!$C$1</c:f>
              <c:strCache>
                <c:ptCount val="1"/>
                <c:pt idx="0">
                  <c:v>25th percentile migration</c:v>
                </c:pt>
              </c:strCache>
            </c:strRef>
          </c:tx>
          <c:spPr>
            <a:ln w="25400">
              <a:solidFill>
                <a:srgbClr val="597C3E"/>
              </a:solidFill>
            </a:ln>
          </c:spPr>
          <c:marker>
            <c:symbol val="square"/>
            <c:size val="5"/>
            <c:spPr>
              <a:solidFill>
                <a:srgbClr val="597C3E"/>
              </a:solidFill>
              <a:ln>
                <a:solidFill>
                  <a:srgbClr val="597C3E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7E2B-48A6-B8CF-A8FDA5E8A73B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E2B-48A6-B8CF-A8FDA5E8A73B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7E2B-48A6-B8CF-A8FDA5E8A73B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E2B-48A6-B8CF-A8FDA5E8A73B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7E2B-48A6-B8CF-A8FDA5E8A73B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E2B-48A6-B8CF-A8FDA5E8A73B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7E2B-48A6-B8CF-A8FDA5E8A73B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7E2B-48A6-B8CF-A8FDA5E8A73B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7E2B-48A6-B8CF-A8FDA5E8A73B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7E2B-48A6-B8CF-A8FDA5E8A73B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7E2B-48A6-B8CF-A8FDA5E8A73B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E2B-48A6-B8CF-A8FDA5E8A73B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7E2B-48A6-B8CF-A8FDA5E8A73B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7E2B-48A6-B8CF-A8FDA5E8A73B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7E2B-48A6-B8CF-A8FDA5E8A73B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7E2B-48A6-B8CF-A8FDA5E8A73B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0-7E2B-48A6-B8CF-A8FDA5E8A73B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7E2B-48A6-B8CF-A8FDA5E8A73B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2-7E2B-48A6-B8CF-A8FDA5E8A73B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7E2B-48A6-B8CF-A8FDA5E8A73B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4-7E2B-48A6-B8CF-A8FDA5E8A73B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5-7E2B-48A6-B8CF-A8FDA5E8A73B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6-7E2B-48A6-B8CF-A8FDA5E8A73B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7-7E2B-48A6-B8CF-A8FDA5E8A73B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8-7E2B-48A6-B8CF-A8FDA5E8A73B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9-7E2B-48A6-B8CF-A8FDA5E8A73B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A-7E2B-48A6-B8CF-A8FDA5E8A73B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B-7E2B-48A6-B8CF-A8FDA5E8A73B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C-7E2B-48A6-B8CF-A8FDA5E8A73B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D-7E2B-48A6-B8CF-A8FDA5E8A73B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E-7E2B-48A6-B8CF-A8FDA5E8A73B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'Franklin-Delaware county region'!$A$2:$A$33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'Franklin-Delaware county region'!$C$2:$C$33</c:f>
              <c:numCache>
                <c:formatCode>General</c:formatCode>
                <c:ptCount val="32"/>
                <c:pt idx="25" formatCode="#,##0">
                  <c:v>1603568</c:v>
                </c:pt>
                <c:pt idx="26" formatCode="#,##0">
                  <c:v>1671538</c:v>
                </c:pt>
                <c:pt idx="27" formatCode="#,##0">
                  <c:v>1729493</c:v>
                </c:pt>
                <c:pt idx="28" formatCode="#,##0">
                  <c:v>1774208</c:v>
                </c:pt>
                <c:pt idx="29" formatCode="#,##0">
                  <c:v>1808978</c:v>
                </c:pt>
                <c:pt idx="30" formatCode="#,##0">
                  <c:v>1837563</c:v>
                </c:pt>
                <c:pt idx="31" formatCode="#,##0">
                  <c:v>1861343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1F-7E2B-48A6-B8CF-A8FDA5E8A73B}"/>
            </c:ext>
          </c:extLst>
        </c:ser>
        <c:ser>
          <c:idx val="1"/>
          <c:order val="1"/>
          <c:tx>
            <c:strRef>
              <c:f>'Franklin-Delaware county region'!$D$1</c:f>
              <c:strCache>
                <c:ptCount val="1"/>
                <c:pt idx="0">
                  <c:v>50th percentile migration</c:v>
                </c:pt>
              </c:strCache>
            </c:strRef>
          </c:tx>
          <c:spPr>
            <a:ln w="25400">
              <a:solidFill>
                <a:srgbClr val="3D9BB1"/>
              </a:solidFill>
            </a:ln>
          </c:spPr>
          <c:marker>
            <c:symbol val="triangle"/>
            <c:size val="5"/>
            <c:spPr>
              <a:solidFill>
                <a:srgbClr val="3D9BB1"/>
              </a:solidFill>
              <a:ln>
                <a:solidFill>
                  <a:srgbClr val="3D9BB1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0-7E2B-48A6-B8CF-A8FDA5E8A73B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1-7E2B-48A6-B8CF-A8FDA5E8A73B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2-7E2B-48A6-B8CF-A8FDA5E8A73B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3-7E2B-48A6-B8CF-A8FDA5E8A73B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4-7E2B-48A6-B8CF-A8FDA5E8A73B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5-7E2B-48A6-B8CF-A8FDA5E8A73B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6-7E2B-48A6-B8CF-A8FDA5E8A73B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7-7E2B-48A6-B8CF-A8FDA5E8A73B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8-7E2B-48A6-B8CF-A8FDA5E8A73B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9-7E2B-48A6-B8CF-A8FDA5E8A73B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A-7E2B-48A6-B8CF-A8FDA5E8A73B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B-7E2B-48A6-B8CF-A8FDA5E8A73B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C-7E2B-48A6-B8CF-A8FDA5E8A73B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D-7E2B-48A6-B8CF-A8FDA5E8A73B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E-7E2B-48A6-B8CF-A8FDA5E8A73B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F-7E2B-48A6-B8CF-A8FDA5E8A73B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0-7E2B-48A6-B8CF-A8FDA5E8A73B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1-7E2B-48A6-B8CF-A8FDA5E8A73B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2-7E2B-48A6-B8CF-A8FDA5E8A73B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3-7E2B-48A6-B8CF-A8FDA5E8A73B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4-7E2B-48A6-B8CF-A8FDA5E8A73B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5-7E2B-48A6-B8CF-A8FDA5E8A73B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6-7E2B-48A6-B8CF-A8FDA5E8A73B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7-7E2B-48A6-B8CF-A8FDA5E8A73B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8-7E2B-48A6-B8CF-A8FDA5E8A73B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9-7E2B-48A6-B8CF-A8FDA5E8A73B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A-7E2B-48A6-B8CF-A8FDA5E8A73B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B-7E2B-48A6-B8CF-A8FDA5E8A73B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C-7E2B-48A6-B8CF-A8FDA5E8A73B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D-7E2B-48A6-B8CF-A8FDA5E8A73B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3E-7E2B-48A6-B8CF-A8FDA5E8A73B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'Franklin-Delaware county region'!$A$2:$A$33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'Franklin-Delaware county region'!$D$2:$D$33</c:f>
              <c:numCache>
                <c:formatCode>General</c:formatCode>
                <c:ptCount val="32"/>
                <c:pt idx="25" formatCode="#,##0">
                  <c:v>1603568</c:v>
                </c:pt>
                <c:pt idx="26" formatCode="#,##0">
                  <c:v>1686723</c:v>
                </c:pt>
                <c:pt idx="27" formatCode="#,##0">
                  <c:v>1761063</c:v>
                </c:pt>
                <c:pt idx="28" formatCode="#,##0">
                  <c:v>1823353</c:v>
                </c:pt>
                <c:pt idx="29" formatCode="#,##0">
                  <c:v>1876178</c:v>
                </c:pt>
                <c:pt idx="30" formatCode="#,##0">
                  <c:v>1922853</c:v>
                </c:pt>
                <c:pt idx="31" formatCode="#,##0">
                  <c:v>1964748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3F-7E2B-48A6-B8CF-A8FDA5E8A73B}"/>
            </c:ext>
          </c:extLst>
        </c:ser>
        <c:ser>
          <c:idx val="2"/>
          <c:order val="2"/>
          <c:tx>
            <c:strRef>
              <c:f>'Franklin-Delaware county region'!$E$1</c:f>
              <c:strCache>
                <c:ptCount val="1"/>
                <c:pt idx="0">
                  <c:v>75th percentile migration</c:v>
                </c:pt>
              </c:strCache>
            </c:strRef>
          </c:tx>
          <c:spPr>
            <a:ln w="25400">
              <a:solidFill>
                <a:srgbClr val="D95F27"/>
              </a:solidFill>
            </a:ln>
          </c:spPr>
          <c:marker>
            <c:symbol val="diamond"/>
            <c:size val="5"/>
            <c:spPr>
              <a:solidFill>
                <a:srgbClr val="D95F27"/>
              </a:solidFill>
              <a:ln>
                <a:solidFill>
                  <a:srgbClr val="D95F27"/>
                </a:solidFill>
              </a:ln>
            </c:spPr>
          </c:marker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0-7E2B-48A6-B8CF-A8FDA5E8A73B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1-7E2B-48A6-B8CF-A8FDA5E8A73B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2-7E2B-48A6-B8CF-A8FDA5E8A73B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3-7E2B-48A6-B8CF-A8FDA5E8A73B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4-7E2B-48A6-B8CF-A8FDA5E8A73B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5-7E2B-48A6-B8CF-A8FDA5E8A73B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6-7E2B-48A6-B8CF-A8FDA5E8A73B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7-7E2B-48A6-B8CF-A8FDA5E8A73B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8-7E2B-48A6-B8CF-A8FDA5E8A73B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9-7E2B-48A6-B8CF-A8FDA5E8A73B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A-7E2B-48A6-B8CF-A8FDA5E8A73B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B-7E2B-48A6-B8CF-A8FDA5E8A73B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C-7E2B-48A6-B8CF-A8FDA5E8A73B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D-7E2B-48A6-B8CF-A8FDA5E8A73B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E-7E2B-48A6-B8CF-A8FDA5E8A73B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4F-7E2B-48A6-B8CF-A8FDA5E8A73B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0-7E2B-48A6-B8CF-A8FDA5E8A73B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1-7E2B-48A6-B8CF-A8FDA5E8A73B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2-7E2B-48A6-B8CF-A8FDA5E8A73B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3-7E2B-48A6-B8CF-A8FDA5E8A73B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4-7E2B-48A6-B8CF-A8FDA5E8A73B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5-7E2B-48A6-B8CF-A8FDA5E8A73B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6-7E2B-48A6-B8CF-A8FDA5E8A73B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7-7E2B-48A6-B8CF-A8FDA5E8A73B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8-7E2B-48A6-B8CF-A8FDA5E8A73B}"/>
                </c:ext>
              </c:extLst>
            </c:dLbl>
            <c:dLbl>
              <c:idx val="2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9-7E2B-48A6-B8CF-A8FDA5E8A73B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A-7E2B-48A6-B8CF-A8FDA5E8A73B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B-7E2B-48A6-B8CF-A8FDA5E8A73B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C-7E2B-48A6-B8CF-A8FDA5E8A73B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D-7E2B-48A6-B8CF-A8FDA5E8A73B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5E-7E2B-48A6-B8CF-A8FDA5E8A73B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'Franklin-Delaware county region'!$A$2:$A$33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'Franklin-Delaware county region'!$E$2:$E$33</c:f>
              <c:numCache>
                <c:formatCode>General</c:formatCode>
                <c:ptCount val="32"/>
                <c:pt idx="25" formatCode="#,##0">
                  <c:v>1603568</c:v>
                </c:pt>
                <c:pt idx="26" formatCode="#,##0">
                  <c:v>1706138</c:v>
                </c:pt>
                <c:pt idx="27" formatCode="#,##0">
                  <c:v>1801228</c:v>
                </c:pt>
                <c:pt idx="28" formatCode="#,##0">
                  <c:v>1885583</c:v>
                </c:pt>
                <c:pt idx="29" formatCode="#,##0">
                  <c:v>1961073</c:v>
                </c:pt>
                <c:pt idx="30" formatCode="#,##0">
                  <c:v>2030658</c:v>
                </c:pt>
                <c:pt idx="31" formatCode="#,##0">
                  <c:v>2095623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5F-7E2B-48A6-B8CF-A8FDA5E8A73B}"/>
            </c:ext>
          </c:extLst>
        </c:ser>
        <c:ser>
          <c:idx val="3"/>
          <c:order val="3"/>
          <c:tx>
            <c:strRef>
              <c:f>'Franklin-Delaware county region'!$B$1</c:f>
              <c:strCache>
                <c:ptCount val="1"/>
                <c:pt idx="0">
                  <c:v>Historical</c:v>
                </c:pt>
              </c:strCache>
            </c:strRef>
          </c:tx>
          <c:spPr>
            <a:ln w="25400">
              <a:solidFill>
                <a:srgbClr val="193764"/>
              </a:solidFill>
            </a:ln>
          </c:spPr>
          <c:marker>
            <c:symbol val="circle"/>
            <c:size val="5"/>
            <c:spPr>
              <a:solidFill>
                <a:srgbClr val="193764"/>
              </a:solidFill>
              <a:ln>
                <a:solidFill>
                  <a:srgbClr val="193764"/>
                </a:solidFill>
              </a:ln>
            </c:spPr>
          </c:marker>
          <c:dLbls>
            <c:dLbl>
              <c:idx val="0"/>
              <c:layout>
                <c:manualLayout>
                  <c:x val="1.9404699412573428E-2"/>
                  <c:y val="7.8649730827442185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0-7E2B-48A6-B8CF-A8FDA5E8A73B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1-7E2B-48A6-B8CF-A8FDA5E8A73B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2-7E2B-48A6-B8CF-A8FDA5E8A73B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3-7E2B-48A6-B8CF-A8FDA5E8A73B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4-7E2B-48A6-B8CF-A8FDA5E8A73B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5-7E2B-48A6-B8CF-A8FDA5E8A73B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6-7E2B-48A6-B8CF-A8FDA5E8A73B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7-7E2B-48A6-B8CF-A8FDA5E8A73B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8-7E2B-48A6-B8CF-A8FDA5E8A73B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9-7E2B-48A6-B8CF-A8FDA5E8A73B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A-7E2B-48A6-B8CF-A8FDA5E8A73B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B-7E2B-48A6-B8CF-A8FDA5E8A73B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C-7E2B-48A6-B8CF-A8FDA5E8A73B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D-7E2B-48A6-B8CF-A8FDA5E8A73B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E-7E2B-48A6-B8CF-A8FDA5E8A73B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6F-7E2B-48A6-B8CF-A8FDA5E8A73B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0-7E2B-48A6-B8CF-A8FDA5E8A73B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1-7E2B-48A6-B8CF-A8FDA5E8A73B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2-7E2B-48A6-B8CF-A8FDA5E8A73B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3-7E2B-48A6-B8CF-A8FDA5E8A73B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4-7E2B-48A6-B8CF-A8FDA5E8A73B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5-7E2B-48A6-B8CF-A8FDA5E8A73B}"/>
                </c:ext>
              </c:extLst>
            </c:dLbl>
            <c:dLbl>
              <c:idx val="2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6-7E2B-48A6-B8CF-A8FDA5E8A73B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7-7E2B-48A6-B8CF-A8FDA5E8A73B}"/>
                </c:ext>
              </c:extLst>
            </c:dLbl>
            <c:dLbl>
              <c:idx val="2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8-7E2B-48A6-B8CF-A8FDA5E8A73B}"/>
                </c:ext>
              </c:extLst>
            </c:dLbl>
            <c:dLbl>
              <c:idx val="25"/>
              <c:layout>
                <c:manualLayout>
                  <c:x val="-4.2500062492188476E-2"/>
                  <c:y val="7.3783550778780294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9-7E2B-48A6-B8CF-A8FDA5E8A73B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A-7E2B-48A6-B8CF-A8FDA5E8A73B}"/>
                </c:ext>
              </c:extLst>
            </c:dLbl>
            <c:dLbl>
              <c:idx val="2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B-7E2B-48A6-B8CF-A8FDA5E8A73B}"/>
                </c:ext>
              </c:extLst>
            </c:dLbl>
            <c:dLbl>
              <c:idx val="2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C-7E2B-48A6-B8CF-A8FDA5E8A73B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D-7E2B-48A6-B8CF-A8FDA5E8A73B}"/>
                </c:ext>
              </c:extLst>
            </c:dLbl>
            <c:dLbl>
              <c:idx val="3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E-7E2B-48A6-B8CF-A8FDA5E8A73B}"/>
                </c:ext>
              </c:extLst>
            </c:dLbl>
            <c:dLbl>
              <c:idx val="3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7F-7E2B-48A6-B8CF-A8FDA5E8A73B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aseline="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xVal>
            <c:numRef>
              <c:f>'Franklin-Delaware county region'!$A$2:$A$33</c:f>
              <c:numCache>
                <c:formatCode>General</c:formatCode>
                <c:ptCount val="32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  <c:pt idx="25">
                  <c:v>2025</c:v>
                </c:pt>
                <c:pt idx="26">
                  <c:v>2030</c:v>
                </c:pt>
                <c:pt idx="27">
                  <c:v>2035</c:v>
                </c:pt>
                <c:pt idx="28">
                  <c:v>2040</c:v>
                </c:pt>
                <c:pt idx="29">
                  <c:v>2045</c:v>
                </c:pt>
                <c:pt idx="30">
                  <c:v>2050</c:v>
                </c:pt>
                <c:pt idx="31">
                  <c:v>2055</c:v>
                </c:pt>
              </c:numCache>
            </c:numRef>
          </c:xVal>
          <c:yVal>
            <c:numRef>
              <c:f>'Franklin-Delaware county region'!$B$2:$B$33</c:f>
              <c:numCache>
                <c:formatCode>#,##0</c:formatCode>
                <c:ptCount val="32"/>
                <c:pt idx="0">
                  <c:v>1183777</c:v>
                </c:pt>
                <c:pt idx="1">
                  <c:v>1201584</c:v>
                </c:pt>
                <c:pt idx="2">
                  <c:v>1214865</c:v>
                </c:pt>
                <c:pt idx="3">
                  <c:v>1229092</c:v>
                </c:pt>
                <c:pt idx="4">
                  <c:v>1240951</c:v>
                </c:pt>
                <c:pt idx="5">
                  <c:v>1254650</c:v>
                </c:pt>
                <c:pt idx="6">
                  <c:v>1272088</c:v>
                </c:pt>
                <c:pt idx="7">
                  <c:v>1288970</c:v>
                </c:pt>
                <c:pt idx="8">
                  <c:v>1307835</c:v>
                </c:pt>
                <c:pt idx="9">
                  <c:v>1326084</c:v>
                </c:pt>
                <c:pt idx="10">
                  <c:v>1341366</c:v>
                </c:pt>
                <c:pt idx="11">
                  <c:v>1359670</c:v>
                </c:pt>
                <c:pt idx="12">
                  <c:v>1380796</c:v>
                </c:pt>
                <c:pt idx="13">
                  <c:v>1405172</c:v>
                </c:pt>
                <c:pt idx="14">
                  <c:v>1428983</c:v>
                </c:pt>
                <c:pt idx="15">
                  <c:v>1452227</c:v>
                </c:pt>
                <c:pt idx="16">
                  <c:v>1473502</c:v>
                </c:pt>
                <c:pt idx="17">
                  <c:v>1498514</c:v>
                </c:pt>
                <c:pt idx="18">
                  <c:v>1515065</c:v>
                </c:pt>
                <c:pt idx="19">
                  <c:v>1529789</c:v>
                </c:pt>
                <c:pt idx="20">
                  <c:v>1539659</c:v>
                </c:pt>
                <c:pt idx="21">
                  <c:v>1538570</c:v>
                </c:pt>
                <c:pt idx="22">
                  <c:v>1553201</c:v>
                </c:pt>
                <c:pt idx="23">
                  <c:v>1569174</c:v>
                </c:pt>
                <c:pt idx="24">
                  <c:v>1589519</c:v>
                </c:pt>
                <c:pt idx="25">
                  <c:v>1603568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80-7E2B-48A6-B8CF-A8FDA5E8A73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0230001"/>
        <c:axId val="50230002"/>
      </c:scatterChart>
      <c:valAx>
        <c:axId val="50230001"/>
        <c:scaling>
          <c:orientation val="minMax"/>
          <c:max val="2055"/>
          <c:min val="2000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 baseline="0"/>
            </a:pPr>
            <a:endParaRPr lang="en-US"/>
          </a:p>
        </c:txPr>
        <c:crossAx val="50230002"/>
        <c:crosses val="autoZero"/>
        <c:crossBetween val="midCat"/>
        <c:majorUnit val="5"/>
      </c:valAx>
      <c:valAx>
        <c:axId val="5023000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 baseline="0"/>
            </a:pPr>
            <a:endParaRPr lang="en-US"/>
          </a:p>
        </c:txPr>
        <c:crossAx val="50230001"/>
        <c:crosses val="autoZero"/>
        <c:crossBetween val="midCat"/>
      </c:valAx>
    </c:plotArea>
    <c:legend>
      <c:legendPos val="b"/>
      <c:layout>
        <c:manualLayout>
          <c:xMode val="edge"/>
          <c:yMode val="edge"/>
          <c:x val="0.13"/>
          <c:y val="0.87"/>
          <c:w val="0.65"/>
          <c:h val="0.1"/>
        </c:manualLayout>
      </c:layout>
      <c:overlay val="0"/>
      <c:txPr>
        <a:bodyPr/>
        <a:lstStyle/>
        <a:p>
          <a:pPr>
            <a:defRPr sz="1400" baseline="0"/>
          </a:pPr>
          <a:endParaRPr lang="en-US"/>
        </a:p>
      </c:txPr>
    </c:legend>
    <c:plotVisOnly val="1"/>
    <c:dispBlanksAs val="gap"/>
    <c:showDLblsOverMax val="0"/>
  </c:chart>
  <c:externalData r:id="rId2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0A156E-0FFB-4D6D-829D-D14864411A8E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C962A5-689A-4992-BE5F-9C6326FFFF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40179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CCA3B5-86ED-132C-5D6C-EB4773F8C1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C568D3-68AF-0757-4999-69E18EBAAE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4E7898-3D2D-2C1B-D00D-D4A6B142EB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A260E0-16C0-462D-A2C8-F3CE7431A5E7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75A424-EEDE-B470-58B2-6F39E36BB0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425901-23EC-DC3C-13E5-9E80B68AC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4A5A5B-371D-4B70-89BE-28AB01B802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4931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A94CB4-90F7-4B5F-EB52-BE7DB6F41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65D97-E075-CCE2-67F5-3AC180391E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85ADBB-8C13-00CA-74A9-CE5BEFDFE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A260E0-16C0-462D-A2C8-F3CE7431A5E7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DA742F-4E8C-1634-0D32-51268B7C9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026462-C963-2EDF-2C8E-A98EB76A7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4A5A5B-371D-4B70-89BE-28AB01B802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20768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E631E-E154-A527-DE8E-4B8FB6B0B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148725-62EC-3906-61FE-F1C673AB65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EEB187-54CA-F8A5-3C0D-F7B34044BD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A260E0-16C0-462D-A2C8-F3CE7431A5E7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6F1641-41F3-18B1-2DAF-C7429F2A9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F19EA4-C743-DE80-9282-C0E424428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4A5A5B-371D-4B70-89BE-28AB01B802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59501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EF7F3-D54D-A43C-9B27-013876693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3319E6-5CB8-57B8-97DD-823DE8359F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05DFFF-B31C-D44E-5135-5750005173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A77025D-5DF0-D09B-ED95-F89F1740D4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A260E0-16C0-462D-A2C8-F3CE7431A5E7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0EFFBE-B93D-47DC-9E0A-1323AD7DCB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413D6D-EBC2-039D-A880-2DEB34474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4A5A5B-371D-4B70-89BE-28AB01B802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7568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C4106B-3EAE-81A2-4024-1787A15AA6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5D21BD-DDA9-8A91-E211-AAD11CA053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CE68FF-5240-70A2-0347-A8F2BAD204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E9B3B1-69FD-3FF3-427F-6907AFFBFB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48A3BA9-05D2-4E8C-E1A6-59FEFBD3601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107EC97-301A-8880-D18E-8A2BA18AC8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A260E0-16C0-462D-A2C8-F3CE7431A5E7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901F159-AC2A-4A13-5DAC-059DDB6993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94C719-C5AC-DF8D-9535-C263D6307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4A5A5B-371D-4B70-89BE-28AB01B802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1302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66D93-5DAB-D401-0BCD-5AE285FD5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5BBD7E-64CB-5247-05A8-80F2CBCEAC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A260E0-16C0-462D-A2C8-F3CE7431A5E7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4C1751-CEA7-0CD2-356F-037357C5DC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833880-0946-03D6-93C2-AF968D947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4A5A5B-371D-4B70-89BE-28AB01B802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4231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2F8A1E5-A088-5385-1866-8E201DE3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A260E0-16C0-462D-A2C8-F3CE7431A5E7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49767C-D3E5-F3BB-5282-69175081B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0464CB-2EDA-464F-3136-F669E44503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4A5A5B-371D-4B70-89BE-28AB01B802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44497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B3428C-5D91-C0D9-E93A-081566C43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9D75FF-BC0D-B2A4-C267-3491FB0AD8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34D15D5-779B-100C-7F82-4A56885C1D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C5DF96-8A7A-B536-4171-3E95204F04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A260E0-16C0-462D-A2C8-F3CE7431A5E7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2A23C8-ECDB-9DB8-5881-AF31E64195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0297D5-10E7-C921-EC2C-379CDB6CE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4A5A5B-371D-4B70-89BE-28AB01B802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1996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2CDA8-8953-3146-B846-54FA825FBE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A25D4B-9367-8701-C44D-B24FC216EEB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1C3DF3-0B2D-E76A-F3D4-7098EE9DCE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EE7F45-3123-72D0-A7B0-FB3CF28DB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A260E0-16C0-462D-A2C8-F3CE7431A5E7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6D2045-0BE0-8F95-8D4C-93455616D1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F684B3-B510-E06E-D2E8-5AE4588DB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4A5A5B-371D-4B70-89BE-28AB01B802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47297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76CFF2-7FE2-0595-5F74-C3BFBAC612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6EFA8A-CCBC-66C2-EDAD-3F6D163D63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BED48A-7833-DD05-16F6-FAE4A8F5FA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A260E0-16C0-462D-A2C8-F3CE7431A5E7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0D425B-711A-DE6C-F7C6-D20B0190F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9AF64A-41FB-C2E6-407A-FCFDB33846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4A5A5B-371D-4B70-89BE-28AB01B802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05206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3C68BF7-1A79-62B9-D9E3-7669F8B749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ED8CC7C-2E6B-0377-4B3D-C0A9858283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EF0251-C049-A565-5098-421DBC6098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A260E0-16C0-462D-A2C8-F3CE7431A5E7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0DAA88-717B-9947-5472-6C6D42E848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61ADCB-9135-2C4A-357E-1C6504A4F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4A5A5B-371D-4B70-89BE-28AB01B802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86098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159D249E-5375-4B86-B91D-39098583060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79425" y="847640"/>
            <a:ext cx="4303590" cy="2192655"/>
          </a:xfrm>
          <a:custGeom>
            <a:avLst/>
            <a:gdLst>
              <a:gd name="connsiteX0" fmla="*/ 154429 w 4303590"/>
              <a:gd name="connsiteY0" fmla="*/ 0 h 2192655"/>
              <a:gd name="connsiteX1" fmla="*/ 4149161 w 4303590"/>
              <a:gd name="connsiteY1" fmla="*/ 0 h 2192655"/>
              <a:gd name="connsiteX2" fmla="*/ 4303590 w 4303590"/>
              <a:gd name="connsiteY2" fmla="*/ 154429 h 2192655"/>
              <a:gd name="connsiteX3" fmla="*/ 4303590 w 4303590"/>
              <a:gd name="connsiteY3" fmla="*/ 2038226 h 2192655"/>
              <a:gd name="connsiteX4" fmla="*/ 4149161 w 4303590"/>
              <a:gd name="connsiteY4" fmla="*/ 2192655 h 2192655"/>
              <a:gd name="connsiteX5" fmla="*/ 154429 w 4303590"/>
              <a:gd name="connsiteY5" fmla="*/ 2192655 h 2192655"/>
              <a:gd name="connsiteX6" fmla="*/ 0 w 4303590"/>
              <a:gd name="connsiteY6" fmla="*/ 2038226 h 2192655"/>
              <a:gd name="connsiteX7" fmla="*/ 0 w 4303590"/>
              <a:gd name="connsiteY7" fmla="*/ 154429 h 2192655"/>
              <a:gd name="connsiteX8" fmla="*/ 154429 w 4303590"/>
              <a:gd name="connsiteY8" fmla="*/ 0 h 21926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303590" h="2192655">
                <a:moveTo>
                  <a:pt x="154429" y="0"/>
                </a:moveTo>
                <a:lnTo>
                  <a:pt x="4149161" y="0"/>
                </a:lnTo>
                <a:cubicBezTo>
                  <a:pt x="4234450" y="0"/>
                  <a:pt x="4303590" y="69140"/>
                  <a:pt x="4303590" y="154429"/>
                </a:cubicBezTo>
                <a:lnTo>
                  <a:pt x="4303590" y="2038226"/>
                </a:lnTo>
                <a:cubicBezTo>
                  <a:pt x="4303590" y="2123515"/>
                  <a:pt x="4234450" y="2192655"/>
                  <a:pt x="4149161" y="2192655"/>
                </a:cubicBezTo>
                <a:lnTo>
                  <a:pt x="154429" y="2192655"/>
                </a:lnTo>
                <a:cubicBezTo>
                  <a:pt x="69140" y="2192655"/>
                  <a:pt x="0" y="2123515"/>
                  <a:pt x="0" y="2038226"/>
                </a:cubicBezTo>
                <a:lnTo>
                  <a:pt x="0" y="154429"/>
                </a:lnTo>
                <a:cubicBezTo>
                  <a:pt x="0" y="69140"/>
                  <a:pt x="69140" y="0"/>
                  <a:pt x="154429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9133611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D776F45-106A-7409-CDE0-2496439927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A1A438-6CA6-7230-B894-987245B10E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534DC5-3EB6-D417-003D-F6D44FE25A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A260E0-16C0-462D-A2C8-F3CE7431A5E7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78BB49-2F12-7FB3-B7D0-482C0EF772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884149-800D-0188-B279-0234AC6AE3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4A5A5B-371D-4B70-89BE-28AB01B802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4862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hart" Target="../charts/chart11.xml"/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hart" Target="../charts/chart12.xml"/><Relationship Id="rId1" Type="http://schemas.openxmlformats.org/officeDocument/2006/relationships/slideLayout" Target="../slideLayouts/slideLayout1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hart" Target="../charts/chart13.xml"/><Relationship Id="rId1" Type="http://schemas.openxmlformats.org/officeDocument/2006/relationships/slideLayout" Target="../slideLayouts/slideLayout1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hart" Target="../charts/chart14.xml"/><Relationship Id="rId1" Type="http://schemas.openxmlformats.org/officeDocument/2006/relationships/slideLayout" Target="../slideLayouts/slideLayout1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hart" Target="../charts/chart15.xml"/><Relationship Id="rId1" Type="http://schemas.openxmlformats.org/officeDocument/2006/relationships/slideLayout" Target="../slideLayouts/slideLayout1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hart" Target="../charts/chart16.xml"/><Relationship Id="rId1" Type="http://schemas.openxmlformats.org/officeDocument/2006/relationships/slideLayout" Target="../slideLayouts/slideLayout1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hart" Target="../charts/chart17.xml"/><Relationship Id="rId1" Type="http://schemas.openxmlformats.org/officeDocument/2006/relationships/slideLayout" Target="../slideLayouts/slideLayout1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hart" Target="../charts/chart18.xml"/><Relationship Id="rId1" Type="http://schemas.openxmlformats.org/officeDocument/2006/relationships/slideLayout" Target="../slideLayouts/slideLayout1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hart" Target="../charts/chart19.xml"/><Relationship Id="rId1" Type="http://schemas.openxmlformats.org/officeDocument/2006/relationships/slideLayout" Target="../slideLayouts/slideLayout1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hart" Target="../charts/chart20.xml"/><Relationship Id="rId1" Type="http://schemas.openxmlformats.org/officeDocument/2006/relationships/slideLayout" Target="../slideLayouts/slideLayout1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hart" Target="../charts/chart21.xml"/><Relationship Id="rId1" Type="http://schemas.openxmlformats.org/officeDocument/2006/relationships/slideLayout" Target="../slideLayouts/slideLayout1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hart" Target="../charts/chart22.xml"/><Relationship Id="rId1" Type="http://schemas.openxmlformats.org/officeDocument/2006/relationships/slideLayout" Target="../slideLayouts/slideLayout1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hart" Target="../charts/chart23.xml"/><Relationship Id="rId1" Type="http://schemas.openxmlformats.org/officeDocument/2006/relationships/slideLayout" Target="../slideLayouts/slideLayout1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18A061FB-9104-441D-8741-54E2AB75CB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4" t="970" r="4294" b="26213"/>
          <a:stretch/>
        </p:blipFill>
        <p:spPr>
          <a:xfrm>
            <a:off x="-11575" y="0"/>
            <a:ext cx="12203575" cy="6858000"/>
          </a:xfrm>
          <a:prstGeom prst="rect">
            <a:avLst/>
          </a:prstGeom>
        </p:spPr>
      </p:pic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9761E87-529E-A5D9-659B-245AB67A8BCF}"/>
              </a:ext>
            </a:extLst>
          </p:cNvPr>
          <p:cNvSpPr/>
          <p:nvPr/>
        </p:nvSpPr>
        <p:spPr>
          <a:xfrm>
            <a:off x="-57873" y="-208344"/>
            <a:ext cx="7674015" cy="7187878"/>
          </a:xfrm>
          <a:custGeom>
            <a:avLst/>
            <a:gdLst>
              <a:gd name="connsiteX0" fmla="*/ 0 w 7060557"/>
              <a:gd name="connsiteY0" fmla="*/ 0 h 6898511"/>
              <a:gd name="connsiteX1" fmla="*/ 0 w 7060557"/>
              <a:gd name="connsiteY1" fmla="*/ 5289630 h 6898511"/>
              <a:gd name="connsiteX2" fmla="*/ 5289631 w 7060557"/>
              <a:gd name="connsiteY2" fmla="*/ 6898511 h 6898511"/>
              <a:gd name="connsiteX3" fmla="*/ 5903089 w 7060557"/>
              <a:gd name="connsiteY3" fmla="*/ 6898511 h 6898511"/>
              <a:gd name="connsiteX4" fmla="*/ 7060557 w 7060557"/>
              <a:gd name="connsiteY4" fmla="*/ 6180881 h 6898511"/>
              <a:gd name="connsiteX5" fmla="*/ 3993266 w 7060557"/>
              <a:gd name="connsiteY5" fmla="*/ 23149 h 6898511"/>
              <a:gd name="connsiteX0" fmla="*/ 0 w 7060557"/>
              <a:gd name="connsiteY0" fmla="*/ 162046 h 7060557"/>
              <a:gd name="connsiteX1" fmla="*/ 0 w 7060557"/>
              <a:gd name="connsiteY1" fmla="*/ 5451676 h 7060557"/>
              <a:gd name="connsiteX2" fmla="*/ 5289631 w 7060557"/>
              <a:gd name="connsiteY2" fmla="*/ 7060557 h 7060557"/>
              <a:gd name="connsiteX3" fmla="*/ 5903089 w 7060557"/>
              <a:gd name="connsiteY3" fmla="*/ 7060557 h 7060557"/>
              <a:gd name="connsiteX4" fmla="*/ 7060557 w 7060557"/>
              <a:gd name="connsiteY4" fmla="*/ 6342927 h 7060557"/>
              <a:gd name="connsiteX5" fmla="*/ 3912244 w 7060557"/>
              <a:gd name="connsiteY5" fmla="*/ 0 h 7060557"/>
              <a:gd name="connsiteX0" fmla="*/ 0 w 7060557"/>
              <a:gd name="connsiteY0" fmla="*/ 0 h 7141579"/>
              <a:gd name="connsiteX1" fmla="*/ 0 w 7060557"/>
              <a:gd name="connsiteY1" fmla="*/ 5532698 h 7141579"/>
              <a:gd name="connsiteX2" fmla="*/ 5289631 w 7060557"/>
              <a:gd name="connsiteY2" fmla="*/ 7141579 h 7141579"/>
              <a:gd name="connsiteX3" fmla="*/ 5903089 w 7060557"/>
              <a:gd name="connsiteY3" fmla="*/ 7141579 h 7141579"/>
              <a:gd name="connsiteX4" fmla="*/ 7060557 w 7060557"/>
              <a:gd name="connsiteY4" fmla="*/ 6423949 h 7141579"/>
              <a:gd name="connsiteX5" fmla="*/ 3912244 w 7060557"/>
              <a:gd name="connsiteY5" fmla="*/ 81022 h 7141579"/>
              <a:gd name="connsiteX0" fmla="*/ 46298 w 7106855"/>
              <a:gd name="connsiteY0" fmla="*/ 0 h 7141579"/>
              <a:gd name="connsiteX1" fmla="*/ 0 w 7106855"/>
              <a:gd name="connsiteY1" fmla="*/ 6111432 h 7141579"/>
              <a:gd name="connsiteX2" fmla="*/ 5335929 w 7106855"/>
              <a:gd name="connsiteY2" fmla="*/ 7141579 h 7141579"/>
              <a:gd name="connsiteX3" fmla="*/ 5949387 w 7106855"/>
              <a:gd name="connsiteY3" fmla="*/ 7141579 h 7141579"/>
              <a:gd name="connsiteX4" fmla="*/ 7106855 w 7106855"/>
              <a:gd name="connsiteY4" fmla="*/ 6423949 h 7141579"/>
              <a:gd name="connsiteX5" fmla="*/ 3958542 w 7106855"/>
              <a:gd name="connsiteY5" fmla="*/ 81022 h 7141579"/>
              <a:gd name="connsiteX0" fmla="*/ 46298 w 7674015"/>
              <a:gd name="connsiteY0" fmla="*/ 0 h 7141579"/>
              <a:gd name="connsiteX1" fmla="*/ 0 w 7674015"/>
              <a:gd name="connsiteY1" fmla="*/ 6111432 h 7141579"/>
              <a:gd name="connsiteX2" fmla="*/ 5335929 w 7674015"/>
              <a:gd name="connsiteY2" fmla="*/ 7141579 h 7141579"/>
              <a:gd name="connsiteX3" fmla="*/ 5949387 w 7674015"/>
              <a:gd name="connsiteY3" fmla="*/ 7141579 h 7141579"/>
              <a:gd name="connsiteX4" fmla="*/ 7674015 w 7674015"/>
              <a:gd name="connsiteY4" fmla="*/ 6088283 h 7141579"/>
              <a:gd name="connsiteX5" fmla="*/ 3958542 w 7674015"/>
              <a:gd name="connsiteY5" fmla="*/ 81022 h 7141579"/>
              <a:gd name="connsiteX0" fmla="*/ 46298 w 7674015"/>
              <a:gd name="connsiteY0" fmla="*/ 46299 h 7187878"/>
              <a:gd name="connsiteX1" fmla="*/ 0 w 7674015"/>
              <a:gd name="connsiteY1" fmla="*/ 6157731 h 7187878"/>
              <a:gd name="connsiteX2" fmla="*/ 5335929 w 7674015"/>
              <a:gd name="connsiteY2" fmla="*/ 7187878 h 7187878"/>
              <a:gd name="connsiteX3" fmla="*/ 5949387 w 7674015"/>
              <a:gd name="connsiteY3" fmla="*/ 7187878 h 7187878"/>
              <a:gd name="connsiteX4" fmla="*/ 7674015 w 7674015"/>
              <a:gd name="connsiteY4" fmla="*/ 6134582 h 7187878"/>
              <a:gd name="connsiteX5" fmla="*/ 4618299 w 7674015"/>
              <a:gd name="connsiteY5" fmla="*/ 0 h 71878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74015" h="7187878">
                <a:moveTo>
                  <a:pt x="46298" y="46299"/>
                </a:moveTo>
                <a:lnTo>
                  <a:pt x="0" y="6157731"/>
                </a:lnTo>
                <a:lnTo>
                  <a:pt x="5335929" y="7187878"/>
                </a:lnTo>
                <a:lnTo>
                  <a:pt x="5949387" y="7187878"/>
                </a:lnTo>
                <a:lnTo>
                  <a:pt x="7674015" y="6134582"/>
                </a:lnTo>
                <a:lnTo>
                  <a:pt x="4618299" y="0"/>
                </a:lnTo>
              </a:path>
            </a:pathLst>
          </a:custGeom>
          <a:solidFill>
            <a:srgbClr val="365072">
              <a:alpha val="86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921441CF-C54F-4176-1735-CE5E44CCC723}"/>
              </a:ext>
            </a:extLst>
          </p:cNvPr>
          <p:cNvSpPr/>
          <p:nvPr/>
        </p:nvSpPr>
        <p:spPr>
          <a:xfrm>
            <a:off x="-150471" y="5856791"/>
            <a:ext cx="6204030" cy="1157468"/>
          </a:xfrm>
          <a:custGeom>
            <a:avLst/>
            <a:gdLst>
              <a:gd name="connsiteX0" fmla="*/ 115747 w 5625296"/>
              <a:gd name="connsiteY0" fmla="*/ 0 h 1701479"/>
              <a:gd name="connsiteX1" fmla="*/ 5625296 w 5625296"/>
              <a:gd name="connsiteY1" fmla="*/ 1701479 h 1701479"/>
              <a:gd name="connsiteX2" fmla="*/ 0 w 5625296"/>
              <a:gd name="connsiteY2" fmla="*/ 1678329 h 1701479"/>
              <a:gd name="connsiteX3" fmla="*/ 115747 w 5625296"/>
              <a:gd name="connsiteY3" fmla="*/ 0 h 1701479"/>
              <a:gd name="connsiteX0" fmla="*/ 92597 w 5625296"/>
              <a:gd name="connsiteY0" fmla="*/ 0 h 1180618"/>
              <a:gd name="connsiteX1" fmla="*/ 5625296 w 5625296"/>
              <a:gd name="connsiteY1" fmla="*/ 1180618 h 1180618"/>
              <a:gd name="connsiteX2" fmla="*/ 0 w 5625296"/>
              <a:gd name="connsiteY2" fmla="*/ 1157468 h 1180618"/>
              <a:gd name="connsiteX3" fmla="*/ 92597 w 5625296"/>
              <a:gd name="connsiteY3" fmla="*/ 0 h 1180618"/>
              <a:gd name="connsiteX0" fmla="*/ 92597 w 6204030"/>
              <a:gd name="connsiteY0" fmla="*/ 0 h 1157468"/>
              <a:gd name="connsiteX1" fmla="*/ 6204030 w 6204030"/>
              <a:gd name="connsiteY1" fmla="*/ 1134319 h 1157468"/>
              <a:gd name="connsiteX2" fmla="*/ 0 w 6204030"/>
              <a:gd name="connsiteY2" fmla="*/ 1157468 h 1157468"/>
              <a:gd name="connsiteX3" fmla="*/ 92597 w 6204030"/>
              <a:gd name="connsiteY3" fmla="*/ 0 h 11574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204030" h="1157468">
                <a:moveTo>
                  <a:pt x="92597" y="0"/>
                </a:moveTo>
                <a:lnTo>
                  <a:pt x="6204030" y="1134319"/>
                </a:lnTo>
                <a:lnTo>
                  <a:pt x="0" y="1157468"/>
                </a:lnTo>
                <a:lnTo>
                  <a:pt x="92597" y="0"/>
                </a:lnTo>
                <a:close/>
              </a:path>
            </a:pathLst>
          </a:custGeom>
          <a:solidFill>
            <a:srgbClr val="5AB6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E3477EEA-CBD5-08AD-415A-51489025E717}"/>
              </a:ext>
            </a:extLst>
          </p:cNvPr>
          <p:cNvSpPr/>
          <p:nvPr/>
        </p:nvSpPr>
        <p:spPr>
          <a:xfrm>
            <a:off x="7581418" y="2905246"/>
            <a:ext cx="4734045" cy="4155311"/>
          </a:xfrm>
          <a:custGeom>
            <a:avLst/>
            <a:gdLst>
              <a:gd name="connsiteX0" fmla="*/ 5254906 w 5289630"/>
              <a:gd name="connsiteY0" fmla="*/ 0 h 4155311"/>
              <a:gd name="connsiteX1" fmla="*/ 0 w 5289630"/>
              <a:gd name="connsiteY1" fmla="*/ 3356658 h 4155311"/>
              <a:gd name="connsiteX2" fmla="*/ 428263 w 5289630"/>
              <a:gd name="connsiteY2" fmla="*/ 4143736 h 4155311"/>
              <a:gd name="connsiteX3" fmla="*/ 5289630 w 5289630"/>
              <a:gd name="connsiteY3" fmla="*/ 4155311 h 4155311"/>
              <a:gd name="connsiteX4" fmla="*/ 5173883 w 5289630"/>
              <a:gd name="connsiteY4" fmla="*/ 23149 h 4155311"/>
              <a:gd name="connsiteX5" fmla="*/ 5254906 w 5289630"/>
              <a:gd name="connsiteY5" fmla="*/ 0 h 4155311"/>
              <a:gd name="connsiteX0" fmla="*/ 5254906 w 5289630"/>
              <a:gd name="connsiteY0" fmla="*/ 0 h 4155311"/>
              <a:gd name="connsiteX1" fmla="*/ 0 w 5289630"/>
              <a:gd name="connsiteY1" fmla="*/ 3356658 h 4155311"/>
              <a:gd name="connsiteX2" fmla="*/ 1134319 w 5289630"/>
              <a:gd name="connsiteY2" fmla="*/ 4143736 h 4155311"/>
              <a:gd name="connsiteX3" fmla="*/ 5289630 w 5289630"/>
              <a:gd name="connsiteY3" fmla="*/ 4155311 h 4155311"/>
              <a:gd name="connsiteX4" fmla="*/ 5173883 w 5289630"/>
              <a:gd name="connsiteY4" fmla="*/ 23149 h 4155311"/>
              <a:gd name="connsiteX5" fmla="*/ 5254906 w 5289630"/>
              <a:gd name="connsiteY5" fmla="*/ 0 h 4155311"/>
              <a:gd name="connsiteX0" fmla="*/ 4699321 w 4734045"/>
              <a:gd name="connsiteY0" fmla="*/ 0 h 4155311"/>
              <a:gd name="connsiteX1" fmla="*/ 0 w 4734045"/>
              <a:gd name="connsiteY1" fmla="*/ 3044142 h 4155311"/>
              <a:gd name="connsiteX2" fmla="*/ 578734 w 4734045"/>
              <a:gd name="connsiteY2" fmla="*/ 4143736 h 4155311"/>
              <a:gd name="connsiteX3" fmla="*/ 4734045 w 4734045"/>
              <a:gd name="connsiteY3" fmla="*/ 4155311 h 4155311"/>
              <a:gd name="connsiteX4" fmla="*/ 4618298 w 4734045"/>
              <a:gd name="connsiteY4" fmla="*/ 23149 h 4155311"/>
              <a:gd name="connsiteX5" fmla="*/ 4699321 w 4734045"/>
              <a:gd name="connsiteY5" fmla="*/ 0 h 41553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34045" h="4155311">
                <a:moveTo>
                  <a:pt x="4699321" y="0"/>
                </a:moveTo>
                <a:lnTo>
                  <a:pt x="0" y="3044142"/>
                </a:lnTo>
                <a:lnTo>
                  <a:pt x="578734" y="4143736"/>
                </a:lnTo>
                <a:lnTo>
                  <a:pt x="4734045" y="4155311"/>
                </a:lnTo>
                <a:lnTo>
                  <a:pt x="4618298" y="23149"/>
                </a:lnTo>
                <a:lnTo>
                  <a:pt x="4699321" y="0"/>
                </a:lnTo>
                <a:close/>
              </a:path>
            </a:pathLst>
          </a:custGeom>
          <a:solidFill>
            <a:srgbClr val="0075BF">
              <a:alpha val="74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5024883-8A91-0F42-B9CF-3C7BAD18D79A}"/>
              </a:ext>
            </a:extLst>
          </p:cNvPr>
          <p:cNvSpPr/>
          <p:nvPr/>
        </p:nvSpPr>
        <p:spPr>
          <a:xfrm>
            <a:off x="5856790" y="5928090"/>
            <a:ext cx="2268638" cy="1134319"/>
          </a:xfrm>
          <a:custGeom>
            <a:avLst/>
            <a:gdLst>
              <a:gd name="connsiteX0" fmla="*/ 1192192 w 1585732"/>
              <a:gd name="connsiteY0" fmla="*/ 0 h 798653"/>
              <a:gd name="connsiteX1" fmla="*/ 0 w 1585732"/>
              <a:gd name="connsiteY1" fmla="*/ 798653 h 798653"/>
              <a:gd name="connsiteX2" fmla="*/ 1585732 w 1585732"/>
              <a:gd name="connsiteY2" fmla="*/ 775504 h 798653"/>
              <a:gd name="connsiteX3" fmla="*/ 1192192 w 1585732"/>
              <a:gd name="connsiteY3" fmla="*/ 0 h 798653"/>
              <a:gd name="connsiteX0" fmla="*/ 1192192 w 2268638"/>
              <a:gd name="connsiteY0" fmla="*/ 0 h 798653"/>
              <a:gd name="connsiteX1" fmla="*/ 0 w 2268638"/>
              <a:gd name="connsiteY1" fmla="*/ 798653 h 798653"/>
              <a:gd name="connsiteX2" fmla="*/ 2268638 w 2268638"/>
              <a:gd name="connsiteY2" fmla="*/ 729205 h 798653"/>
              <a:gd name="connsiteX3" fmla="*/ 1192192 w 2268638"/>
              <a:gd name="connsiteY3" fmla="*/ 0 h 798653"/>
              <a:gd name="connsiteX0" fmla="*/ 1747777 w 2268638"/>
              <a:gd name="connsiteY0" fmla="*/ 0 h 1134319"/>
              <a:gd name="connsiteX1" fmla="*/ 0 w 2268638"/>
              <a:gd name="connsiteY1" fmla="*/ 1134319 h 1134319"/>
              <a:gd name="connsiteX2" fmla="*/ 2268638 w 2268638"/>
              <a:gd name="connsiteY2" fmla="*/ 1064871 h 1134319"/>
              <a:gd name="connsiteX3" fmla="*/ 1747777 w 2268638"/>
              <a:gd name="connsiteY3" fmla="*/ 0 h 11343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68638" h="1134319">
                <a:moveTo>
                  <a:pt x="1747777" y="0"/>
                </a:moveTo>
                <a:lnTo>
                  <a:pt x="0" y="1134319"/>
                </a:lnTo>
                <a:lnTo>
                  <a:pt x="2268638" y="1064871"/>
                </a:lnTo>
                <a:lnTo>
                  <a:pt x="1747777" y="0"/>
                </a:lnTo>
                <a:close/>
              </a:path>
            </a:pathLst>
          </a:custGeom>
          <a:solidFill>
            <a:srgbClr val="0EB2B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07987B0-E272-E144-EB78-41A38C472D6B}"/>
              </a:ext>
            </a:extLst>
          </p:cNvPr>
          <p:cNvSpPr/>
          <p:nvPr/>
        </p:nvSpPr>
        <p:spPr>
          <a:xfrm rot="3450457">
            <a:off x="6979979" y="-831514"/>
            <a:ext cx="91707" cy="1428184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C57B11A-A51F-8CF9-EE7D-A1EF3765E585}"/>
              </a:ext>
            </a:extLst>
          </p:cNvPr>
          <p:cNvSpPr/>
          <p:nvPr/>
        </p:nvSpPr>
        <p:spPr>
          <a:xfrm rot="20023943">
            <a:off x="7497139" y="-1315722"/>
            <a:ext cx="91707" cy="1428184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93A77D1-5C1B-A92D-F75B-7F912E93EAD3}"/>
              </a:ext>
            </a:extLst>
          </p:cNvPr>
          <p:cNvSpPr/>
          <p:nvPr/>
        </p:nvSpPr>
        <p:spPr>
          <a:xfrm rot="16798040">
            <a:off x="2003195" y="-876863"/>
            <a:ext cx="91707" cy="1428184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27D3E51-A0CF-E24A-8CAC-DFA3FDC68449}"/>
              </a:ext>
            </a:extLst>
          </p:cNvPr>
          <p:cNvSpPr txBox="1"/>
          <p:nvPr/>
        </p:nvSpPr>
        <p:spPr>
          <a:xfrm>
            <a:off x="484087" y="4386954"/>
            <a:ext cx="669804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2025-2055 COUNTY PROJECTIONS (DRAFT)</a:t>
            </a:r>
          </a:p>
        </p:txBody>
      </p:sp>
      <p:pic>
        <p:nvPicPr>
          <p:cNvPr id="18" name="Picture 1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3C2E6568-B1F3-D3B6-FFA1-194E108440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799" y="298093"/>
            <a:ext cx="2475347" cy="858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44624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00000000-0008-0000-0000-0000020000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0843377"/>
              </p:ext>
            </p:extLst>
          </p:nvPr>
        </p:nvGraphicFramePr>
        <p:xfrm>
          <a:off x="609600" y="457200"/>
          <a:ext cx="10972800" cy="5943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7075F740-9A7F-75C4-C698-7BB81FE6F3B4}"/>
              </a:ext>
            </a:extLst>
          </p:cNvPr>
          <p:cNvSpPr txBox="1"/>
          <p:nvPr/>
        </p:nvSpPr>
        <p:spPr>
          <a:xfrm>
            <a:off x="7278254" y="5902037"/>
            <a:ext cx="14478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(U.S. Census PEP)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D13882-43AE-7FCA-260A-1903CFDC08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A15B5AF-6C63-6AD7-D504-3A5FC9B0BF87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</p:spTree>
    <p:extLst>
      <p:ext uri="{BB962C8B-B14F-4D97-AF65-F5344CB8AC3E}">
        <p14:creationId xmlns:p14="http://schemas.microsoft.com/office/powerpoint/2010/main" val="2685207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270D33E-7794-4CD9-D067-5D0D4DA60C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7808839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242,032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242,032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242,032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258,927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260,452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265,297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271,837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274,912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284,682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282,457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287,137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301,942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293,027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299,367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319,357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304,032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312,067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337,477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314,177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324,002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355,067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0F35F29B-1310-63FD-F9A0-1EF3D76EA638}"/>
              </a:ext>
            </a:extLst>
          </p:cNvPr>
          <p:cNvSpPr txBox="1"/>
          <p:nvPr/>
        </p:nvSpPr>
        <p:spPr>
          <a:xfrm>
            <a:off x="3258394" y="669100"/>
            <a:ext cx="56752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Delaware County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CE7146D-EFAD-446C-94AE-858EA9E301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D21831F-66A0-AA94-5777-AC1442D45587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6A939B-030D-E613-4B74-9B95D91BF2D1}"/>
              </a:ext>
            </a:extLst>
          </p:cNvPr>
          <p:cNvSpPr txBox="1"/>
          <p:nvPr/>
        </p:nvSpPr>
        <p:spPr>
          <a:xfrm>
            <a:off x="5245028" y="1204673"/>
            <a:ext cx="17019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Population</a:t>
            </a:r>
          </a:p>
        </p:txBody>
      </p:sp>
    </p:spTree>
    <p:extLst>
      <p:ext uri="{BB962C8B-B14F-4D97-AF65-F5344CB8AC3E}">
        <p14:creationId xmlns:p14="http://schemas.microsoft.com/office/powerpoint/2010/main" val="40307465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65F2F-8338-A07B-D075-3A336DB1E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6C19327-39EF-F0BC-FC67-12CCC6FC24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1419415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2025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87,805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87,805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87,805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93,993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94,552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96,327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98,514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99,634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103,193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102,187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103,888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109,269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105,936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108,238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115,496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109,958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112,878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122,109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113,664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117,236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128,533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528DC9D6-877B-A444-699D-7E0128C50CCA}"/>
              </a:ext>
            </a:extLst>
          </p:cNvPr>
          <p:cNvSpPr txBox="1"/>
          <p:nvPr/>
        </p:nvSpPr>
        <p:spPr>
          <a:xfrm>
            <a:off x="3258394" y="669100"/>
            <a:ext cx="56752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Delaware County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0DBFFE2-DAA5-8AC6-F2D3-67923AB8D7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BA58B26-0191-B292-BBBC-3C724E95EA0B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C7FA9E-7FE8-7482-BCDE-DCB014DBB619}"/>
              </a:ext>
            </a:extLst>
          </p:cNvPr>
          <p:cNvSpPr txBox="1"/>
          <p:nvPr/>
        </p:nvSpPr>
        <p:spPr>
          <a:xfrm>
            <a:off x="5155676" y="1204673"/>
            <a:ext cx="18806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Households</a:t>
            </a:r>
          </a:p>
        </p:txBody>
      </p:sp>
    </p:spTree>
    <p:extLst>
      <p:ext uri="{BB962C8B-B14F-4D97-AF65-F5344CB8AC3E}">
        <p14:creationId xmlns:p14="http://schemas.microsoft.com/office/powerpoint/2010/main" val="42413713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969504-20FD-68D6-A2F9-67E65525A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221AA91-1CD0-39F9-F819-D4B025A1CD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3043222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2025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120,259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120,259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120,259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131,966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132,737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135,189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143,270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144,875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149,986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151,892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154,372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162,245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158,346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161,697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172,293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162,879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167,119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180,537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166,441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171,607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187,950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104FFB95-7F30-8690-F1F3-ED5D640DEB57}"/>
              </a:ext>
            </a:extLst>
          </p:cNvPr>
          <p:cNvSpPr txBox="1"/>
          <p:nvPr/>
        </p:nvSpPr>
        <p:spPr>
          <a:xfrm>
            <a:off x="3258394" y="669100"/>
            <a:ext cx="56752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Delaware County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7BB329F-0793-0255-C670-77EA848CFB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9A706A0-D723-136D-2CF6-42782279A86E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8931F73-FA7B-F673-BE1F-7F836036245F}"/>
              </a:ext>
            </a:extLst>
          </p:cNvPr>
          <p:cNvSpPr txBox="1"/>
          <p:nvPr/>
        </p:nvSpPr>
        <p:spPr>
          <a:xfrm>
            <a:off x="5689476" y="1204673"/>
            <a:ext cx="8130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Jobs</a:t>
            </a:r>
          </a:p>
        </p:txBody>
      </p:sp>
    </p:spTree>
    <p:extLst>
      <p:ext uri="{BB962C8B-B14F-4D97-AF65-F5344CB8AC3E}">
        <p14:creationId xmlns:p14="http://schemas.microsoft.com/office/powerpoint/2010/main" val="21142102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00000000-0008-0000-0100-0000020000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19437912"/>
              </p:ext>
            </p:extLst>
          </p:nvPr>
        </p:nvGraphicFramePr>
        <p:xfrm>
          <a:off x="609600" y="457200"/>
          <a:ext cx="10972800" cy="5943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BB880E58-23C6-F0E5-4734-37D694A61AE8}"/>
              </a:ext>
            </a:extLst>
          </p:cNvPr>
          <p:cNvSpPr txBox="1"/>
          <p:nvPr/>
        </p:nvSpPr>
        <p:spPr>
          <a:xfrm>
            <a:off x="7278254" y="5902037"/>
            <a:ext cx="14478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(U.S. Census PEP)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A771664-0A05-DB1F-2900-4152A2F97F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02B7BEA-DD6B-AB9A-2404-6DF8F30D09E7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</p:spTree>
    <p:extLst>
      <p:ext uri="{BB962C8B-B14F-4D97-AF65-F5344CB8AC3E}">
        <p14:creationId xmlns:p14="http://schemas.microsoft.com/office/powerpoint/2010/main" val="32631908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2686F-8BB8-1418-FF67-3F5ACEA64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A34BF81-D9C6-3C21-A9B6-8A1714E14F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7077603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169,752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169,752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169,752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175,152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176,562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179,297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178,482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181,322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186,812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180,742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185,097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193,457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182,952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188,897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200,327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185,232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192,822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207,482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187,112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196,407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214,347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D9FFFAB3-5D2C-18A1-885A-F2290AA94C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FC486B3-C2C7-6594-4ADE-8BC27D4D2C9A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72D7A7-2E06-5F19-7AC3-9A442E5607FA}"/>
              </a:ext>
            </a:extLst>
          </p:cNvPr>
          <p:cNvSpPr txBox="1"/>
          <p:nvPr/>
        </p:nvSpPr>
        <p:spPr>
          <a:xfrm>
            <a:off x="3347168" y="669100"/>
            <a:ext cx="54976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Fairfield County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45DF92-5E1B-9BF5-2275-376DCCA30160}"/>
              </a:ext>
            </a:extLst>
          </p:cNvPr>
          <p:cNvSpPr txBox="1"/>
          <p:nvPr/>
        </p:nvSpPr>
        <p:spPr>
          <a:xfrm>
            <a:off x="5245028" y="1204673"/>
            <a:ext cx="17019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Population</a:t>
            </a:r>
          </a:p>
        </p:txBody>
      </p:sp>
    </p:spTree>
    <p:extLst>
      <p:ext uri="{BB962C8B-B14F-4D97-AF65-F5344CB8AC3E}">
        <p14:creationId xmlns:p14="http://schemas.microsoft.com/office/powerpoint/2010/main" val="38266288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BF80FA-2469-FC8B-ED13-2B9A978F2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792B268-84D5-2070-1E8D-CFE577A695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2590866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2025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62,668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62,668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62,668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64,706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65,238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66,270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65,863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66,917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68,952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66,601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68,214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71,309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67,331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69,532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73,763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68,124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70,935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76,363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68,813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72,257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78,903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0C8B0B9B-5BBD-B3C1-3024-91E66DD8E2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BC17991-EC83-2F94-28B9-6CC5019A0161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CF49D0A-D816-2332-786F-28951B02362C}"/>
              </a:ext>
            </a:extLst>
          </p:cNvPr>
          <p:cNvSpPr txBox="1"/>
          <p:nvPr/>
        </p:nvSpPr>
        <p:spPr>
          <a:xfrm>
            <a:off x="5155676" y="1204673"/>
            <a:ext cx="18806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Households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7A29AF-8397-409B-6206-7238C122A4A7}"/>
              </a:ext>
            </a:extLst>
          </p:cNvPr>
          <p:cNvSpPr txBox="1"/>
          <p:nvPr/>
        </p:nvSpPr>
        <p:spPr>
          <a:xfrm>
            <a:off x="3347168" y="669100"/>
            <a:ext cx="54976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Fairfield County</a:t>
            </a:r>
          </a:p>
        </p:txBody>
      </p:sp>
    </p:spTree>
    <p:extLst>
      <p:ext uri="{BB962C8B-B14F-4D97-AF65-F5344CB8AC3E}">
        <p14:creationId xmlns:p14="http://schemas.microsoft.com/office/powerpoint/2010/main" val="14773470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DDABFA-1207-4608-8F9F-F0B51FB2A6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8C51305-21C7-AA53-21BD-5309E98316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1260983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2025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57,357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57,357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57,357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60,091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60,577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61,517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62,702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63,700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65,626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64,370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65,903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68,840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65,279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67,336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71,280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65,589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68,195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73,218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65,721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68,911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75,061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1A174665-DEE3-3088-991C-3E5495768F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42B601F-D28D-8548-BD1A-32B2C2717CCF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3A4CA4-FA48-CAAA-700A-F00C40625DCF}"/>
              </a:ext>
            </a:extLst>
          </p:cNvPr>
          <p:cNvSpPr txBox="1"/>
          <p:nvPr/>
        </p:nvSpPr>
        <p:spPr>
          <a:xfrm>
            <a:off x="5689476" y="1204673"/>
            <a:ext cx="8130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Jobs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DCA8289-B566-A9A8-267E-E5B4FA17215C}"/>
              </a:ext>
            </a:extLst>
          </p:cNvPr>
          <p:cNvSpPr txBox="1"/>
          <p:nvPr/>
        </p:nvSpPr>
        <p:spPr>
          <a:xfrm>
            <a:off x="3347168" y="669100"/>
            <a:ext cx="54976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Fairfield County</a:t>
            </a:r>
          </a:p>
        </p:txBody>
      </p:sp>
    </p:spTree>
    <p:extLst>
      <p:ext uri="{BB962C8B-B14F-4D97-AF65-F5344CB8AC3E}">
        <p14:creationId xmlns:p14="http://schemas.microsoft.com/office/powerpoint/2010/main" val="37509478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1D2BE6-1D3D-B78D-22F8-0FEDB11244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00000000-0008-0000-0200-0000020000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98038874"/>
              </p:ext>
            </p:extLst>
          </p:nvPr>
        </p:nvGraphicFramePr>
        <p:xfrm>
          <a:off x="609600" y="457200"/>
          <a:ext cx="10972800" cy="5943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79E85EC-DCDC-A538-3363-7434D9B27DEC}"/>
              </a:ext>
            </a:extLst>
          </p:cNvPr>
          <p:cNvSpPr txBox="1"/>
          <p:nvPr/>
        </p:nvSpPr>
        <p:spPr>
          <a:xfrm>
            <a:off x="7278254" y="5902037"/>
            <a:ext cx="14478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(U.S. Census PEP)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F92C2C2-2584-17E1-BC7F-340889B771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9E490A8-CB75-A558-5169-545DC3A7F267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</p:spTree>
    <p:extLst>
      <p:ext uri="{BB962C8B-B14F-4D97-AF65-F5344CB8AC3E}">
        <p14:creationId xmlns:p14="http://schemas.microsoft.com/office/powerpoint/2010/main" val="21867282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418F1-5CEB-61AF-11B0-7CFD7203BE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CE34C7E-EA07-68E4-421A-B16E83EF94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7101219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28,552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28,552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28,552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27,882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28,177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28,407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27,017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27,562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27,987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25,992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26,797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27,407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24,857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25,917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26,737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23,677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24,977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25,992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22,477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24,022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25,247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2885B878-0BDE-4BE8-CE50-DF2F00E65D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45D8229-0BFC-0C10-1D03-F31B05835F09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6403FAC-2528-0C14-9D68-B28BA0733614}"/>
              </a:ext>
            </a:extLst>
          </p:cNvPr>
          <p:cNvSpPr txBox="1"/>
          <p:nvPr/>
        </p:nvSpPr>
        <p:spPr>
          <a:xfrm>
            <a:off x="3405742" y="669100"/>
            <a:ext cx="53805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Fayette County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174BFA-52F7-DC27-A25E-30809520F6D7}"/>
              </a:ext>
            </a:extLst>
          </p:cNvPr>
          <p:cNvSpPr txBox="1"/>
          <p:nvPr/>
        </p:nvSpPr>
        <p:spPr>
          <a:xfrm>
            <a:off x="5245028" y="1204673"/>
            <a:ext cx="17019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Population</a:t>
            </a:r>
          </a:p>
        </p:txBody>
      </p:sp>
    </p:spTree>
    <p:extLst>
      <p:ext uri="{BB962C8B-B14F-4D97-AF65-F5344CB8AC3E}">
        <p14:creationId xmlns:p14="http://schemas.microsoft.com/office/powerpoint/2010/main" val="36283537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509BC-56C9-52E2-F5BB-ECB318277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7E53213-2A86-DA83-F9B8-F20E19C5A4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8555874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2025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11,467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11,467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11,467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11,195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11,315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11,408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10,838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11,057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11,228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10,415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10,738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10,983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9,949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10,375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10,704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9,476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9,998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10,405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8,995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9,616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10,109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24417DB1-CC2E-9C36-A447-1BF31A4835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547572B-2C67-E762-10A1-CEB4BB00530A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DE0E58-0C77-828C-BA60-A13A0341F495}"/>
              </a:ext>
            </a:extLst>
          </p:cNvPr>
          <p:cNvSpPr txBox="1"/>
          <p:nvPr/>
        </p:nvSpPr>
        <p:spPr>
          <a:xfrm>
            <a:off x="5155676" y="1204673"/>
            <a:ext cx="18806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Households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3FB3B5-9A11-9C3D-844F-F105F35BCC28}"/>
              </a:ext>
            </a:extLst>
          </p:cNvPr>
          <p:cNvSpPr txBox="1"/>
          <p:nvPr/>
        </p:nvSpPr>
        <p:spPr>
          <a:xfrm>
            <a:off x="3405742" y="669100"/>
            <a:ext cx="53805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Fayette County</a:t>
            </a:r>
          </a:p>
        </p:txBody>
      </p:sp>
    </p:spTree>
    <p:extLst>
      <p:ext uri="{BB962C8B-B14F-4D97-AF65-F5344CB8AC3E}">
        <p14:creationId xmlns:p14="http://schemas.microsoft.com/office/powerpoint/2010/main" val="6001350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CC8C1-0DC7-4773-7968-73175382D7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BB33A75-DFB0-FA0A-1E27-C31ADAE8DB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9873620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2025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14,178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14,178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14,178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14,018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14,188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14,320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13,707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14,005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14,242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13,265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13,689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14,022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12,679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13,218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13,647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12,024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12,677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13,204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11,384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12,165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12,803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FBFF2D6B-36F8-4AB7-3F78-A028822AFB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3044926-BDF9-51F5-D50A-D6E71F48B26E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AD87DA-2D67-E025-EEB5-230AC42503CD}"/>
              </a:ext>
            </a:extLst>
          </p:cNvPr>
          <p:cNvSpPr txBox="1"/>
          <p:nvPr/>
        </p:nvSpPr>
        <p:spPr>
          <a:xfrm>
            <a:off x="5689476" y="1204673"/>
            <a:ext cx="8130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Jobs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B8969D-0E17-42E5-238A-C130C0E1DA50}"/>
              </a:ext>
            </a:extLst>
          </p:cNvPr>
          <p:cNvSpPr txBox="1"/>
          <p:nvPr/>
        </p:nvSpPr>
        <p:spPr>
          <a:xfrm>
            <a:off x="3405742" y="669100"/>
            <a:ext cx="53805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Fayette County</a:t>
            </a:r>
          </a:p>
        </p:txBody>
      </p:sp>
    </p:spTree>
    <p:extLst>
      <p:ext uri="{BB962C8B-B14F-4D97-AF65-F5344CB8AC3E}">
        <p14:creationId xmlns:p14="http://schemas.microsoft.com/office/powerpoint/2010/main" val="18924041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5ED284-BD8A-003D-A2A6-58D46D025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00000000-0008-0000-0300-0000020000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76491909"/>
              </p:ext>
            </p:extLst>
          </p:nvPr>
        </p:nvGraphicFramePr>
        <p:xfrm>
          <a:off x="609600" y="457200"/>
          <a:ext cx="10972800" cy="5943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40E8F3A-2CA2-99DF-216E-9D6CE04A242C}"/>
              </a:ext>
            </a:extLst>
          </p:cNvPr>
          <p:cNvSpPr txBox="1"/>
          <p:nvPr/>
        </p:nvSpPr>
        <p:spPr>
          <a:xfrm>
            <a:off x="7278254" y="5902037"/>
            <a:ext cx="14478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(U.S. Census PEP)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22399C8-DC1C-DB25-3680-3A294F0053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A92C291-63D0-33AA-207E-BDE6D36DBE35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</p:spTree>
    <p:extLst>
      <p:ext uri="{BB962C8B-B14F-4D97-AF65-F5344CB8AC3E}">
        <p14:creationId xmlns:p14="http://schemas.microsoft.com/office/powerpoint/2010/main" val="18047235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5CE58-ADFB-4C01-2555-1685E4138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8E8B555-2D92-249F-9A42-EE2280DD2B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1576552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1,361,536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1,361,536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1,361,536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1,412,611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1,426,271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1,440,841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1,457,656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1,486,151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1,516,546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1,491,751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1,536,216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1,583,641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1,515,951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1,576,811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1,641,716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1,533,531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1,610,786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1,693,181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1,547,166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1,640,746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1,740,556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45666D03-D18A-A493-7653-345681D1FE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C55797B-50CE-0CE8-1183-C5FE55F830EC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6F4DF9-E2DF-2D92-431F-CF32858EF7C3}"/>
              </a:ext>
            </a:extLst>
          </p:cNvPr>
          <p:cNvSpPr txBox="1"/>
          <p:nvPr/>
        </p:nvSpPr>
        <p:spPr>
          <a:xfrm>
            <a:off x="3358614" y="669100"/>
            <a:ext cx="54747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Franklin County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CF361F7-20AA-8A1A-4E3A-211E36771826}"/>
              </a:ext>
            </a:extLst>
          </p:cNvPr>
          <p:cNvSpPr txBox="1"/>
          <p:nvPr/>
        </p:nvSpPr>
        <p:spPr>
          <a:xfrm>
            <a:off x="5245028" y="1204673"/>
            <a:ext cx="17019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Population</a:t>
            </a:r>
          </a:p>
        </p:txBody>
      </p:sp>
    </p:spTree>
    <p:extLst>
      <p:ext uri="{BB962C8B-B14F-4D97-AF65-F5344CB8AC3E}">
        <p14:creationId xmlns:p14="http://schemas.microsoft.com/office/powerpoint/2010/main" val="27214094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2CEE8-12CF-B133-E4DB-558EA491E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20A053A-BB8C-4F11-413D-A77D816474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3524485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2025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564,085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564,085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564,085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585,727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591,515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597,689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604,249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616,216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628,980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617,971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636,620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656,511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627,997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653,492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680,682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635,366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667,725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702,239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640,936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680,085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721,842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35AC89D5-77A4-C4ED-8FE0-570EC45F41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FA224FB-9FAA-9785-1FDD-9B96B875DDB3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62BB2E-95BE-D90A-3A2C-61761DFC5C5E}"/>
              </a:ext>
            </a:extLst>
          </p:cNvPr>
          <p:cNvSpPr txBox="1"/>
          <p:nvPr/>
        </p:nvSpPr>
        <p:spPr>
          <a:xfrm>
            <a:off x="5155676" y="1204673"/>
            <a:ext cx="18806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Households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2D7F9A-B800-D03F-9A9F-CF99D26778DF}"/>
              </a:ext>
            </a:extLst>
          </p:cNvPr>
          <p:cNvSpPr txBox="1"/>
          <p:nvPr/>
        </p:nvSpPr>
        <p:spPr>
          <a:xfrm>
            <a:off x="3358614" y="669100"/>
            <a:ext cx="54747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Franklin County</a:t>
            </a:r>
          </a:p>
        </p:txBody>
      </p:sp>
    </p:spTree>
    <p:extLst>
      <p:ext uri="{BB962C8B-B14F-4D97-AF65-F5344CB8AC3E}">
        <p14:creationId xmlns:p14="http://schemas.microsoft.com/office/powerpoint/2010/main" val="34793836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CDD311-87DE-0408-E011-0C40248ED0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6356083-3614-6059-4B3A-99457580D9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0783188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2025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941,680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941,680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941,680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991,967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1,002,603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1,013,949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1,036,166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1,057,146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1,079,543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1,067,522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1,099,171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1,132,931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1,092,307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1,134,446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1,179,387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1,113,583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1,167,278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1,224,534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1,130,282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1,196,532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1,267,189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AAEB4338-B264-CAE6-5EF5-DBC02C316D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B0119A1-454C-BEF9-72FA-09C10AAA868A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E351EF-169C-6762-FAAF-6B9AC938CB5E}"/>
              </a:ext>
            </a:extLst>
          </p:cNvPr>
          <p:cNvSpPr txBox="1"/>
          <p:nvPr/>
        </p:nvSpPr>
        <p:spPr>
          <a:xfrm>
            <a:off x="5689476" y="1204673"/>
            <a:ext cx="8130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Jobs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42DA52-CD54-649E-875A-BAA8D2FF8985}"/>
              </a:ext>
            </a:extLst>
          </p:cNvPr>
          <p:cNvSpPr txBox="1"/>
          <p:nvPr/>
        </p:nvSpPr>
        <p:spPr>
          <a:xfrm>
            <a:off x="3358614" y="669100"/>
            <a:ext cx="54747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Franklin County</a:t>
            </a:r>
          </a:p>
        </p:txBody>
      </p:sp>
    </p:spTree>
    <p:extLst>
      <p:ext uri="{BB962C8B-B14F-4D97-AF65-F5344CB8AC3E}">
        <p14:creationId xmlns:p14="http://schemas.microsoft.com/office/powerpoint/2010/main" val="12060871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01D102-0582-8381-A7C9-4730891A1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00000000-0008-0000-0400-0000020000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30364780"/>
              </p:ext>
            </p:extLst>
          </p:nvPr>
        </p:nvGraphicFramePr>
        <p:xfrm>
          <a:off x="609600" y="457200"/>
          <a:ext cx="10972800" cy="5943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7EB5AD17-E06E-C025-0E1D-750AAD7B09E3}"/>
              </a:ext>
            </a:extLst>
          </p:cNvPr>
          <p:cNvSpPr txBox="1"/>
          <p:nvPr/>
        </p:nvSpPr>
        <p:spPr>
          <a:xfrm>
            <a:off x="7278254" y="5902037"/>
            <a:ext cx="14478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(U.S. Census PEP)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60117E9-89C7-EEE6-1C7A-381088361F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2B876D8-E50E-F1BD-F095-763C35F08CF7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</p:spTree>
    <p:extLst>
      <p:ext uri="{BB962C8B-B14F-4D97-AF65-F5344CB8AC3E}">
        <p14:creationId xmlns:p14="http://schemas.microsoft.com/office/powerpoint/2010/main" val="12834801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E8A35-00E3-D26F-3829-245B7800B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91A00CF-7609-F1F2-F07F-0D7D50700F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3951272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27,512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27,512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27,512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26,307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26,682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26,992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24,942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25,687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26,307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23,487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24,602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25,517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22,022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23,492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24,702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20,412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22,252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23,767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18,822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21,017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22,827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77DCC03F-F037-D965-CC8D-3F0553BB75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CEE3272-497C-8C2D-B20E-8298AD7A2D77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D7F12A-D3B7-9629-E674-4CBE8FF9EFCA}"/>
              </a:ext>
            </a:extLst>
          </p:cNvPr>
          <p:cNvSpPr txBox="1"/>
          <p:nvPr/>
        </p:nvSpPr>
        <p:spPr>
          <a:xfrm>
            <a:off x="3349060" y="669100"/>
            <a:ext cx="54938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Hocking County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8ADE41-3611-79C9-1D6A-E6BB0FC4B938}"/>
              </a:ext>
            </a:extLst>
          </p:cNvPr>
          <p:cNvSpPr txBox="1"/>
          <p:nvPr/>
        </p:nvSpPr>
        <p:spPr>
          <a:xfrm>
            <a:off x="5245028" y="1204673"/>
            <a:ext cx="17019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Population</a:t>
            </a:r>
          </a:p>
        </p:txBody>
      </p:sp>
    </p:spTree>
    <p:extLst>
      <p:ext uri="{BB962C8B-B14F-4D97-AF65-F5344CB8AC3E}">
        <p14:creationId xmlns:p14="http://schemas.microsoft.com/office/powerpoint/2010/main" val="34723342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81D4AE-ECD5-CC89-C51C-7F051C568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A036D82-9CE3-C273-E498-87B524EE1E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3945583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2025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11,473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11,473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11,473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10,967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11,124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11,255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10,394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10,704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10,962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9,781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10,245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10,625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9,164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9,776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10,280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8,488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9,255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9,885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7,824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8,739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9,494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A0612EDC-10FD-686E-C415-ACC5D0D688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66204EC-8D21-5279-77F1-244918D86A3F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31DC09-5FC6-FB6A-5485-5D70E8202A6E}"/>
              </a:ext>
            </a:extLst>
          </p:cNvPr>
          <p:cNvSpPr txBox="1"/>
          <p:nvPr/>
        </p:nvSpPr>
        <p:spPr>
          <a:xfrm>
            <a:off x="5155676" y="1204673"/>
            <a:ext cx="18806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Households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93757F-141E-D661-831C-192D4F39BAC4}"/>
              </a:ext>
            </a:extLst>
          </p:cNvPr>
          <p:cNvSpPr txBox="1"/>
          <p:nvPr/>
        </p:nvSpPr>
        <p:spPr>
          <a:xfrm>
            <a:off x="3349060" y="669100"/>
            <a:ext cx="54938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Hocking County</a:t>
            </a:r>
          </a:p>
        </p:txBody>
      </p:sp>
    </p:spTree>
    <p:extLst>
      <p:ext uri="{BB962C8B-B14F-4D97-AF65-F5344CB8AC3E}">
        <p14:creationId xmlns:p14="http://schemas.microsoft.com/office/powerpoint/2010/main" val="322833512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F5C76-DEA4-4DDA-5163-19319F5AE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BB2DF73-2F6E-9307-78EF-C85570904C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7834610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2025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8,967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8,967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8,967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8,625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8,765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8,884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8,256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8,524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8,748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7,781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8,163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8,480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7,281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7,770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8,173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6,717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7,324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7,827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6,171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6,905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7,510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BC7CFC9A-CAD2-F27B-C457-C7D0F2E97C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F6EFE2C-F258-BB62-97E6-4F9D405400D8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1E621B-0E16-FB9D-9BBD-246F84C4B9F0}"/>
              </a:ext>
            </a:extLst>
          </p:cNvPr>
          <p:cNvSpPr txBox="1"/>
          <p:nvPr/>
        </p:nvSpPr>
        <p:spPr>
          <a:xfrm>
            <a:off x="5689476" y="1204673"/>
            <a:ext cx="8130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Jobs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8AD8B7-B157-F787-C9C9-2E568412CD28}"/>
              </a:ext>
            </a:extLst>
          </p:cNvPr>
          <p:cNvSpPr txBox="1"/>
          <p:nvPr/>
        </p:nvSpPr>
        <p:spPr>
          <a:xfrm>
            <a:off x="3349060" y="669100"/>
            <a:ext cx="54938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Hocking County</a:t>
            </a:r>
          </a:p>
        </p:txBody>
      </p:sp>
    </p:spTree>
    <p:extLst>
      <p:ext uri="{BB962C8B-B14F-4D97-AF65-F5344CB8AC3E}">
        <p14:creationId xmlns:p14="http://schemas.microsoft.com/office/powerpoint/2010/main" val="6327102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99FD7-1570-D351-409B-B0E945D9F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00000000-0008-0000-0500-0000020000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40652916"/>
              </p:ext>
            </p:extLst>
          </p:nvPr>
        </p:nvGraphicFramePr>
        <p:xfrm>
          <a:off x="609600" y="457200"/>
          <a:ext cx="10972800" cy="5943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C21C9179-3C9B-1226-7EE8-83F39D7B7FA7}"/>
              </a:ext>
            </a:extLst>
          </p:cNvPr>
          <p:cNvSpPr txBox="1"/>
          <p:nvPr/>
        </p:nvSpPr>
        <p:spPr>
          <a:xfrm>
            <a:off x="7278254" y="5902037"/>
            <a:ext cx="14478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(U.S. Census PEP)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B84BC42-484B-50AE-9EED-6A80240000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DC01B12-1FD3-B3F4-BC3F-03877254E9E2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</p:spTree>
    <p:extLst>
      <p:ext uri="{BB962C8B-B14F-4D97-AF65-F5344CB8AC3E}">
        <p14:creationId xmlns:p14="http://schemas.microsoft.com/office/powerpoint/2010/main" val="14679552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8D0329-ED8D-45E6-818F-AF3DF8903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55D70D6-DA33-CBEF-33AE-E943C27FED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4504568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64,002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64,002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64,002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63,377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64,442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65,357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62,152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64,292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66,167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60,432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63,747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66,612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58,487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62,987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66,897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56,547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62,237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67,217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54,762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61,672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67,682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132A47B8-E161-89FD-9295-B9C881C4FA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94ECE9F-893C-1566-ED12-83D6DECB8B89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8B1A5F-45F2-6E8C-3DD7-006A111AFED1}"/>
              </a:ext>
            </a:extLst>
          </p:cNvPr>
          <p:cNvSpPr txBox="1"/>
          <p:nvPr/>
        </p:nvSpPr>
        <p:spPr>
          <a:xfrm>
            <a:off x="3578161" y="669100"/>
            <a:ext cx="50356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Knox County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0B46EF-A968-8F33-6BC8-FC603DDD1444}"/>
              </a:ext>
            </a:extLst>
          </p:cNvPr>
          <p:cNvSpPr txBox="1"/>
          <p:nvPr/>
        </p:nvSpPr>
        <p:spPr>
          <a:xfrm>
            <a:off x="5245028" y="1204673"/>
            <a:ext cx="17019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Population</a:t>
            </a:r>
          </a:p>
        </p:txBody>
      </p:sp>
    </p:spTree>
    <p:extLst>
      <p:ext uri="{BB962C8B-B14F-4D97-AF65-F5344CB8AC3E}">
        <p14:creationId xmlns:p14="http://schemas.microsoft.com/office/powerpoint/2010/main" val="7967816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B26EBC-4193-C7E8-3F51-80B04F252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6348B64-F14C-B0A4-3E52-809C4462FC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5619418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2025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23,766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23,766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23,766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23,520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23,939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24,300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22,945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23,759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24,474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22,192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23,442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24,522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21,396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23,089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24,563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20,657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22,805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24,688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20,034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22,644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24,915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F28C510B-6B72-69BA-85DF-3BA8C84205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F760B39-517A-966A-C5A6-2D9B32A16C20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EBCB9A-5194-EFEA-7E8C-3FC7C6AFCB65}"/>
              </a:ext>
            </a:extLst>
          </p:cNvPr>
          <p:cNvSpPr txBox="1"/>
          <p:nvPr/>
        </p:nvSpPr>
        <p:spPr>
          <a:xfrm>
            <a:off x="5155676" y="1204673"/>
            <a:ext cx="18806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Households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134DED-CCC2-6B66-8E59-74A541451C64}"/>
              </a:ext>
            </a:extLst>
          </p:cNvPr>
          <p:cNvSpPr txBox="1"/>
          <p:nvPr/>
        </p:nvSpPr>
        <p:spPr>
          <a:xfrm>
            <a:off x="3578161" y="669100"/>
            <a:ext cx="50356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Knox County</a:t>
            </a:r>
          </a:p>
        </p:txBody>
      </p:sp>
    </p:spTree>
    <p:extLst>
      <p:ext uri="{BB962C8B-B14F-4D97-AF65-F5344CB8AC3E}">
        <p14:creationId xmlns:p14="http://schemas.microsoft.com/office/powerpoint/2010/main" val="19045578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A0146-11C5-071F-BB51-98EE47AAD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FB441CC-44A2-0BE9-5225-CA1E67C1E2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9604191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2025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24,323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24,323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24,323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24,198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24,657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25,053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23,997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24,892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25,670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23,548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24,883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26,023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22,860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24,596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26,091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21,972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24,133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26,022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21,085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23,716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26,004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16AC8D41-78E8-47ED-8EC4-526F0912F1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BE8D8E2-4230-9A71-0FE7-FAF388972A60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F710D8-310D-3BC6-6D5D-60BC98881095}"/>
              </a:ext>
            </a:extLst>
          </p:cNvPr>
          <p:cNvSpPr txBox="1"/>
          <p:nvPr/>
        </p:nvSpPr>
        <p:spPr>
          <a:xfrm>
            <a:off x="5689476" y="1204673"/>
            <a:ext cx="8130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Jobs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E88587-4B7E-1FBB-78E1-49D72CD18AE2}"/>
              </a:ext>
            </a:extLst>
          </p:cNvPr>
          <p:cNvSpPr txBox="1"/>
          <p:nvPr/>
        </p:nvSpPr>
        <p:spPr>
          <a:xfrm>
            <a:off x="3578161" y="669100"/>
            <a:ext cx="50356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Knox County</a:t>
            </a:r>
          </a:p>
        </p:txBody>
      </p:sp>
    </p:spTree>
    <p:extLst>
      <p:ext uri="{BB962C8B-B14F-4D97-AF65-F5344CB8AC3E}">
        <p14:creationId xmlns:p14="http://schemas.microsoft.com/office/powerpoint/2010/main" val="4304506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2A049-BC00-FD15-525B-6C3C3E5E9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00000000-0008-0000-0600-0000020000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45003897"/>
              </p:ext>
            </p:extLst>
          </p:nvPr>
        </p:nvGraphicFramePr>
        <p:xfrm>
          <a:off x="609600" y="457200"/>
          <a:ext cx="10972800" cy="5943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A055B3A1-9471-CE36-33AE-74F010B61665}"/>
              </a:ext>
            </a:extLst>
          </p:cNvPr>
          <p:cNvSpPr txBox="1"/>
          <p:nvPr/>
        </p:nvSpPr>
        <p:spPr>
          <a:xfrm>
            <a:off x="7278254" y="5902037"/>
            <a:ext cx="14478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(U.S. Census PEP)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1677315-CCC8-5282-D52A-BDB58DD76B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E5044AA-27E1-9305-6E93-D5DF7E32AAE9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</p:spTree>
    <p:extLst>
      <p:ext uri="{BB962C8B-B14F-4D97-AF65-F5344CB8AC3E}">
        <p14:creationId xmlns:p14="http://schemas.microsoft.com/office/powerpoint/2010/main" val="32649795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B76234-37F0-4AA6-C640-10C2ED0DC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589158E-2113-EFA4-28C2-CD8E6E82CB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1527096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185,564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185,564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185,564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188,369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190,544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191,779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188,719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193,039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195,484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187,564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194,124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197,824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186,004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194,854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199,864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184,109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195,329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201,654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181,924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195,549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203,224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12B11BEC-3584-616C-CD2D-5BE57C0AE6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9A25F00-5537-0312-4CE0-9DDDE727A882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C838A0-E1F1-8FE8-3006-323697E660EC}"/>
              </a:ext>
            </a:extLst>
          </p:cNvPr>
          <p:cNvSpPr txBox="1"/>
          <p:nvPr/>
        </p:nvSpPr>
        <p:spPr>
          <a:xfrm>
            <a:off x="3430012" y="669100"/>
            <a:ext cx="53319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Licking County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B805128-C7A5-5018-B3E1-F6C4D85BD955}"/>
              </a:ext>
            </a:extLst>
          </p:cNvPr>
          <p:cNvSpPr txBox="1"/>
          <p:nvPr/>
        </p:nvSpPr>
        <p:spPr>
          <a:xfrm>
            <a:off x="5245028" y="1204673"/>
            <a:ext cx="17019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Population</a:t>
            </a:r>
          </a:p>
        </p:txBody>
      </p:sp>
    </p:spTree>
    <p:extLst>
      <p:ext uri="{BB962C8B-B14F-4D97-AF65-F5344CB8AC3E}">
        <p14:creationId xmlns:p14="http://schemas.microsoft.com/office/powerpoint/2010/main" val="18036183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D56AF1-DE20-98DC-4A1A-E80DE185D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837C90E-6E45-ECB5-C9DE-1FA17878AE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5151178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2025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69,828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69,828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69,828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70,907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71,744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72,219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70,860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72,503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73,433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70,278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72,762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74,162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69,657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73,000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74,893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69,008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73,253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75,645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68,244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73,401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76,306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7742EC84-D6EB-35D2-A42B-27D0A5E9DA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B146943-649F-AD0A-9921-56CB6F8D3F9C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5D2C69-2476-D7F1-471A-876080D64501}"/>
              </a:ext>
            </a:extLst>
          </p:cNvPr>
          <p:cNvSpPr txBox="1"/>
          <p:nvPr/>
        </p:nvSpPr>
        <p:spPr>
          <a:xfrm>
            <a:off x="5155676" y="1204673"/>
            <a:ext cx="18806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Households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3125A0-0958-E7F3-77CE-66C0167ABDFD}"/>
              </a:ext>
            </a:extLst>
          </p:cNvPr>
          <p:cNvSpPr txBox="1"/>
          <p:nvPr/>
        </p:nvSpPr>
        <p:spPr>
          <a:xfrm>
            <a:off x="3430012" y="669100"/>
            <a:ext cx="53319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Licking County</a:t>
            </a:r>
          </a:p>
        </p:txBody>
      </p:sp>
    </p:spTree>
    <p:extLst>
      <p:ext uri="{BB962C8B-B14F-4D97-AF65-F5344CB8AC3E}">
        <p14:creationId xmlns:p14="http://schemas.microsoft.com/office/powerpoint/2010/main" val="23310938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F57C1D-3742-2379-43BF-FC0446A51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65E5E47-81AF-80CD-F314-247D29C2E7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7442070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2025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90,099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90,099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90,099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92,755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93,871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94,507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94,882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97,116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98,382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95,395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98,770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100,671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94,940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99,423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101,955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93,561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99,215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102,392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91,884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98,751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102,624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3E13C6B4-3130-6F8A-991E-421D9531B5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8DBCBE7-21A2-8DE2-A647-BA5AC5915200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5C21D9-C9DE-8FDC-E39B-FDC47CA3C326}"/>
              </a:ext>
            </a:extLst>
          </p:cNvPr>
          <p:cNvSpPr txBox="1"/>
          <p:nvPr/>
        </p:nvSpPr>
        <p:spPr>
          <a:xfrm>
            <a:off x="5689476" y="1204673"/>
            <a:ext cx="8130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Jobs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9D4DF0-AF2C-D1EA-F0BB-0AEBC5EAA34A}"/>
              </a:ext>
            </a:extLst>
          </p:cNvPr>
          <p:cNvSpPr txBox="1"/>
          <p:nvPr/>
        </p:nvSpPr>
        <p:spPr>
          <a:xfrm>
            <a:off x="3430012" y="669100"/>
            <a:ext cx="53319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Licking County</a:t>
            </a:r>
          </a:p>
        </p:txBody>
      </p:sp>
    </p:spTree>
    <p:extLst>
      <p:ext uri="{BB962C8B-B14F-4D97-AF65-F5344CB8AC3E}">
        <p14:creationId xmlns:p14="http://schemas.microsoft.com/office/powerpoint/2010/main" val="15059788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811025-3D01-5E20-06EA-ECB43E99BD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00000000-0008-0000-0700-0000020000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73847573"/>
              </p:ext>
            </p:extLst>
          </p:nvPr>
        </p:nvGraphicFramePr>
        <p:xfrm>
          <a:off x="609600" y="457200"/>
          <a:ext cx="10972800" cy="5943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63E82842-77F1-D982-14D4-52B79D3E7C6E}"/>
              </a:ext>
            </a:extLst>
          </p:cNvPr>
          <p:cNvSpPr txBox="1"/>
          <p:nvPr/>
        </p:nvSpPr>
        <p:spPr>
          <a:xfrm>
            <a:off x="7278254" y="5902037"/>
            <a:ext cx="14478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(U.S. Census PEP)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47E26DC-3857-96E0-FC77-82981C16BD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44BD577-CBBD-AEA8-5734-58E940E2C7E2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</p:spTree>
    <p:extLst>
      <p:ext uri="{BB962C8B-B14F-4D97-AF65-F5344CB8AC3E}">
        <p14:creationId xmlns:p14="http://schemas.microsoft.com/office/powerpoint/2010/main" val="357295217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F5AF52-8B32-ED12-55E4-9164C8E5D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0A96427-6B37-5B74-65E7-62DF3BCC35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5999354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46,302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46,302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46,302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44,877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46,077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46,227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42,972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45,372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45,667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40,697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44,347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44,807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38,197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43,107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43,727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35,587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41,732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42,512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32,987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40,292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41,247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04B500D5-0352-DE84-6090-CB8E59C0B1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533EC9B-EA81-4FFA-F57A-8F5317583BBE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8B2E0C-E1C6-6AC7-EE23-D09F5498A1F3}"/>
              </a:ext>
            </a:extLst>
          </p:cNvPr>
          <p:cNvSpPr txBox="1"/>
          <p:nvPr/>
        </p:nvSpPr>
        <p:spPr>
          <a:xfrm>
            <a:off x="3506186" y="669100"/>
            <a:ext cx="51796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Logan County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CCD886-3186-E084-C05A-A601923C12F8}"/>
              </a:ext>
            </a:extLst>
          </p:cNvPr>
          <p:cNvSpPr txBox="1"/>
          <p:nvPr/>
        </p:nvSpPr>
        <p:spPr>
          <a:xfrm>
            <a:off x="5245028" y="1204673"/>
            <a:ext cx="17019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Population</a:t>
            </a:r>
          </a:p>
        </p:txBody>
      </p:sp>
    </p:spTree>
    <p:extLst>
      <p:ext uri="{BB962C8B-B14F-4D97-AF65-F5344CB8AC3E}">
        <p14:creationId xmlns:p14="http://schemas.microsoft.com/office/powerpoint/2010/main" val="189461335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3D9230-BB0C-2C6E-F78D-2B03106F0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05A558A-1A3D-EBA6-9F3B-6157F1D4A1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13639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2025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19,617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19,617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19,617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19,008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19,521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19,585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18,190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19,203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19,328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17,210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18,753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18,947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16,128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18,207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18,469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15,008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17,611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17,942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13,901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16,997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17,402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AD30862B-83A6-B98B-D107-BB3AA23CEF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CB8AC80-30B7-38FF-1EC5-41318D8E8ADC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75B3A1-F8F1-E084-27C3-3D357FE4BD1F}"/>
              </a:ext>
            </a:extLst>
          </p:cNvPr>
          <p:cNvSpPr txBox="1"/>
          <p:nvPr/>
        </p:nvSpPr>
        <p:spPr>
          <a:xfrm>
            <a:off x="5155676" y="1204673"/>
            <a:ext cx="18806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Households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89DE9E-0073-526F-9A87-A670C1E70312}"/>
              </a:ext>
            </a:extLst>
          </p:cNvPr>
          <p:cNvSpPr txBox="1"/>
          <p:nvPr/>
        </p:nvSpPr>
        <p:spPr>
          <a:xfrm>
            <a:off x="3506186" y="669100"/>
            <a:ext cx="51796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Logan County</a:t>
            </a:r>
          </a:p>
        </p:txBody>
      </p:sp>
    </p:spTree>
    <p:extLst>
      <p:ext uri="{BB962C8B-B14F-4D97-AF65-F5344CB8AC3E}">
        <p14:creationId xmlns:p14="http://schemas.microsoft.com/office/powerpoint/2010/main" val="327925348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C20612-A5CD-020C-AEF0-5D1B1623E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2EEA167-913A-0B7C-9F55-CD3C9D19E3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3318561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2025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23,254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23,254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23,254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22,685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23,407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23,496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21,986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23,331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23,498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20,996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22,942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23,190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19,777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22,298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22,617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18,347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21,495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21,886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16,874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20,669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21,152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08F47A8D-4CEA-83E7-47D3-F76A7F824E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6E9D5AF-11FD-13E8-E455-F9EF5330AB1C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06F0DF-D74A-8F87-3FE7-B2B74B5CC1A3}"/>
              </a:ext>
            </a:extLst>
          </p:cNvPr>
          <p:cNvSpPr txBox="1"/>
          <p:nvPr/>
        </p:nvSpPr>
        <p:spPr>
          <a:xfrm>
            <a:off x="5689476" y="1204673"/>
            <a:ext cx="8130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Jobs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236F8C2-584A-ADF2-E553-28D1D86BE7DF}"/>
              </a:ext>
            </a:extLst>
          </p:cNvPr>
          <p:cNvSpPr txBox="1"/>
          <p:nvPr/>
        </p:nvSpPr>
        <p:spPr>
          <a:xfrm>
            <a:off x="3506186" y="669100"/>
            <a:ext cx="51796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Logan County</a:t>
            </a:r>
          </a:p>
        </p:txBody>
      </p:sp>
    </p:spTree>
    <p:extLst>
      <p:ext uri="{BB962C8B-B14F-4D97-AF65-F5344CB8AC3E}">
        <p14:creationId xmlns:p14="http://schemas.microsoft.com/office/powerpoint/2010/main" val="178490352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2CF162-3ACC-3D74-6C5C-E2871802B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00000000-0008-0000-0800-0000020000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00539571"/>
              </p:ext>
            </p:extLst>
          </p:nvPr>
        </p:nvGraphicFramePr>
        <p:xfrm>
          <a:off x="609600" y="457200"/>
          <a:ext cx="10972800" cy="5943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217A6ACA-D39D-4E70-B670-8DC8B5A26E3E}"/>
              </a:ext>
            </a:extLst>
          </p:cNvPr>
          <p:cNvSpPr txBox="1"/>
          <p:nvPr/>
        </p:nvSpPr>
        <p:spPr>
          <a:xfrm>
            <a:off x="7278254" y="5902037"/>
            <a:ext cx="14478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(U.S. Census PEP)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36A777D-5931-AC7E-B21D-633754FC98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D5709ED-5CA3-E773-7A41-3AECC6AEE9F0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</p:spTree>
    <p:extLst>
      <p:ext uri="{BB962C8B-B14F-4D97-AF65-F5344CB8AC3E}">
        <p14:creationId xmlns:p14="http://schemas.microsoft.com/office/powerpoint/2010/main" val="221311425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192A5-F6CE-545D-5DCF-71A650FCF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4BC4570-926D-3713-0D11-425DF5F19E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9627682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46,985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46,985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46,985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45,700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48,455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50,220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43,775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49,320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52,875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41,400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49,890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55,340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38,825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50,410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57,865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36,195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50,940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60,465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33,570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51,500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63,115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75EE60EE-8BFC-CF6F-25B6-B5DCE2E413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857879B-6097-5DE6-B7FE-C2AF6148DCA5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E09C001-645C-86B8-F2D3-5500977DB302}"/>
              </a:ext>
            </a:extLst>
          </p:cNvPr>
          <p:cNvSpPr txBox="1"/>
          <p:nvPr/>
        </p:nvSpPr>
        <p:spPr>
          <a:xfrm>
            <a:off x="3325015" y="669100"/>
            <a:ext cx="55419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Madison County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1ADEF94-694D-3BC1-0BFB-C598B547956D}"/>
              </a:ext>
            </a:extLst>
          </p:cNvPr>
          <p:cNvSpPr txBox="1"/>
          <p:nvPr/>
        </p:nvSpPr>
        <p:spPr>
          <a:xfrm>
            <a:off x="5245028" y="1204673"/>
            <a:ext cx="17019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Population</a:t>
            </a:r>
          </a:p>
        </p:txBody>
      </p:sp>
    </p:spTree>
    <p:extLst>
      <p:ext uri="{BB962C8B-B14F-4D97-AF65-F5344CB8AC3E}">
        <p14:creationId xmlns:p14="http://schemas.microsoft.com/office/powerpoint/2010/main" val="402179858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16D39C-5A46-B809-F3F1-9FEEB6B6A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E06D779-4839-EAD0-3BDE-5FC143CC5F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413700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2025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16,219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16,219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16,219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15,715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16,796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17,488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15,075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17,106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18,409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14,253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17,301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19,259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13,354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17,471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20,124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12,431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17,641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21,013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11,507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17,827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21,927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D28E1CD2-A7EB-A166-A5B4-3757FAD75E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4C5B307-5BBE-F772-DB24-A6595A8490DB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3C5AD5-ED8A-F472-F6C4-C3F82DFB66A4}"/>
              </a:ext>
            </a:extLst>
          </p:cNvPr>
          <p:cNvSpPr txBox="1"/>
          <p:nvPr/>
        </p:nvSpPr>
        <p:spPr>
          <a:xfrm>
            <a:off x="5155676" y="1204673"/>
            <a:ext cx="18806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Households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43EDCDA-34F7-8F16-AFC1-AD946EFAEEE7}"/>
              </a:ext>
            </a:extLst>
          </p:cNvPr>
          <p:cNvSpPr txBox="1"/>
          <p:nvPr/>
        </p:nvSpPr>
        <p:spPr>
          <a:xfrm>
            <a:off x="3325015" y="669100"/>
            <a:ext cx="55419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Madison County</a:t>
            </a:r>
          </a:p>
        </p:txBody>
      </p:sp>
    </p:spTree>
    <p:extLst>
      <p:ext uri="{BB962C8B-B14F-4D97-AF65-F5344CB8AC3E}">
        <p14:creationId xmlns:p14="http://schemas.microsoft.com/office/powerpoint/2010/main" val="60285328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473353-70BA-62A0-BD89-CD53FDE27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8E1B8A8-4F9B-7EF4-A8BA-C5EB3D138F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6556560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2025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29,164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29,164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29,164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28,260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30,050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31,197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27,287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30,765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32,999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26,077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31,235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34,544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24,763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31,573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35,941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23,093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31,709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37,257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21,213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31,788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38,613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3B0D890F-7774-4077-0247-AF2EDBC786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349DE71-1474-6981-D435-145D579DD9DC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BFB65E-6039-2DDB-513C-35314E137807}"/>
              </a:ext>
            </a:extLst>
          </p:cNvPr>
          <p:cNvSpPr txBox="1"/>
          <p:nvPr/>
        </p:nvSpPr>
        <p:spPr>
          <a:xfrm>
            <a:off x="5689476" y="1204673"/>
            <a:ext cx="8130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Jobs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15A2E8-111F-01FC-6DFD-4D7E86D0EF79}"/>
              </a:ext>
            </a:extLst>
          </p:cNvPr>
          <p:cNvSpPr txBox="1"/>
          <p:nvPr/>
        </p:nvSpPr>
        <p:spPr>
          <a:xfrm>
            <a:off x="3325015" y="669100"/>
            <a:ext cx="55419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Madison County</a:t>
            </a:r>
          </a:p>
        </p:txBody>
      </p:sp>
    </p:spTree>
    <p:extLst>
      <p:ext uri="{BB962C8B-B14F-4D97-AF65-F5344CB8AC3E}">
        <p14:creationId xmlns:p14="http://schemas.microsoft.com/office/powerpoint/2010/main" val="284946736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B09DEF-2934-17A4-3D62-8A0DAF0EC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00000000-0008-0000-0900-0000020000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31881981"/>
              </p:ext>
            </p:extLst>
          </p:nvPr>
        </p:nvGraphicFramePr>
        <p:xfrm>
          <a:off x="609600" y="457200"/>
          <a:ext cx="10972800" cy="5943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C284B6B6-ED1B-D220-CB2C-ECD51BA660F1}"/>
              </a:ext>
            </a:extLst>
          </p:cNvPr>
          <p:cNvSpPr txBox="1"/>
          <p:nvPr/>
        </p:nvSpPr>
        <p:spPr>
          <a:xfrm>
            <a:off x="7278254" y="5902037"/>
            <a:ext cx="14478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(U.S. Census PEP)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28034E6-67AD-BBC5-63CA-0E4F3F9EB3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BD5E98D-5E42-6717-F9AE-473C6E7297F3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</p:spTree>
    <p:extLst>
      <p:ext uri="{BB962C8B-B14F-4D97-AF65-F5344CB8AC3E}">
        <p14:creationId xmlns:p14="http://schemas.microsoft.com/office/powerpoint/2010/main" val="395255596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02C54B-7320-F158-5240-A647ED76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08563E7-9471-9549-1164-7526998967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9051410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65,115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65,115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65,115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62,885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63,645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64,835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59,970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61,495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63,895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56,665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59,000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62,655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53,315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56,485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61,415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49,980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53,975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60,210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46,650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51,490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59,070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F86A1C29-6D92-9434-A671-AB04619089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8A77929-104E-7852-9AF5-4B3D55A633EB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4D29D4-1C47-F820-FB90-1931078EC4BD}"/>
              </a:ext>
            </a:extLst>
          </p:cNvPr>
          <p:cNvSpPr txBox="1"/>
          <p:nvPr/>
        </p:nvSpPr>
        <p:spPr>
          <a:xfrm>
            <a:off x="3438027" y="669100"/>
            <a:ext cx="53159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Marion County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981B71-3859-500A-E881-0900F63E097D}"/>
              </a:ext>
            </a:extLst>
          </p:cNvPr>
          <p:cNvSpPr txBox="1"/>
          <p:nvPr/>
        </p:nvSpPr>
        <p:spPr>
          <a:xfrm>
            <a:off x="5245028" y="1204673"/>
            <a:ext cx="17019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Population</a:t>
            </a:r>
          </a:p>
        </p:txBody>
      </p:sp>
    </p:spTree>
    <p:extLst>
      <p:ext uri="{BB962C8B-B14F-4D97-AF65-F5344CB8AC3E}">
        <p14:creationId xmlns:p14="http://schemas.microsoft.com/office/powerpoint/2010/main" val="250430326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CDDBB-F46F-D953-CFBF-7967940CA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AB88983-DE49-646A-3626-30BA64DB3D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0565316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2025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24,683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24,683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24,683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23,757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24,073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24,566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22,645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23,247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24,194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21,357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22,267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23,687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20,064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21,290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23,188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18,793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20,330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22,720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17,531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19,390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22,289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534ABA0D-8531-F9BB-7B61-0E34C143BB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2763CEE-D5D8-DCB1-28E1-B6FB18201C4C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2633D5-B40E-B25B-E839-69AE6D53CFCB}"/>
              </a:ext>
            </a:extLst>
          </p:cNvPr>
          <p:cNvSpPr txBox="1"/>
          <p:nvPr/>
        </p:nvSpPr>
        <p:spPr>
          <a:xfrm>
            <a:off x="5155676" y="1204673"/>
            <a:ext cx="18806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Households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1E3BF7-3AC5-50A5-3085-1209AEC5F6F5}"/>
              </a:ext>
            </a:extLst>
          </p:cNvPr>
          <p:cNvSpPr txBox="1"/>
          <p:nvPr/>
        </p:nvSpPr>
        <p:spPr>
          <a:xfrm>
            <a:off x="3438027" y="669100"/>
            <a:ext cx="53159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Marion County</a:t>
            </a:r>
          </a:p>
        </p:txBody>
      </p:sp>
    </p:spTree>
    <p:extLst>
      <p:ext uri="{BB962C8B-B14F-4D97-AF65-F5344CB8AC3E}">
        <p14:creationId xmlns:p14="http://schemas.microsoft.com/office/powerpoint/2010/main" val="45941488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E7F98E-083B-30D7-72E4-9749DC5806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B452260-9E21-5A5C-9989-3B1AA4454A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2303316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2025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28,020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28,020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28,020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27,217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27,574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28,137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26,273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26,947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28,015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24,977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25,975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27,541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23,557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24,864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26,910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21,978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23,621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26,206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20,390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22,402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25,599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CFACF3CB-DA27-E452-B045-B91138B431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F3E4E6A-F26C-4A81-08F3-6FD76D7AAF40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076B06-B78F-856D-CB68-69B6498A1278}"/>
              </a:ext>
            </a:extLst>
          </p:cNvPr>
          <p:cNvSpPr txBox="1"/>
          <p:nvPr/>
        </p:nvSpPr>
        <p:spPr>
          <a:xfrm>
            <a:off x="5689476" y="1204673"/>
            <a:ext cx="8130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Jobs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83A0D83-199B-CD28-9E43-1464D85E4B42}"/>
              </a:ext>
            </a:extLst>
          </p:cNvPr>
          <p:cNvSpPr txBox="1"/>
          <p:nvPr/>
        </p:nvSpPr>
        <p:spPr>
          <a:xfrm>
            <a:off x="3438027" y="669100"/>
            <a:ext cx="53159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Marion County</a:t>
            </a:r>
          </a:p>
        </p:txBody>
      </p:sp>
    </p:spTree>
    <p:extLst>
      <p:ext uri="{BB962C8B-B14F-4D97-AF65-F5344CB8AC3E}">
        <p14:creationId xmlns:p14="http://schemas.microsoft.com/office/powerpoint/2010/main" val="296534346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9BFF8-35CF-9079-95A7-2A2428F10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00000000-0008-0000-0A00-0000020000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37751049"/>
              </p:ext>
            </p:extLst>
          </p:nvPr>
        </p:nvGraphicFramePr>
        <p:xfrm>
          <a:off x="609600" y="457200"/>
          <a:ext cx="10972800" cy="5943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7EF394C8-D5D4-1882-55A1-AEBC8F738CC8}"/>
              </a:ext>
            </a:extLst>
          </p:cNvPr>
          <p:cNvSpPr txBox="1"/>
          <p:nvPr/>
        </p:nvSpPr>
        <p:spPr>
          <a:xfrm>
            <a:off x="7278254" y="5902037"/>
            <a:ext cx="14478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(U.S. Census PEP)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213EF05-B619-AD5F-62D7-E63D0BB566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C2F118F-F91D-A47A-89BA-ABFB411EA554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</p:spTree>
    <p:extLst>
      <p:ext uri="{BB962C8B-B14F-4D97-AF65-F5344CB8AC3E}">
        <p14:creationId xmlns:p14="http://schemas.microsoft.com/office/powerpoint/2010/main" val="96541994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5582C-0011-86F0-82B1-337335B71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5DA7345-3406-36FE-246A-FDBBC4854F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3485526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36,305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36,305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36,305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35,975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36,320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36,990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35,180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35,920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37,330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34,080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35,225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37,430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32,855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34,430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37,475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31,555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33,560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37,440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30,245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32,685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37,400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45161D0A-E11A-7DAC-C5C1-A29EE42FF7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66EFCCC-10F4-D622-3CC5-9226D7E0A34D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069D4B-ADF2-1743-47AF-80BB54EB1D23}"/>
              </a:ext>
            </a:extLst>
          </p:cNvPr>
          <p:cNvSpPr txBox="1"/>
          <p:nvPr/>
        </p:nvSpPr>
        <p:spPr>
          <a:xfrm>
            <a:off x="3393976" y="669100"/>
            <a:ext cx="54040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Morrow County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BE9BD82-AC6F-D219-FDE9-FD86B5E23EA0}"/>
              </a:ext>
            </a:extLst>
          </p:cNvPr>
          <p:cNvSpPr txBox="1"/>
          <p:nvPr/>
        </p:nvSpPr>
        <p:spPr>
          <a:xfrm>
            <a:off x="5245028" y="1204673"/>
            <a:ext cx="17019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Population</a:t>
            </a:r>
          </a:p>
        </p:txBody>
      </p:sp>
    </p:spTree>
    <p:extLst>
      <p:ext uri="{BB962C8B-B14F-4D97-AF65-F5344CB8AC3E}">
        <p14:creationId xmlns:p14="http://schemas.microsoft.com/office/powerpoint/2010/main" val="62256387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1018E-99EB-3964-35A6-F197197D0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61EDDD8-F13B-B94D-DA93-CA94D7C2ED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6256426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2025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13,790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13,790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13,790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13,664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13,796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14,052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13,355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13,637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14,174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12,926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13,362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14,201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12,449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13,049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14,207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11,944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12,708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14,185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11,445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12,374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14,169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1C69C751-F732-BCD3-A113-71810B3D2B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2B9506C-B2B3-E66B-96C7-4C29D03BA94D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D3C9C9-7958-F66A-F401-13D80D040052}"/>
              </a:ext>
            </a:extLst>
          </p:cNvPr>
          <p:cNvSpPr txBox="1"/>
          <p:nvPr/>
        </p:nvSpPr>
        <p:spPr>
          <a:xfrm>
            <a:off x="5155676" y="1204673"/>
            <a:ext cx="18806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Households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A5C732-1009-1E18-CA7E-FCFAEFAC3285}"/>
              </a:ext>
            </a:extLst>
          </p:cNvPr>
          <p:cNvSpPr txBox="1"/>
          <p:nvPr/>
        </p:nvSpPr>
        <p:spPr>
          <a:xfrm>
            <a:off x="3393976" y="669100"/>
            <a:ext cx="54040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Morrow County</a:t>
            </a:r>
          </a:p>
        </p:txBody>
      </p:sp>
    </p:spTree>
    <p:extLst>
      <p:ext uri="{BB962C8B-B14F-4D97-AF65-F5344CB8AC3E}">
        <p14:creationId xmlns:p14="http://schemas.microsoft.com/office/powerpoint/2010/main" val="217770105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0CB50-8615-FD38-1144-D84E67D41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5F9FEB0-FA4B-862C-9D3D-79A83F6401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6479378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2025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6,398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6,398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6,398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6,376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6,444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6,575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6,324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6,462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6,725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6,191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6,396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6,791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5,985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6,257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6,780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5,701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6,047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6,710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5,405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5,831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6,647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B2967534-8D84-394A-CEEB-CAAF58269F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3A9871C-0614-5377-8816-7231563422E3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8ED964-6B47-938D-63AE-8E961339F9AD}"/>
              </a:ext>
            </a:extLst>
          </p:cNvPr>
          <p:cNvSpPr txBox="1"/>
          <p:nvPr/>
        </p:nvSpPr>
        <p:spPr>
          <a:xfrm>
            <a:off x="5689476" y="1204673"/>
            <a:ext cx="8130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Jobs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F2A3B5-2914-C05C-2110-686044961CE9}"/>
              </a:ext>
            </a:extLst>
          </p:cNvPr>
          <p:cNvSpPr txBox="1"/>
          <p:nvPr/>
        </p:nvSpPr>
        <p:spPr>
          <a:xfrm>
            <a:off x="3393976" y="669100"/>
            <a:ext cx="54040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Morrow County</a:t>
            </a:r>
          </a:p>
        </p:txBody>
      </p:sp>
    </p:spTree>
    <p:extLst>
      <p:ext uri="{BB962C8B-B14F-4D97-AF65-F5344CB8AC3E}">
        <p14:creationId xmlns:p14="http://schemas.microsoft.com/office/powerpoint/2010/main" val="382375985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477F87-89AA-1F69-0834-5DDE73A09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00000000-0008-0000-0B00-0000020000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0728729"/>
              </p:ext>
            </p:extLst>
          </p:nvPr>
        </p:nvGraphicFramePr>
        <p:xfrm>
          <a:off x="609600" y="457200"/>
          <a:ext cx="10972800" cy="5943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E9CCBCEB-C7DD-FCA0-4039-B48A8128EA3F}"/>
              </a:ext>
            </a:extLst>
          </p:cNvPr>
          <p:cNvSpPr txBox="1"/>
          <p:nvPr/>
        </p:nvSpPr>
        <p:spPr>
          <a:xfrm>
            <a:off x="7278254" y="5902037"/>
            <a:ext cx="14478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(U.S. Census PEP)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1A77193-2DE1-6B02-28C0-33A8366938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5CF30CB-4269-937F-7CFC-20E36AF96DAE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</p:spTree>
    <p:extLst>
      <p:ext uri="{BB962C8B-B14F-4D97-AF65-F5344CB8AC3E}">
        <p14:creationId xmlns:p14="http://schemas.microsoft.com/office/powerpoint/2010/main" val="418344798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ABCBEB-5E0D-FEB6-5FE0-B8B91EAE1D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2B8512B-D8ED-F5C7-6FBF-EC308116D2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5836781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35,918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35,918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35,918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35,393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35,928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36,183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34,453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35,543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36,063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33,338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35,008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35,818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32,198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34,478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35,578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31,013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33,893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35,303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29,853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33,333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35,048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845715A2-E39E-DA9C-7E97-7CA257FE49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16F6245-6273-DA7A-23B1-19D0935D910D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7CF972-249A-BEC1-E0D1-4EBCE62B6966}"/>
              </a:ext>
            </a:extLst>
          </p:cNvPr>
          <p:cNvSpPr txBox="1"/>
          <p:nvPr/>
        </p:nvSpPr>
        <p:spPr>
          <a:xfrm>
            <a:off x="3558540" y="669100"/>
            <a:ext cx="50749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Perry County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87DCD9-4623-1264-8790-6D49C0BC6610}"/>
              </a:ext>
            </a:extLst>
          </p:cNvPr>
          <p:cNvSpPr txBox="1"/>
          <p:nvPr/>
        </p:nvSpPr>
        <p:spPr>
          <a:xfrm>
            <a:off x="5245028" y="1204673"/>
            <a:ext cx="17019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Population</a:t>
            </a:r>
          </a:p>
        </p:txBody>
      </p:sp>
    </p:spTree>
    <p:extLst>
      <p:ext uri="{BB962C8B-B14F-4D97-AF65-F5344CB8AC3E}">
        <p14:creationId xmlns:p14="http://schemas.microsoft.com/office/powerpoint/2010/main" val="244408656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E0D4F-6AB0-ECB1-4BC5-4FE502A3E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EC7F626-7E8D-1FDA-D2F5-AB6D15144E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9117463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2025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13,588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13,588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13,588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13,387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13,592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13,689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13,015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13,427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13,624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12,579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13,210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13,518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12,137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13,000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13,417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11,682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12,774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13,309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11,245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12,565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13,216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69F21DFD-A807-9FAD-5E78-1F1364D0D9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8D7C0E3-8D9A-4616-30C7-F601E7AD1C45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42DA69-FAA2-2069-373F-C904806434C7}"/>
              </a:ext>
            </a:extLst>
          </p:cNvPr>
          <p:cNvSpPr txBox="1"/>
          <p:nvPr/>
        </p:nvSpPr>
        <p:spPr>
          <a:xfrm>
            <a:off x="5155676" y="1204673"/>
            <a:ext cx="18806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Households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533080-94E4-A65D-EA28-C3BA85C76FF4}"/>
              </a:ext>
            </a:extLst>
          </p:cNvPr>
          <p:cNvSpPr txBox="1"/>
          <p:nvPr/>
        </p:nvSpPr>
        <p:spPr>
          <a:xfrm>
            <a:off x="3558540" y="669100"/>
            <a:ext cx="50749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Perry County</a:t>
            </a:r>
          </a:p>
        </p:txBody>
      </p:sp>
    </p:spTree>
    <p:extLst>
      <p:ext uri="{BB962C8B-B14F-4D97-AF65-F5344CB8AC3E}">
        <p14:creationId xmlns:p14="http://schemas.microsoft.com/office/powerpoint/2010/main" val="360048962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67614-69B7-23B3-5458-8D65F604F1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6B4A081-1396-9029-CF87-997AF40960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3822043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2025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7,566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7,566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7,566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7,511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7,640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7,701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7,393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7,644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7,760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7,173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7,536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7,711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6,899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7,375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7,605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6,578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7,177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7,473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6,275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7,015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7,379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D2C66D6F-63AE-3237-D9A8-4CB67EAB92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515EAAB-2CE2-7381-ED8F-B2CA9FEF082C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6208DD-3742-4E9B-18E2-56FF629E01D7}"/>
              </a:ext>
            </a:extLst>
          </p:cNvPr>
          <p:cNvSpPr txBox="1"/>
          <p:nvPr/>
        </p:nvSpPr>
        <p:spPr>
          <a:xfrm>
            <a:off x="5689476" y="1204673"/>
            <a:ext cx="8130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Jobs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976870-3FD2-25EF-8B55-B731F3DFBD18}"/>
              </a:ext>
            </a:extLst>
          </p:cNvPr>
          <p:cNvSpPr txBox="1"/>
          <p:nvPr/>
        </p:nvSpPr>
        <p:spPr>
          <a:xfrm>
            <a:off x="3558540" y="669100"/>
            <a:ext cx="50749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Perry County</a:t>
            </a:r>
          </a:p>
        </p:txBody>
      </p:sp>
    </p:spTree>
    <p:extLst>
      <p:ext uri="{BB962C8B-B14F-4D97-AF65-F5344CB8AC3E}">
        <p14:creationId xmlns:p14="http://schemas.microsoft.com/office/powerpoint/2010/main" val="159540439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BA26EE-2116-F6B3-7849-07EED7800B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00000000-0008-0000-0C00-0000020000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08264748"/>
              </p:ext>
            </p:extLst>
          </p:nvPr>
        </p:nvGraphicFramePr>
        <p:xfrm>
          <a:off x="609600" y="457200"/>
          <a:ext cx="10972800" cy="5943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0E1D5FE-5D43-F145-CE68-7CFC4137E825}"/>
              </a:ext>
            </a:extLst>
          </p:cNvPr>
          <p:cNvSpPr txBox="1"/>
          <p:nvPr/>
        </p:nvSpPr>
        <p:spPr>
          <a:xfrm>
            <a:off x="7278254" y="5902037"/>
            <a:ext cx="14478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(U.S. Census PEP)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C033479-7229-DD70-6A68-DC4D338A3C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C3356AC-816A-EF31-B492-0604609D2931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</p:spTree>
    <p:extLst>
      <p:ext uri="{BB962C8B-B14F-4D97-AF65-F5344CB8AC3E}">
        <p14:creationId xmlns:p14="http://schemas.microsoft.com/office/powerpoint/2010/main" val="349616420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6AE59-F091-DFE3-B827-1756A24E4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9767897-85B4-668F-46D7-8A65BBDA0B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796540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62,978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62,978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62,978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63,818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64,173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65,493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63,733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64,438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67,063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63,218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64,298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68,273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62,683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64,143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69,548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62,188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64,073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70,938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61,598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63,918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72,288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32E77754-5FE5-CC52-3C0D-D9C2169691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7A13B79-0115-D07F-FD6A-5526DF55DDE5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27EB361-9726-361C-C9B2-7072D9EE22B2}"/>
              </a:ext>
            </a:extLst>
          </p:cNvPr>
          <p:cNvSpPr txBox="1"/>
          <p:nvPr/>
        </p:nvSpPr>
        <p:spPr>
          <a:xfrm>
            <a:off x="3265703" y="669100"/>
            <a:ext cx="56605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Pickaway County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1ED3DE5-D394-CB6A-4D28-660B3D2AF836}"/>
              </a:ext>
            </a:extLst>
          </p:cNvPr>
          <p:cNvSpPr txBox="1"/>
          <p:nvPr/>
        </p:nvSpPr>
        <p:spPr>
          <a:xfrm>
            <a:off x="5245028" y="1204673"/>
            <a:ext cx="17019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Population</a:t>
            </a:r>
          </a:p>
        </p:txBody>
      </p:sp>
    </p:spTree>
    <p:extLst>
      <p:ext uri="{BB962C8B-B14F-4D97-AF65-F5344CB8AC3E}">
        <p14:creationId xmlns:p14="http://schemas.microsoft.com/office/powerpoint/2010/main" val="43884531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BDF66F-F62E-CA0D-CD25-2D7FD2570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8DADAB4-4911-CC74-1876-C7287290AC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5482648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2025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22,725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22,725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22,725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23,054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23,192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23,708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23,002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23,264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24,245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22,781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23,179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24,641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22,572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23,106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25,082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22,393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23,082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25,586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22,191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23,039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26,088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00047C56-E3BF-247B-F843-41A22269EA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8EF501F-2538-2E77-59FA-2BC8435A13B6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8CA576-2528-68E5-7ADE-4028D89D174B}"/>
              </a:ext>
            </a:extLst>
          </p:cNvPr>
          <p:cNvSpPr txBox="1"/>
          <p:nvPr/>
        </p:nvSpPr>
        <p:spPr>
          <a:xfrm>
            <a:off x="5155676" y="1204673"/>
            <a:ext cx="18806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Households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FF7D7A-6777-7C86-8677-769CDFD8AFB7}"/>
              </a:ext>
            </a:extLst>
          </p:cNvPr>
          <p:cNvSpPr txBox="1"/>
          <p:nvPr/>
        </p:nvSpPr>
        <p:spPr>
          <a:xfrm>
            <a:off x="3265703" y="669100"/>
            <a:ext cx="56605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Pickaway County</a:t>
            </a:r>
          </a:p>
        </p:txBody>
      </p:sp>
    </p:spTree>
    <p:extLst>
      <p:ext uri="{BB962C8B-B14F-4D97-AF65-F5344CB8AC3E}">
        <p14:creationId xmlns:p14="http://schemas.microsoft.com/office/powerpoint/2010/main" val="380229370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CCE1A-5004-AE1B-BB60-E211075EF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6DEE945-8938-0975-C942-079EEAC61A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3163764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2025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19,807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19,807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19,807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20,127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20,239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20,667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20,385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20,608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21,460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20,439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20,781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22,051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20,365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20,812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22,490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20,069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20,637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22,745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19,678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20,381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22,954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19146A38-5412-65E0-5325-90E067312D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7C59D44-975C-2A53-8E5B-67CE16A048E2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DE6DA2-7F67-B430-98E0-58255162AB4D}"/>
              </a:ext>
            </a:extLst>
          </p:cNvPr>
          <p:cNvSpPr txBox="1"/>
          <p:nvPr/>
        </p:nvSpPr>
        <p:spPr>
          <a:xfrm>
            <a:off x="5689476" y="1204673"/>
            <a:ext cx="8130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Jobs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A0666F-F216-20C4-F773-214110F8DA2A}"/>
              </a:ext>
            </a:extLst>
          </p:cNvPr>
          <p:cNvSpPr txBox="1"/>
          <p:nvPr/>
        </p:nvSpPr>
        <p:spPr>
          <a:xfrm>
            <a:off x="3265703" y="669100"/>
            <a:ext cx="56605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Pickaway County</a:t>
            </a:r>
          </a:p>
        </p:txBody>
      </p:sp>
    </p:spTree>
    <p:extLst>
      <p:ext uri="{BB962C8B-B14F-4D97-AF65-F5344CB8AC3E}">
        <p14:creationId xmlns:p14="http://schemas.microsoft.com/office/powerpoint/2010/main" val="90390062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162FED-9915-550F-5329-4F29ED1C70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00000000-0008-0000-0D00-0000020000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91521830"/>
              </p:ext>
            </p:extLst>
          </p:nvPr>
        </p:nvGraphicFramePr>
        <p:xfrm>
          <a:off x="609600" y="457200"/>
          <a:ext cx="10972800" cy="5943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71BB9C6A-3675-4845-4F34-9A71C8B18558}"/>
              </a:ext>
            </a:extLst>
          </p:cNvPr>
          <p:cNvSpPr txBox="1"/>
          <p:nvPr/>
        </p:nvSpPr>
        <p:spPr>
          <a:xfrm>
            <a:off x="7278254" y="5902037"/>
            <a:ext cx="14478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(U.S. Census PEP)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2681022-7E45-7F14-E311-9B641D1738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72B873D-E657-5C86-9CFB-69F001166B9A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</p:spTree>
    <p:extLst>
      <p:ext uri="{BB962C8B-B14F-4D97-AF65-F5344CB8AC3E}">
        <p14:creationId xmlns:p14="http://schemas.microsoft.com/office/powerpoint/2010/main" val="182138326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6BFCBA-2227-B1BA-D96C-0CC4457C1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6819F11-312A-7A23-8279-99978584A0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0776477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76,429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76,429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76,429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73,729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74,734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75,279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70,504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72,484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73,574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66,844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69,854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71,494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62,969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67,014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69,209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58,974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64,064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66,834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55,069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61,204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64,539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567C9025-A0C0-FC16-06C2-D937D002D7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F8D7B10-C954-2CB3-C6AF-209B2E3085B6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5FE3846-6498-2069-ADD0-522D1CE3AA59}"/>
              </a:ext>
            </a:extLst>
          </p:cNvPr>
          <p:cNvSpPr txBox="1"/>
          <p:nvPr/>
        </p:nvSpPr>
        <p:spPr>
          <a:xfrm>
            <a:off x="3579892" y="669100"/>
            <a:ext cx="50322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Ross County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550C8DF-FBD3-50C2-FF30-4C9F0A57D453}"/>
              </a:ext>
            </a:extLst>
          </p:cNvPr>
          <p:cNvSpPr txBox="1"/>
          <p:nvPr/>
        </p:nvSpPr>
        <p:spPr>
          <a:xfrm>
            <a:off x="5245028" y="1204673"/>
            <a:ext cx="17019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Population</a:t>
            </a:r>
          </a:p>
        </p:txBody>
      </p:sp>
    </p:spTree>
    <p:extLst>
      <p:ext uri="{BB962C8B-B14F-4D97-AF65-F5344CB8AC3E}">
        <p14:creationId xmlns:p14="http://schemas.microsoft.com/office/powerpoint/2010/main" val="426571387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15D57A-DDF7-B620-12DB-3F681BE74D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D6448DF-10AB-84A8-E11E-C6D6ED3E82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7953351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2025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29,706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29,706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29,706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28,577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28,997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29,225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27,341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28,128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28,562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25,896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27,077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27,719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24,351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25,929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26,784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22,770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24,753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25,831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21,247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23,637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24,933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5F0EF8A0-B8EC-D415-E970-DED22C3903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C792429-AEBB-61EB-BCF2-437A437EC3B1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4D355C-D931-0C2A-A092-2BD908001C13}"/>
              </a:ext>
            </a:extLst>
          </p:cNvPr>
          <p:cNvSpPr txBox="1"/>
          <p:nvPr/>
        </p:nvSpPr>
        <p:spPr>
          <a:xfrm>
            <a:off x="5155676" y="1204673"/>
            <a:ext cx="18806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Households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8B48176-66A0-15B2-D8BE-EDEA5AAE0693}"/>
              </a:ext>
            </a:extLst>
          </p:cNvPr>
          <p:cNvSpPr txBox="1"/>
          <p:nvPr/>
        </p:nvSpPr>
        <p:spPr>
          <a:xfrm>
            <a:off x="3579892" y="669100"/>
            <a:ext cx="50322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Ross County</a:t>
            </a:r>
          </a:p>
        </p:txBody>
      </p:sp>
    </p:spTree>
    <p:extLst>
      <p:ext uri="{BB962C8B-B14F-4D97-AF65-F5344CB8AC3E}">
        <p14:creationId xmlns:p14="http://schemas.microsoft.com/office/powerpoint/2010/main" val="245202798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D32789-6BAF-B9FB-5D50-922EF020E0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08685C5-2AEE-4BE3-29C2-4DB8D68B9B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179073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2025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34,322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34,322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34,322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33,275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33,783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34,060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32,090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33,056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33,587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30,522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31,926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32,694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28,757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30,571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31,559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26,851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29,114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30,350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24,977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27,728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29,228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9123396B-21EC-BDB9-F5E0-B2BDD389FE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948B514-74BA-3677-9CB7-66364A27A95E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E86B99-2180-EB89-CE00-2FBEE2878E6D}"/>
              </a:ext>
            </a:extLst>
          </p:cNvPr>
          <p:cNvSpPr txBox="1"/>
          <p:nvPr/>
        </p:nvSpPr>
        <p:spPr>
          <a:xfrm>
            <a:off x="5689476" y="1204673"/>
            <a:ext cx="8130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Jobs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3CF7A7-4F20-C73F-7E6B-926FF27B62D9}"/>
              </a:ext>
            </a:extLst>
          </p:cNvPr>
          <p:cNvSpPr txBox="1"/>
          <p:nvPr/>
        </p:nvSpPr>
        <p:spPr>
          <a:xfrm>
            <a:off x="3579892" y="669100"/>
            <a:ext cx="50322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Ross County</a:t>
            </a:r>
          </a:p>
        </p:txBody>
      </p:sp>
    </p:spTree>
    <p:extLst>
      <p:ext uri="{BB962C8B-B14F-4D97-AF65-F5344CB8AC3E}">
        <p14:creationId xmlns:p14="http://schemas.microsoft.com/office/powerpoint/2010/main" val="228152867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B4C3F-539F-BB4C-FE48-16DD02300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00000000-0008-0000-0E00-0000020000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12507889"/>
              </p:ext>
            </p:extLst>
          </p:nvPr>
        </p:nvGraphicFramePr>
        <p:xfrm>
          <a:off x="609600" y="457200"/>
          <a:ext cx="10972800" cy="5943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79DB21FD-506A-BB42-03BF-ADFF3E934324}"/>
              </a:ext>
            </a:extLst>
          </p:cNvPr>
          <p:cNvSpPr txBox="1"/>
          <p:nvPr/>
        </p:nvSpPr>
        <p:spPr>
          <a:xfrm>
            <a:off x="7278254" y="5902037"/>
            <a:ext cx="14478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(U.S. Census PEP)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42D50ED-0942-99FE-1D7B-9D347AAEC2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352ECD2-0FD2-D608-6585-D4D4BF7FFEF2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</p:spTree>
    <p:extLst>
      <p:ext uri="{BB962C8B-B14F-4D97-AF65-F5344CB8AC3E}">
        <p14:creationId xmlns:p14="http://schemas.microsoft.com/office/powerpoint/2010/main" val="245689742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D1A0B-F5FB-73D5-13D1-5E6E0E43C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32A43C4-0DB5-3EEC-4788-4817FED06F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5903489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73,446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73,446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73,446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76,771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79,021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82,226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79,181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83,666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90,106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80,851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87,691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97,451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82,196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91,491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104,741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83,406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95,276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112,216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84,486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99,036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119,806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50E1330F-064B-4E2A-C9C6-DB64D39DA7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1553026-DD53-0493-E975-A578BA6C35AD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30084C-4A13-B4FA-DDC3-209D813C7CD6}"/>
              </a:ext>
            </a:extLst>
          </p:cNvPr>
          <p:cNvSpPr txBox="1"/>
          <p:nvPr/>
        </p:nvSpPr>
        <p:spPr>
          <a:xfrm>
            <a:off x="3510162" y="669100"/>
            <a:ext cx="51716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Union County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A60F157-5009-2539-88D4-1078F4A247E4}"/>
              </a:ext>
            </a:extLst>
          </p:cNvPr>
          <p:cNvSpPr txBox="1"/>
          <p:nvPr/>
        </p:nvSpPr>
        <p:spPr>
          <a:xfrm>
            <a:off x="5245028" y="1204673"/>
            <a:ext cx="17019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Population</a:t>
            </a:r>
          </a:p>
        </p:txBody>
      </p:sp>
    </p:spTree>
    <p:extLst>
      <p:ext uri="{BB962C8B-B14F-4D97-AF65-F5344CB8AC3E}">
        <p14:creationId xmlns:p14="http://schemas.microsoft.com/office/powerpoint/2010/main" val="228109206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102AFC-D1E8-E301-7CB9-43917C01E7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E81566-EBC0-B0E5-ACE9-0088261040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4495897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2025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26,231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26,231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26,231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27,477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28,319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29,520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28,396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30,028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32,372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28,995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31,466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34,991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29,440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32,784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37,548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29,846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34,106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40,183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30,215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35,436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42,884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4888531F-6C75-9E92-D1FA-FD29425522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4C335BA-A500-E9DD-2339-4B4E0B01AD7F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784CB9-276B-4F08-C528-E341263FA3A6}"/>
              </a:ext>
            </a:extLst>
          </p:cNvPr>
          <p:cNvSpPr txBox="1"/>
          <p:nvPr/>
        </p:nvSpPr>
        <p:spPr>
          <a:xfrm>
            <a:off x="5155676" y="1204673"/>
            <a:ext cx="18806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Households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313739-8D1D-6ACF-F4D1-12AA159533BF}"/>
              </a:ext>
            </a:extLst>
          </p:cNvPr>
          <p:cNvSpPr txBox="1"/>
          <p:nvPr/>
        </p:nvSpPr>
        <p:spPr>
          <a:xfrm>
            <a:off x="3510162" y="669100"/>
            <a:ext cx="51716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Union County</a:t>
            </a:r>
          </a:p>
        </p:txBody>
      </p:sp>
    </p:spTree>
    <p:extLst>
      <p:ext uri="{BB962C8B-B14F-4D97-AF65-F5344CB8AC3E}">
        <p14:creationId xmlns:p14="http://schemas.microsoft.com/office/powerpoint/2010/main" val="163546885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3E607F-0CC5-B547-6511-E452C9BA3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A1C4A2D-88D4-BD17-7834-EEBC3B184A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7107590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2025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44,046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44,046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44,046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46,546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47,879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49,773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49,177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51,964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55,959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51,040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55,392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61,573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52,326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58,212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66,565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52,984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60,435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71,034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53,231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62,306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75,228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33A6350C-7361-78F9-96B9-F5E5D6B916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8FFCC32-D5C0-4FD5-2EB2-E78EE53A158A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4A8FBA-CDBC-B8E7-8E29-3FEFE8D4F215}"/>
              </a:ext>
            </a:extLst>
          </p:cNvPr>
          <p:cNvSpPr txBox="1"/>
          <p:nvPr/>
        </p:nvSpPr>
        <p:spPr>
          <a:xfrm>
            <a:off x="5689476" y="1204673"/>
            <a:ext cx="8130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Jobs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317F0E-6287-BFD8-240D-7D19B842944B}"/>
              </a:ext>
            </a:extLst>
          </p:cNvPr>
          <p:cNvSpPr txBox="1"/>
          <p:nvPr/>
        </p:nvSpPr>
        <p:spPr>
          <a:xfrm>
            <a:off x="3510162" y="669100"/>
            <a:ext cx="51716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Union County</a:t>
            </a:r>
          </a:p>
        </p:txBody>
      </p:sp>
    </p:spTree>
    <p:extLst>
      <p:ext uri="{BB962C8B-B14F-4D97-AF65-F5344CB8AC3E}">
        <p14:creationId xmlns:p14="http://schemas.microsoft.com/office/powerpoint/2010/main" val="95682042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69E8C7-17F0-689A-2D93-DA6B3A7C2E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00000000-0008-0000-0F00-0000020000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6305810"/>
              </p:ext>
            </p:extLst>
          </p:nvPr>
        </p:nvGraphicFramePr>
        <p:xfrm>
          <a:off x="609600" y="457200"/>
          <a:ext cx="10972800" cy="5943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0C23AEB-4972-BE71-5BAB-4CAA2D4F3E76}"/>
              </a:ext>
            </a:extLst>
          </p:cNvPr>
          <p:cNvSpPr txBox="1"/>
          <p:nvPr/>
        </p:nvSpPr>
        <p:spPr>
          <a:xfrm>
            <a:off x="7278254" y="5902037"/>
            <a:ext cx="14478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(U.S. Census PEP)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CBFCD34-621B-655C-281F-49E8FCBD11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974A46F-7E68-0212-D20D-D98626FD725A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</p:spTree>
    <p:extLst>
      <p:ext uri="{BB962C8B-B14F-4D97-AF65-F5344CB8AC3E}">
        <p14:creationId xmlns:p14="http://schemas.microsoft.com/office/powerpoint/2010/main" val="427451131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BBFD5-C14F-E8D7-5C13-0266B5E575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13FC69F-1289-4D8D-0555-F4E3501D5B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8989872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2,242,028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2,242,028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2,242,028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2,319,023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2,344,408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2,375,318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2,377,958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2,429,998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2,493,268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2,418,888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2,499,288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2,596,693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2,448,713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2,558,373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2,691,173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2,471,673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2,610,998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2,779,923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2,488,953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2,658,193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2,863,678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A2950358-1DC3-2DBF-97A0-A612414284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805820A-2C32-CD06-D6B3-0994DD533839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A504BA-117E-B10A-D210-B1667E5373D2}"/>
              </a:ext>
            </a:extLst>
          </p:cNvPr>
          <p:cNvSpPr txBox="1"/>
          <p:nvPr/>
        </p:nvSpPr>
        <p:spPr>
          <a:xfrm>
            <a:off x="3388045" y="669100"/>
            <a:ext cx="54159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Columbus MSA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6C6759D-6597-978A-5379-D9B2C6B995EC}"/>
              </a:ext>
            </a:extLst>
          </p:cNvPr>
          <p:cNvSpPr txBox="1"/>
          <p:nvPr/>
        </p:nvSpPr>
        <p:spPr>
          <a:xfrm>
            <a:off x="5245028" y="1204673"/>
            <a:ext cx="17019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Population</a:t>
            </a:r>
          </a:p>
        </p:txBody>
      </p:sp>
    </p:spTree>
    <p:extLst>
      <p:ext uri="{BB962C8B-B14F-4D97-AF65-F5344CB8AC3E}">
        <p14:creationId xmlns:p14="http://schemas.microsoft.com/office/powerpoint/2010/main" val="7316879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CCDBC8-35EF-CF84-4B74-014CF34AC2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FDB73D6-FAF3-C175-75D8-8484EF5208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1000385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2025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888,412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888,412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888,412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919,597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929,868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942,217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942,723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963,436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988,344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958,352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990,247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1,028,486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970,037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1,013,448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1,065,492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979,240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1,034,357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1,100,517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986,084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1,052,959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1,133,362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DFD263D4-886F-5328-3BA6-3F5D9955E6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ADC4C00-7815-22D6-ECCD-51AA553F4EB4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32A51C-67A0-8047-71AE-60DF33B738F5}"/>
              </a:ext>
            </a:extLst>
          </p:cNvPr>
          <p:cNvSpPr txBox="1"/>
          <p:nvPr/>
        </p:nvSpPr>
        <p:spPr>
          <a:xfrm>
            <a:off x="5155676" y="1204673"/>
            <a:ext cx="18806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Households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730230-FE11-6394-7322-9A8FFFAA587E}"/>
              </a:ext>
            </a:extLst>
          </p:cNvPr>
          <p:cNvSpPr txBox="1"/>
          <p:nvPr/>
        </p:nvSpPr>
        <p:spPr>
          <a:xfrm>
            <a:off x="3388045" y="669100"/>
            <a:ext cx="54159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Columbus MSA</a:t>
            </a:r>
          </a:p>
        </p:txBody>
      </p:sp>
    </p:spTree>
    <p:extLst>
      <p:ext uri="{BB962C8B-B14F-4D97-AF65-F5344CB8AC3E}">
        <p14:creationId xmlns:p14="http://schemas.microsoft.com/office/powerpoint/2010/main" val="232763574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C734BE-CB7E-7381-3C58-E87B6F733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918A437-B2CF-B7FF-1DE5-39E737A857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8905807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2025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1,325,343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1,325,343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1,325,343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1,394,224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1,410,805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1,429,959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1,455,842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1,488,804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1,527,188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1,497,880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1,547,719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1,605,837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1,528,491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1,594,901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1,672,469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1,550,754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1,635,136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1,733,727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1,566,301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1,670,027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1,791,155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8B51A7FA-3E47-EE1C-7E31-A84CDB99A2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E10A763-6EC6-2245-6F8E-F85E10EAC961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33B71D-82D5-B5E6-43D9-62241075FE72}"/>
              </a:ext>
            </a:extLst>
          </p:cNvPr>
          <p:cNvSpPr txBox="1"/>
          <p:nvPr/>
        </p:nvSpPr>
        <p:spPr>
          <a:xfrm>
            <a:off x="5689476" y="1204673"/>
            <a:ext cx="8130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Jobs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F7D4D5-2D01-437A-7906-B222993CD93C}"/>
              </a:ext>
            </a:extLst>
          </p:cNvPr>
          <p:cNvSpPr txBox="1"/>
          <p:nvPr/>
        </p:nvSpPr>
        <p:spPr>
          <a:xfrm>
            <a:off x="3388045" y="669100"/>
            <a:ext cx="54159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Columbus MSA</a:t>
            </a:r>
          </a:p>
        </p:txBody>
      </p:sp>
    </p:spTree>
    <p:extLst>
      <p:ext uri="{BB962C8B-B14F-4D97-AF65-F5344CB8AC3E}">
        <p14:creationId xmlns:p14="http://schemas.microsoft.com/office/powerpoint/2010/main" val="293827115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7A7231-1332-8367-9246-415A7ED20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00000000-0008-0000-1000-0000020000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63221158"/>
              </p:ext>
            </p:extLst>
          </p:nvPr>
        </p:nvGraphicFramePr>
        <p:xfrm>
          <a:off x="609600" y="457200"/>
          <a:ext cx="10972800" cy="5943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128E57D4-2197-11C9-0051-32AD06515B67}"/>
              </a:ext>
            </a:extLst>
          </p:cNvPr>
          <p:cNvSpPr txBox="1"/>
          <p:nvPr/>
        </p:nvSpPr>
        <p:spPr>
          <a:xfrm>
            <a:off x="7278254" y="5902037"/>
            <a:ext cx="14478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(U.S. Census PEP)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032B6C7-B292-2D41-5170-1E8606E5F2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E73C670-E47B-1141-939B-220C51C4840D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</p:spTree>
    <p:extLst>
      <p:ext uri="{BB962C8B-B14F-4D97-AF65-F5344CB8AC3E}">
        <p14:creationId xmlns:p14="http://schemas.microsoft.com/office/powerpoint/2010/main" val="66596556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5AAEE2-CFEF-79B0-F026-B955CDC48E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32D97FD-4911-1EDB-1BC8-261E013EE4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0760437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2,522,428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2,522,428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2,522,428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2,591,773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2,621,483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2,655,423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2,640,573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2,701,203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2,770,558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2,669,518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2,763,033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2,869,668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2,686,538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2,813,883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2,959,158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2,696,438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2,857,983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3,042,688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2,700,898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2,896,873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3,121,463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5BFB1672-7EF2-26FB-F323-B5BBADC32D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5634E48-06A9-A65C-9C12-3C5908DCCFC8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0C1D0F-E819-361B-727F-F0BFCECA6A9F}"/>
              </a:ext>
            </a:extLst>
          </p:cNvPr>
          <p:cNvSpPr txBox="1"/>
          <p:nvPr/>
        </p:nvSpPr>
        <p:spPr>
          <a:xfrm>
            <a:off x="2655761" y="669100"/>
            <a:ext cx="68804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MORPC 15-County Region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F68C659-91A7-64C0-18F9-A2D51D508ECE}"/>
              </a:ext>
            </a:extLst>
          </p:cNvPr>
          <p:cNvSpPr txBox="1"/>
          <p:nvPr/>
        </p:nvSpPr>
        <p:spPr>
          <a:xfrm>
            <a:off x="5245028" y="1204673"/>
            <a:ext cx="17019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Population</a:t>
            </a:r>
          </a:p>
        </p:txBody>
      </p:sp>
    </p:spTree>
    <p:extLst>
      <p:ext uri="{BB962C8B-B14F-4D97-AF65-F5344CB8AC3E}">
        <p14:creationId xmlns:p14="http://schemas.microsoft.com/office/powerpoint/2010/main" val="71903375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5916FB-F32A-E1DE-DCAE-CBDACEE83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07E3197-8991-788E-AE94-29096DCF1B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5720545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2025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997,651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997,651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997,651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1,025,654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1,037,713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1,051,301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1,044,682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1,068,830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1,096,130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1,055,422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1,092,524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1,134,344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1,061,925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1,112,338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1,169,200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1,065,944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1,129,854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1,202,103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1,067,792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1,145,243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1,233,010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25DB5165-A86D-E2FA-2F29-C11485FBC1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0CC2106-AC89-A96D-C593-D4AAE6E2E403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8DF94C-B02C-843E-93E6-F860EBF0FDFC}"/>
              </a:ext>
            </a:extLst>
          </p:cNvPr>
          <p:cNvSpPr txBox="1"/>
          <p:nvPr/>
        </p:nvSpPr>
        <p:spPr>
          <a:xfrm>
            <a:off x="5155676" y="1204673"/>
            <a:ext cx="18806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Households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83325D-ED67-AD26-ADCA-A954B86EA4F7}"/>
              </a:ext>
            </a:extLst>
          </p:cNvPr>
          <p:cNvSpPr txBox="1"/>
          <p:nvPr/>
        </p:nvSpPr>
        <p:spPr>
          <a:xfrm>
            <a:off x="2655761" y="669100"/>
            <a:ext cx="68804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MORPC 15-County Region</a:t>
            </a:r>
          </a:p>
        </p:txBody>
      </p:sp>
    </p:spTree>
    <p:extLst>
      <p:ext uri="{BB962C8B-B14F-4D97-AF65-F5344CB8AC3E}">
        <p14:creationId xmlns:p14="http://schemas.microsoft.com/office/powerpoint/2010/main" val="33772253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0F600-17A7-83EF-C42B-563DA0E17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0F6BD35-C728-661C-A60B-CA1FD1A975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89988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2025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1,449,440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1,449,440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1,449,440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1,515,617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1,534,414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1,555,025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1,573,895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1,611,035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1,652,200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1,611,188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1,667,134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1,729,307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1,636,121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1,710,448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1,793,293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1,651,926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1,746,176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1,851,395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1,661,011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1,776,707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1,905,941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997945D7-E8EE-66B8-4DE1-BAF3DBC5B5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557BAE9-FF57-364D-D07B-468EB9D0CD3C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431111-03A4-CF7C-1023-4CE8BF1DE04C}"/>
              </a:ext>
            </a:extLst>
          </p:cNvPr>
          <p:cNvSpPr txBox="1"/>
          <p:nvPr/>
        </p:nvSpPr>
        <p:spPr>
          <a:xfrm>
            <a:off x="5689476" y="1204673"/>
            <a:ext cx="8130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Jobs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975BA3-F81E-BCF0-0875-0531EB8D9509}"/>
              </a:ext>
            </a:extLst>
          </p:cNvPr>
          <p:cNvSpPr txBox="1"/>
          <p:nvPr/>
        </p:nvSpPr>
        <p:spPr>
          <a:xfrm>
            <a:off x="2655761" y="669100"/>
            <a:ext cx="68804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MORPC 15-County Region</a:t>
            </a:r>
          </a:p>
        </p:txBody>
      </p:sp>
    </p:spTree>
    <p:extLst>
      <p:ext uri="{BB962C8B-B14F-4D97-AF65-F5344CB8AC3E}">
        <p14:creationId xmlns:p14="http://schemas.microsoft.com/office/powerpoint/2010/main" val="60145362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BC2F9-9EBF-5EE1-99F7-E2556B903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00000000-0008-0000-1100-0000020000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83570801"/>
              </p:ext>
            </p:extLst>
          </p:nvPr>
        </p:nvGraphicFramePr>
        <p:xfrm>
          <a:off x="609600" y="457200"/>
          <a:ext cx="10972800" cy="5943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F331D5A1-C47E-E566-6F20-F858E314C5A2}"/>
              </a:ext>
            </a:extLst>
          </p:cNvPr>
          <p:cNvSpPr txBox="1"/>
          <p:nvPr/>
        </p:nvSpPr>
        <p:spPr>
          <a:xfrm>
            <a:off x="7278254" y="5902037"/>
            <a:ext cx="14478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(U.S. Census PEP)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444F312-09E0-F701-3805-0214628D2E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78F1497-0208-2493-69CF-87073767971B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</p:spTree>
    <p:extLst>
      <p:ext uri="{BB962C8B-B14F-4D97-AF65-F5344CB8AC3E}">
        <p14:creationId xmlns:p14="http://schemas.microsoft.com/office/powerpoint/2010/main" val="286914986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D6E99-D832-CE12-016B-6E3D3395A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2251122-895B-DCC1-A9F5-DE564E9208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0888043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2,307,715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2,307,715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2,307,715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2,383,585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2,409,885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2,442,335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2,440,685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2,494,555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2,560,960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2,479,160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2,562,425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2,664,625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2,506,295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2,619,875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2,759,205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2,526,775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2,671,065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2,848,280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2,541,690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2,717,005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2,932,555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A7A4D09F-92C0-FB65-1BC0-9EA54E728C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E0470CE-CA6A-9006-A8E8-8A5B72E06599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41C9A4-AFEA-5730-C089-906E5C311220}"/>
              </a:ext>
            </a:extLst>
          </p:cNvPr>
          <p:cNvSpPr txBox="1"/>
          <p:nvPr/>
        </p:nvSpPr>
        <p:spPr>
          <a:xfrm>
            <a:off x="2655761" y="669100"/>
            <a:ext cx="68804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MORPC 10-County Region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AEF7996-1392-BC68-0BFD-BE2562B261B9}"/>
              </a:ext>
            </a:extLst>
          </p:cNvPr>
          <p:cNvSpPr txBox="1"/>
          <p:nvPr/>
        </p:nvSpPr>
        <p:spPr>
          <a:xfrm>
            <a:off x="5245028" y="1204673"/>
            <a:ext cx="17019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Population</a:t>
            </a:r>
          </a:p>
        </p:txBody>
      </p:sp>
    </p:spTree>
    <p:extLst>
      <p:ext uri="{BB962C8B-B14F-4D97-AF65-F5344CB8AC3E}">
        <p14:creationId xmlns:p14="http://schemas.microsoft.com/office/powerpoint/2010/main" val="97823775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B688C-FBDC-06A4-7949-C9DE43578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304AD9C-6A50-9F1C-76F9-41E84C57C1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4642286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2025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911,800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911,800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911,800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942,520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953,164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966,139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964,904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986,311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1,012,426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979,541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1,012,501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1,052,552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990,196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1,035,051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1,089,546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998,520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1,055,463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1,124,731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1,004,580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1,073,689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1,157,856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1BB83A81-0A72-9563-8F53-147D405B36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F53D20F-82C8-AD7F-F29F-1C438D2D17C3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223254-23BD-0CC2-4A57-B8C83BB3781D}"/>
              </a:ext>
            </a:extLst>
          </p:cNvPr>
          <p:cNvSpPr txBox="1"/>
          <p:nvPr/>
        </p:nvSpPr>
        <p:spPr>
          <a:xfrm>
            <a:off x="5155676" y="1204673"/>
            <a:ext cx="18806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Households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7EA3CA-F4FB-5D95-A56A-77E735DA3DD7}"/>
              </a:ext>
            </a:extLst>
          </p:cNvPr>
          <p:cNvSpPr txBox="1"/>
          <p:nvPr/>
        </p:nvSpPr>
        <p:spPr>
          <a:xfrm>
            <a:off x="2655761" y="669100"/>
            <a:ext cx="68804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MORPC 10-County Region</a:t>
            </a:r>
          </a:p>
        </p:txBody>
      </p:sp>
    </p:spTree>
    <p:extLst>
      <p:ext uri="{BB962C8B-B14F-4D97-AF65-F5344CB8AC3E}">
        <p14:creationId xmlns:p14="http://schemas.microsoft.com/office/powerpoint/2010/main" val="171668938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C7D45C-F09A-94AC-7534-F83AD6E3C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AEDE405-8DF7-7D65-7AE1-A8957D8900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0550083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2025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1,361,153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1,361,153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1,361,153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1,429,503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1,446,631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1,466,564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1,490,463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1,524,475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1,564,365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1,531,451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1,582,878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1,643,210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1,560,728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1,629,216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1,709,692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1,581,409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1,668,389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1,770,655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1,595,330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1,702,225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1,827,869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589B7CEA-CBEA-27AB-9595-78CC3CAB72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3CA9933-BE3D-E4C1-1346-23152674EC90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5A76F1-41F3-BFF8-2E23-B89397F44C83}"/>
              </a:ext>
            </a:extLst>
          </p:cNvPr>
          <p:cNvSpPr txBox="1"/>
          <p:nvPr/>
        </p:nvSpPr>
        <p:spPr>
          <a:xfrm>
            <a:off x="5689476" y="1204673"/>
            <a:ext cx="8130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Jobs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3BF395-BEDB-922B-2B0F-3021A1F8907C}"/>
              </a:ext>
            </a:extLst>
          </p:cNvPr>
          <p:cNvSpPr txBox="1"/>
          <p:nvPr/>
        </p:nvSpPr>
        <p:spPr>
          <a:xfrm>
            <a:off x="2655761" y="669100"/>
            <a:ext cx="68804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MORPC 10-County Region</a:t>
            </a:r>
          </a:p>
        </p:txBody>
      </p:sp>
    </p:spTree>
    <p:extLst>
      <p:ext uri="{BB962C8B-B14F-4D97-AF65-F5344CB8AC3E}">
        <p14:creationId xmlns:p14="http://schemas.microsoft.com/office/powerpoint/2010/main" val="68157930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EB421E-4C10-D9A9-CDB9-226B4315E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00000000-0008-0000-1200-0000020000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12366972"/>
              </p:ext>
            </p:extLst>
          </p:nvPr>
        </p:nvGraphicFramePr>
        <p:xfrm>
          <a:off x="609600" y="457200"/>
          <a:ext cx="10972800" cy="5943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8882BC9-C785-14C1-861C-25BBCC61BE47}"/>
              </a:ext>
            </a:extLst>
          </p:cNvPr>
          <p:cNvSpPr txBox="1"/>
          <p:nvPr/>
        </p:nvSpPr>
        <p:spPr>
          <a:xfrm>
            <a:off x="7278254" y="5902037"/>
            <a:ext cx="14478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(U.S. Census PEP)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5A0C293-6615-F3FB-272B-7C52AAD2CC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9EEEE46-2A11-C1A0-3235-7B8C5F8185E5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</p:spTree>
    <p:extLst>
      <p:ext uri="{BB962C8B-B14F-4D97-AF65-F5344CB8AC3E}">
        <p14:creationId xmlns:p14="http://schemas.microsoft.com/office/powerpoint/2010/main" val="288003133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4C01B-3294-D5DE-4D90-8FB2E5AAA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7955684-A3BF-8D63-3F02-98EF13A386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8388045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2,142,293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2,142,293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2,142,293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2,221,348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2,245,478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2,275,153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2,283,383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2,332,848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2,393,568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2,327,983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2,404,453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2,497,928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2,361,638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2,465,973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2,593,418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2,388,693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2,521,293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2,683,413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2,410,033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2,571,158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2,768,403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E3CE9FCB-A8F9-F012-903B-DFF052D480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E7DE2D8-5F57-A322-7DBF-C0B63100CDA9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85F027-0FBC-5864-1292-D032E5DED42F}"/>
              </a:ext>
            </a:extLst>
          </p:cNvPr>
          <p:cNvSpPr txBox="1"/>
          <p:nvPr/>
        </p:nvSpPr>
        <p:spPr>
          <a:xfrm>
            <a:off x="2738316" y="669100"/>
            <a:ext cx="67153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MORPC 7-County Region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38B126-36D2-12CC-70D8-1305D0E2DE6F}"/>
              </a:ext>
            </a:extLst>
          </p:cNvPr>
          <p:cNvSpPr txBox="1"/>
          <p:nvPr/>
        </p:nvSpPr>
        <p:spPr>
          <a:xfrm>
            <a:off x="5245028" y="1204673"/>
            <a:ext cx="17019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Population</a:t>
            </a:r>
          </a:p>
        </p:txBody>
      </p:sp>
    </p:spTree>
    <p:extLst>
      <p:ext uri="{BB962C8B-B14F-4D97-AF65-F5344CB8AC3E}">
        <p14:creationId xmlns:p14="http://schemas.microsoft.com/office/powerpoint/2010/main" val="156322766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F7E834-64A6-3E2E-C55A-47406AEB0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CA74ADC-BB08-50D3-6F9D-BCC020C6FC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0900295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2025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849,561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849,561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849,561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881,579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891,356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903,221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905,959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925,668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949,584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923,066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953,430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990,142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936,287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977,623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1,027,588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947,126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999,620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1,063,138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955,570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1,019,281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1,096,483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450AA62F-6198-A311-90DD-A72F9A24F9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912D1FF-84C5-AD6F-D775-3D597D31C280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0133EA-EC5E-C1A2-8F43-F7A8762A190F}"/>
              </a:ext>
            </a:extLst>
          </p:cNvPr>
          <p:cNvSpPr txBox="1"/>
          <p:nvPr/>
        </p:nvSpPr>
        <p:spPr>
          <a:xfrm>
            <a:off x="5155676" y="1204673"/>
            <a:ext cx="18806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Households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5148F1-ED01-2C41-1AA1-72FCDAC8024B}"/>
              </a:ext>
            </a:extLst>
          </p:cNvPr>
          <p:cNvSpPr txBox="1"/>
          <p:nvPr/>
        </p:nvSpPr>
        <p:spPr>
          <a:xfrm>
            <a:off x="2738316" y="669100"/>
            <a:ext cx="67153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MORPC 7-County Region</a:t>
            </a:r>
          </a:p>
        </p:txBody>
      </p:sp>
    </p:spTree>
    <p:extLst>
      <p:ext uri="{BB962C8B-B14F-4D97-AF65-F5344CB8AC3E}">
        <p14:creationId xmlns:p14="http://schemas.microsoft.com/office/powerpoint/2010/main" val="138337302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CD9092-8666-2E40-26F7-33830190A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AFF8F9C-7054-0C22-8665-BECD1A4611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0021134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2025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1,302,412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1,302,412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1,302,412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1,371,712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1,387,956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1,406,799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1,433,869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1,466,174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1,503,955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1,476,735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1,525,624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1,582,855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1,508,326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1,573,499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1,649,911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1,531,758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1,614,588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1,711,717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1,548,450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1,650,276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1,769,619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D5D8FD34-ED26-1386-F975-C62979DAF6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FC0835D-936A-0373-DFBF-51F66FAB99FC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51C175-EEA1-8C97-2CE3-3EE588A79E64}"/>
              </a:ext>
            </a:extLst>
          </p:cNvPr>
          <p:cNvSpPr txBox="1"/>
          <p:nvPr/>
        </p:nvSpPr>
        <p:spPr>
          <a:xfrm>
            <a:off x="5689476" y="1204673"/>
            <a:ext cx="8130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Jobs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923E9A-7651-90E8-0CDD-06E0E87DF4F6}"/>
              </a:ext>
            </a:extLst>
          </p:cNvPr>
          <p:cNvSpPr txBox="1"/>
          <p:nvPr/>
        </p:nvSpPr>
        <p:spPr>
          <a:xfrm>
            <a:off x="2738316" y="669100"/>
            <a:ext cx="67153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MORPC 7-County Region</a:t>
            </a:r>
          </a:p>
        </p:txBody>
      </p:sp>
    </p:spTree>
    <p:extLst>
      <p:ext uri="{BB962C8B-B14F-4D97-AF65-F5344CB8AC3E}">
        <p14:creationId xmlns:p14="http://schemas.microsoft.com/office/powerpoint/2010/main" val="56069244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0A7FE-C238-AF67-ABF2-4CC328DDF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00000000-0008-0000-1300-0000020000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22753614"/>
              </p:ext>
            </p:extLst>
          </p:nvPr>
        </p:nvGraphicFramePr>
        <p:xfrm>
          <a:off x="609600" y="457200"/>
          <a:ext cx="10972800" cy="5943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08A5210-0FBE-D684-BFDE-BF0B186B7993}"/>
              </a:ext>
            </a:extLst>
          </p:cNvPr>
          <p:cNvSpPr txBox="1"/>
          <p:nvPr/>
        </p:nvSpPr>
        <p:spPr>
          <a:xfrm>
            <a:off x="7278254" y="5902037"/>
            <a:ext cx="14478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(U.S. Census PEP)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590471E-641E-47C8-2CA7-22820D5523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C4256C8-7D3C-2572-DD21-C284E3CBF893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</p:spTree>
    <p:extLst>
      <p:ext uri="{BB962C8B-B14F-4D97-AF65-F5344CB8AC3E}">
        <p14:creationId xmlns:p14="http://schemas.microsoft.com/office/powerpoint/2010/main" val="305046754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BAFC3-6AD2-6084-72DB-E72AA50FF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D78DA3E-F7B1-C057-01C7-1C09650642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2757124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518,583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518,583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518,583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523,678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532,618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544,418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522,473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540,453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564,248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517,388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544,948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581,218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511,313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548,843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598,268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505,103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552,883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615,968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498,423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556,708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633,708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A4C4889F-2E8B-47DF-DA10-B2B687CE62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D1E5618-F9D4-071D-0E70-F953DC6A68A3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89A2EB-B317-8417-04D4-69700DF6B0BD}"/>
              </a:ext>
            </a:extLst>
          </p:cNvPr>
          <p:cNvSpPr txBox="1"/>
          <p:nvPr/>
        </p:nvSpPr>
        <p:spPr>
          <a:xfrm>
            <a:off x="2852866" y="669100"/>
            <a:ext cx="64862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MORPC CORPO Region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470C650-E7C9-39F2-DD56-A3DB17D35D8E}"/>
              </a:ext>
            </a:extLst>
          </p:cNvPr>
          <p:cNvSpPr txBox="1"/>
          <p:nvPr/>
        </p:nvSpPr>
        <p:spPr>
          <a:xfrm>
            <a:off x="5245028" y="1204673"/>
            <a:ext cx="17019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Population</a:t>
            </a:r>
          </a:p>
        </p:txBody>
      </p:sp>
    </p:spTree>
    <p:extLst>
      <p:ext uri="{BB962C8B-B14F-4D97-AF65-F5344CB8AC3E}">
        <p14:creationId xmlns:p14="http://schemas.microsoft.com/office/powerpoint/2010/main" val="106485575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1E094E-1B95-742B-16D7-E2F0BD3F1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96F0A41-EEC3-5376-A6E7-09438A5A48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3762785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2025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190,082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190,082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190,082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191,893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195,353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199,904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191,281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197,958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206,820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189,105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199,231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212,610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186,606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200,321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218,475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184,188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201,607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224,738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181,736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202,967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231,175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B259C223-9A8F-9376-DBBA-1E823D5B6F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519BA6D-7D92-27BA-3A2F-1F704C6BA58B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77665F-1B2E-8747-894F-68A367ED8D32}"/>
              </a:ext>
            </a:extLst>
          </p:cNvPr>
          <p:cNvSpPr txBox="1"/>
          <p:nvPr/>
        </p:nvSpPr>
        <p:spPr>
          <a:xfrm>
            <a:off x="5155676" y="1204673"/>
            <a:ext cx="18806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Households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105AFF-966A-6F6B-01A6-5320D7FA7598}"/>
              </a:ext>
            </a:extLst>
          </p:cNvPr>
          <p:cNvSpPr txBox="1"/>
          <p:nvPr/>
        </p:nvSpPr>
        <p:spPr>
          <a:xfrm>
            <a:off x="2852866" y="669100"/>
            <a:ext cx="64862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MORPC CORPO Region</a:t>
            </a:r>
          </a:p>
        </p:txBody>
      </p:sp>
    </p:spTree>
    <p:extLst>
      <p:ext uri="{BB962C8B-B14F-4D97-AF65-F5344CB8AC3E}">
        <p14:creationId xmlns:p14="http://schemas.microsoft.com/office/powerpoint/2010/main" val="744481842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8D3A92-772A-3D1A-217B-34FF2E963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AE1FBB3-D238-1C46-E9D3-9C5598C0C6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2295336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2025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209,115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209,115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209,115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212,815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217,420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222,919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216,145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225,338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236,454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216,642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230,565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247,363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215,135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233,650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256,057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211,386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234,777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263,192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206,723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235,335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270,106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B4FA6FAB-E852-0D83-8DED-5B6105D779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001A2F6-5D6F-73EE-AD15-A828BCF534C0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CAD614-5574-D6B3-499B-2E1DB45F6330}"/>
              </a:ext>
            </a:extLst>
          </p:cNvPr>
          <p:cNvSpPr txBox="1"/>
          <p:nvPr/>
        </p:nvSpPr>
        <p:spPr>
          <a:xfrm>
            <a:off x="5689476" y="1204673"/>
            <a:ext cx="8130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Jobs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2DFFB30-3C97-9ABC-C13A-ACCEA7276A5D}"/>
              </a:ext>
            </a:extLst>
          </p:cNvPr>
          <p:cNvSpPr txBox="1"/>
          <p:nvPr/>
        </p:nvSpPr>
        <p:spPr>
          <a:xfrm>
            <a:off x="2852866" y="669100"/>
            <a:ext cx="64862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MORPC CORPO Region</a:t>
            </a:r>
          </a:p>
        </p:txBody>
      </p:sp>
    </p:spTree>
    <p:extLst>
      <p:ext uri="{BB962C8B-B14F-4D97-AF65-F5344CB8AC3E}">
        <p14:creationId xmlns:p14="http://schemas.microsoft.com/office/powerpoint/2010/main" val="339774490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B4741F-1A69-5FFB-1F41-F6DCCFE4F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00000000-0008-0000-1400-0000020000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89930927"/>
              </p:ext>
            </p:extLst>
          </p:nvPr>
        </p:nvGraphicFramePr>
        <p:xfrm>
          <a:off x="609600" y="457200"/>
          <a:ext cx="10972800" cy="5943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BC25F0E3-AA70-CF71-E02A-31D57537C406}"/>
              </a:ext>
            </a:extLst>
          </p:cNvPr>
          <p:cNvSpPr txBox="1"/>
          <p:nvPr/>
        </p:nvSpPr>
        <p:spPr>
          <a:xfrm>
            <a:off x="7278254" y="5902037"/>
            <a:ext cx="14478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(U.S. Census PEP)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9185411-7802-CFDC-A62D-A414E74679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1E39E36-80F2-443A-38AB-BFF8D6235ECA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</p:spTree>
    <p:extLst>
      <p:ext uri="{BB962C8B-B14F-4D97-AF65-F5344CB8AC3E}">
        <p14:creationId xmlns:p14="http://schemas.microsoft.com/office/powerpoint/2010/main" val="324873800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208CE9-1F0A-10BF-DE4F-8869A4738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8050397-0171-B4F6-782C-EFC7B2E9BD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8643816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2,354,017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2,354,017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2,354,017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2,428,462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2,455,962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2,488,562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2,483,657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2,539,927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2,606,627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2,519,857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2,606,772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2,709,432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2,544,492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2,662,982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2,802,932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2,562,362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2,712,797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2,890,792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2,574,677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2,757,297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2,973,802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D078B4D3-04DD-6B32-185B-FD9FE443B3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26679C9-894B-C49B-7DAA-F1BE9BB635DA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402D72-ACCD-3CAC-2BD5-2ECCC01E95BC}"/>
              </a:ext>
            </a:extLst>
          </p:cNvPr>
          <p:cNvSpPr txBox="1"/>
          <p:nvPr/>
        </p:nvSpPr>
        <p:spPr>
          <a:xfrm>
            <a:off x="2981171" y="669100"/>
            <a:ext cx="62296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MORPC CEDS Region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4A536D-716C-C2E2-B6BF-A730924AA111}"/>
              </a:ext>
            </a:extLst>
          </p:cNvPr>
          <p:cNvSpPr txBox="1"/>
          <p:nvPr/>
        </p:nvSpPr>
        <p:spPr>
          <a:xfrm>
            <a:off x="5245028" y="1204673"/>
            <a:ext cx="17019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Population</a:t>
            </a:r>
          </a:p>
        </p:txBody>
      </p:sp>
    </p:spTree>
    <p:extLst>
      <p:ext uri="{BB962C8B-B14F-4D97-AF65-F5344CB8AC3E}">
        <p14:creationId xmlns:p14="http://schemas.microsoft.com/office/powerpoint/2010/main" val="46548669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6B5CB-FE1D-C2D7-6794-C4EB6C886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0CF79F8-CF85-F3EA-6374-AA9C7F2FD6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9015751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2025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931,417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931,417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931,417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961,528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972,685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985,724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983,094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1,005,514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1,031,754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996,751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1,031,254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1,071,499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1,006,324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1,053,258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1,108,015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1,013,528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1,073,074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1,142,673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1,018,481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1,090,686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1,175,258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037B4A7F-9A74-96A0-7C12-76DEF631D9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7A73EFC-F3B3-C0E6-2B48-1F53C03F46F7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F7DC40-5E80-7CAF-5C45-F5075385CCBC}"/>
              </a:ext>
            </a:extLst>
          </p:cNvPr>
          <p:cNvSpPr txBox="1"/>
          <p:nvPr/>
        </p:nvSpPr>
        <p:spPr>
          <a:xfrm>
            <a:off x="5155676" y="1204673"/>
            <a:ext cx="18806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Households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AF232C-34E2-589B-A2FA-25081E96AD7D}"/>
              </a:ext>
            </a:extLst>
          </p:cNvPr>
          <p:cNvSpPr txBox="1"/>
          <p:nvPr/>
        </p:nvSpPr>
        <p:spPr>
          <a:xfrm>
            <a:off x="2981171" y="669100"/>
            <a:ext cx="62296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MORPC CEDS Region</a:t>
            </a:r>
          </a:p>
        </p:txBody>
      </p:sp>
    </p:spTree>
    <p:extLst>
      <p:ext uri="{BB962C8B-B14F-4D97-AF65-F5344CB8AC3E}">
        <p14:creationId xmlns:p14="http://schemas.microsoft.com/office/powerpoint/2010/main" val="363829504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99FCF0-C72F-A2EE-6B0B-2B64070F7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EAB28BB-FEDA-2FF3-9CAB-E6A20A7BFC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4274759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2025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1,384,407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1,384,407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1,384,407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1,452,188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1,470,038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1,490,060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1,512,449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1,547,806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1,587,863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1,552,447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1,605,820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1,666,400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1,580,505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1,651,514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1,732,309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1,599,756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1,689,884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1,792,541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1,612,204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1,722,894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1,849,021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CE2DBC93-F13D-CA45-DA56-064239CCC6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D266501-F2AD-A25D-CE89-D872F084578A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4CD167-26C7-2A77-397A-3887465CFF60}"/>
              </a:ext>
            </a:extLst>
          </p:cNvPr>
          <p:cNvSpPr txBox="1"/>
          <p:nvPr/>
        </p:nvSpPr>
        <p:spPr>
          <a:xfrm>
            <a:off x="5689476" y="1204673"/>
            <a:ext cx="8130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Jobs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D1B936-A442-D614-BBF5-EF0FADBA73A1}"/>
              </a:ext>
            </a:extLst>
          </p:cNvPr>
          <p:cNvSpPr txBox="1"/>
          <p:nvPr/>
        </p:nvSpPr>
        <p:spPr>
          <a:xfrm>
            <a:off x="2981171" y="669100"/>
            <a:ext cx="62296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MORPC CEDS Region</a:t>
            </a:r>
          </a:p>
        </p:txBody>
      </p:sp>
    </p:spTree>
    <p:extLst>
      <p:ext uri="{BB962C8B-B14F-4D97-AF65-F5344CB8AC3E}">
        <p14:creationId xmlns:p14="http://schemas.microsoft.com/office/powerpoint/2010/main" val="390719124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534B77-6976-4771-DBE3-59AB80EC9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00000000-0008-0000-1500-0000020000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48660288"/>
              </p:ext>
            </p:extLst>
          </p:nvPr>
        </p:nvGraphicFramePr>
        <p:xfrm>
          <a:off x="609600" y="457200"/>
          <a:ext cx="10972800" cy="5943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2F7FE439-02EF-0BDB-0E52-64EFF9C07DBC}"/>
              </a:ext>
            </a:extLst>
          </p:cNvPr>
          <p:cNvSpPr txBox="1"/>
          <p:nvPr/>
        </p:nvSpPr>
        <p:spPr>
          <a:xfrm>
            <a:off x="7278254" y="5902037"/>
            <a:ext cx="14478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(U.S. Census PEP)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568483F-58AE-FF42-5042-7AB3C541FF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A518C90-9991-A4C9-449A-9532AB8D1C75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</p:spTree>
    <p:extLst>
      <p:ext uri="{BB962C8B-B14F-4D97-AF65-F5344CB8AC3E}">
        <p14:creationId xmlns:p14="http://schemas.microsoft.com/office/powerpoint/2010/main" val="218994583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3525A2-B5A7-89DA-7B86-28CC45ABCC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D555460-D289-5D8E-C560-5BA66C9942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4164914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2,354,017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2,354,017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2,354,017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2,428,462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2,455,962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2,488,562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2,483,657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2,539,927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2,606,627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2,519,857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2,606,772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2,709,432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2,544,492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2,662,982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2,802,932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2,562,362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2,712,797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2,890,792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2,574,677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2,757,297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2,973,802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F8771E8C-95F0-BAA5-285A-613FA36D37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4EFEE18-63D7-FC00-24A2-A52ADB242535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6F7250-4908-4756-1C9C-6B6B3A6F1B8F}"/>
              </a:ext>
            </a:extLst>
          </p:cNvPr>
          <p:cNvSpPr txBox="1"/>
          <p:nvPr/>
        </p:nvSpPr>
        <p:spPr>
          <a:xfrm>
            <a:off x="3258395" y="669101"/>
            <a:ext cx="63258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</a:t>
            </a:r>
            <a:r>
              <a:rPr lang="en-US" sz="2400" b="1" dirty="0" err="1"/>
              <a:t>OneColumbus</a:t>
            </a:r>
            <a:r>
              <a:rPr lang="en-US" sz="2400" b="1" dirty="0"/>
              <a:t> Region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250ED1-746D-F161-7560-0662C2250FC1}"/>
              </a:ext>
            </a:extLst>
          </p:cNvPr>
          <p:cNvSpPr txBox="1"/>
          <p:nvPr/>
        </p:nvSpPr>
        <p:spPr>
          <a:xfrm>
            <a:off x="5245028" y="1204673"/>
            <a:ext cx="17019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Population</a:t>
            </a:r>
          </a:p>
        </p:txBody>
      </p:sp>
    </p:spTree>
    <p:extLst>
      <p:ext uri="{BB962C8B-B14F-4D97-AF65-F5344CB8AC3E}">
        <p14:creationId xmlns:p14="http://schemas.microsoft.com/office/powerpoint/2010/main" val="1878208724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EFCED-697A-0621-06F4-97A36D6F7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F232D06-DD6D-F56E-303F-1A4739DD11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0892721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2025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931,417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931,417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931,417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961,528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972,685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985,724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983,094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1,005,514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1,031,754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996,751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1,031,254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1,071,499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1,006,324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1,053,258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1,108,015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1,013,528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1,073,074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1,142,673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1,018,481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1,090,686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1,175,258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84F5AF46-E946-9E06-1DDE-7EAF6AA0FA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74EC1F7-AE4E-CA03-E6EC-28C889A58AFF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38024A-6196-45A2-867B-EDD8AF2132A2}"/>
              </a:ext>
            </a:extLst>
          </p:cNvPr>
          <p:cNvSpPr txBox="1"/>
          <p:nvPr/>
        </p:nvSpPr>
        <p:spPr>
          <a:xfrm>
            <a:off x="5155676" y="1204673"/>
            <a:ext cx="18806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Households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99DD6D-0F5F-E922-F08F-804417CEA012}"/>
              </a:ext>
            </a:extLst>
          </p:cNvPr>
          <p:cNvSpPr txBox="1"/>
          <p:nvPr/>
        </p:nvSpPr>
        <p:spPr>
          <a:xfrm>
            <a:off x="3258395" y="669101"/>
            <a:ext cx="63258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</a:t>
            </a:r>
            <a:r>
              <a:rPr lang="en-US" sz="2400" b="1" dirty="0" err="1"/>
              <a:t>OneColumbus</a:t>
            </a:r>
            <a:r>
              <a:rPr lang="en-US" sz="2400" b="1" dirty="0"/>
              <a:t> Region</a:t>
            </a:r>
          </a:p>
        </p:txBody>
      </p:sp>
    </p:spTree>
    <p:extLst>
      <p:ext uri="{BB962C8B-B14F-4D97-AF65-F5344CB8AC3E}">
        <p14:creationId xmlns:p14="http://schemas.microsoft.com/office/powerpoint/2010/main" val="591524445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A5206-A9C8-32D8-09E8-F24597806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A59C01F-D38D-CA67-F3D3-93CD525B14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5149372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2025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1,384,407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1,384,407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1,384,407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1,452,188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1,470,038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1,490,060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1,512,449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1,547,806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1,587,863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1,552,447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1,605,820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1,666,400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1,580,505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1,651,514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1,732,309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1,599,756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1,689,884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1,792,541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1,612,204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1,722,894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1,849,021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1FD0D293-DC1C-E583-08C7-1B174626CC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F88A525-C7EF-E15B-5993-9F352657DFB0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6BB1F4-A093-DA0F-A818-FFC1701652D5}"/>
              </a:ext>
            </a:extLst>
          </p:cNvPr>
          <p:cNvSpPr txBox="1"/>
          <p:nvPr/>
        </p:nvSpPr>
        <p:spPr>
          <a:xfrm>
            <a:off x="5689476" y="1204673"/>
            <a:ext cx="8130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Jobs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F2D21F-AFC9-FA40-00F7-16EB77438C53}"/>
              </a:ext>
            </a:extLst>
          </p:cNvPr>
          <p:cNvSpPr txBox="1"/>
          <p:nvPr/>
        </p:nvSpPr>
        <p:spPr>
          <a:xfrm>
            <a:off x="3258395" y="669101"/>
            <a:ext cx="63258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</a:t>
            </a:r>
            <a:r>
              <a:rPr lang="en-US" sz="2400" b="1" dirty="0" err="1"/>
              <a:t>OneColumbus</a:t>
            </a:r>
            <a:r>
              <a:rPr lang="en-US" sz="2400" b="1" dirty="0"/>
              <a:t> Region</a:t>
            </a:r>
          </a:p>
        </p:txBody>
      </p:sp>
    </p:spTree>
    <p:extLst>
      <p:ext uri="{BB962C8B-B14F-4D97-AF65-F5344CB8AC3E}">
        <p14:creationId xmlns:p14="http://schemas.microsoft.com/office/powerpoint/2010/main" val="2656031934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99148D-DCAB-8D4A-276A-187BA10ED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00000000-0008-0000-1600-0000020000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48264691"/>
              </p:ext>
            </p:extLst>
          </p:nvPr>
        </p:nvGraphicFramePr>
        <p:xfrm>
          <a:off x="609600" y="457200"/>
          <a:ext cx="10972800" cy="5943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6B29D986-A98C-1E52-16F3-6A8AE48C5BDF}"/>
              </a:ext>
            </a:extLst>
          </p:cNvPr>
          <p:cNvSpPr txBox="1"/>
          <p:nvPr/>
        </p:nvSpPr>
        <p:spPr>
          <a:xfrm>
            <a:off x="7278254" y="5902037"/>
            <a:ext cx="14478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(U.S. Census PEP)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D525619-CF6D-1970-8A93-0D8B09B925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B1ADF18-7062-9DED-175B-AD6A7F73CA32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</p:spTree>
    <p:extLst>
      <p:ext uri="{BB962C8B-B14F-4D97-AF65-F5344CB8AC3E}">
        <p14:creationId xmlns:p14="http://schemas.microsoft.com/office/powerpoint/2010/main" val="3263476057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36764-2972-23EB-2909-F2AF6A9DF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5520A1F-A249-7560-73FA-7A6DE9A9B0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3503015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1,603,568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1,603,568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1,603,568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1,671,538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1,686,723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1,706,138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1,729,493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1,761,063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1,801,228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1,774,208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1,823,353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1,885,583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1,808,978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1,876,178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1,961,073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1,837,563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1,922,853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2,030,658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+mn-lt"/>
                        </a:rPr>
                        <a:t>2055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1,861,343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1,964,748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2,095,623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0875877F-DDB0-F19C-4819-5EF19DD685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3984A64-B7D2-5837-3401-9CF613A90257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68C411-9FD9-F5CF-D40C-A4B2DEA0511A}"/>
              </a:ext>
            </a:extLst>
          </p:cNvPr>
          <p:cNvSpPr txBox="1"/>
          <p:nvPr/>
        </p:nvSpPr>
        <p:spPr>
          <a:xfrm>
            <a:off x="2121801" y="669100"/>
            <a:ext cx="79483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Franklin/Delaware County Region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2F82E07-2A6E-ACC1-22C3-F1B6A614654C}"/>
              </a:ext>
            </a:extLst>
          </p:cNvPr>
          <p:cNvSpPr txBox="1"/>
          <p:nvPr/>
        </p:nvSpPr>
        <p:spPr>
          <a:xfrm>
            <a:off x="5245028" y="1204673"/>
            <a:ext cx="17019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Population</a:t>
            </a:r>
          </a:p>
        </p:txBody>
      </p:sp>
    </p:spTree>
    <p:extLst>
      <p:ext uri="{BB962C8B-B14F-4D97-AF65-F5344CB8AC3E}">
        <p14:creationId xmlns:p14="http://schemas.microsoft.com/office/powerpoint/2010/main" val="116291727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9BF45A-3400-D6D8-5E98-15EACD1311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1AFE3E2-175D-0584-2BE1-B8E6A43D5D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5008346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2025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651,890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651,890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651,890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679,720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686,067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694,016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702,763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715,850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732,173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720,158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740,508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765,780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733,933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761,730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796,178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745,324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780,603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824,348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754,600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797,321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850,375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A4BDEEFE-7663-8B7D-33B0-46F22F3D32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5A74429-89E7-CF1A-667A-966397D6F0F2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CC7737-7C45-5A25-5A4E-F373AFE83F1A}"/>
              </a:ext>
            </a:extLst>
          </p:cNvPr>
          <p:cNvSpPr txBox="1"/>
          <p:nvPr/>
        </p:nvSpPr>
        <p:spPr>
          <a:xfrm>
            <a:off x="5155676" y="1204673"/>
            <a:ext cx="18806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Households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0F32BE6-683E-E96B-6674-3880551A6A33}"/>
              </a:ext>
            </a:extLst>
          </p:cNvPr>
          <p:cNvSpPr txBox="1"/>
          <p:nvPr/>
        </p:nvSpPr>
        <p:spPr>
          <a:xfrm>
            <a:off x="2121801" y="669100"/>
            <a:ext cx="79483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Franklin/Delaware County Region</a:t>
            </a:r>
          </a:p>
        </p:txBody>
      </p:sp>
    </p:spTree>
    <p:extLst>
      <p:ext uri="{BB962C8B-B14F-4D97-AF65-F5344CB8AC3E}">
        <p14:creationId xmlns:p14="http://schemas.microsoft.com/office/powerpoint/2010/main" val="3246394696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B6EC5-F705-982D-6ABA-FE04C96E8C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44EEDBB-4CDF-29C7-4188-19C8D67CE2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9159230"/>
              </p:ext>
            </p:extLst>
          </p:nvPr>
        </p:nvGraphicFramePr>
        <p:xfrm>
          <a:off x="1200727" y="1740246"/>
          <a:ext cx="9790544" cy="32359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447636">
                  <a:extLst>
                    <a:ext uri="{9D8B030D-6E8A-4147-A177-3AD203B41FA5}">
                      <a16:colId xmlns:a16="http://schemas.microsoft.com/office/drawing/2014/main" val="3274291505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279446217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4154245611"/>
                    </a:ext>
                  </a:extLst>
                </a:gridCol>
                <a:gridCol w="2447636">
                  <a:extLst>
                    <a:ext uri="{9D8B030D-6E8A-4147-A177-3AD203B41FA5}">
                      <a16:colId xmlns:a16="http://schemas.microsoft.com/office/drawing/2014/main" val="36334271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75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percentile migration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3572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2025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1,061,939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1,061,939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1,061,939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473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1,123,933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1,135,340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1,149,138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3478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2035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1,179,436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1,202,021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1,229,529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29488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1,219,414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1,253,543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1,295,176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8221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2045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1,250,653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1,296,143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1,351,680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336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2050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1,276,462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1,334,397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1,405,071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27294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2055</a:t>
                      </a:r>
                      <a:endParaRPr lang="en-US" sz="1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1,296,723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1,368,139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1,455,139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9145765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141FB6D2-909E-109E-48C4-E2CAE6F3C0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450" y="5902037"/>
            <a:ext cx="2305050" cy="7977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2E6703E-B5FF-9937-A1ED-977688AD4165}"/>
              </a:ext>
            </a:extLst>
          </p:cNvPr>
          <p:cNvSpPr txBox="1"/>
          <p:nvPr/>
        </p:nvSpPr>
        <p:spPr>
          <a:xfrm>
            <a:off x="5443537" y="6400800"/>
            <a:ext cx="1304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DRAFT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F782EE-D266-95D3-72B1-06797E71DEA6}"/>
              </a:ext>
            </a:extLst>
          </p:cNvPr>
          <p:cNvSpPr txBox="1"/>
          <p:nvPr/>
        </p:nvSpPr>
        <p:spPr>
          <a:xfrm>
            <a:off x="5689476" y="1204673"/>
            <a:ext cx="8130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Jobs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94BEFD8-037C-AB20-BF87-D6026E3728A0}"/>
              </a:ext>
            </a:extLst>
          </p:cNvPr>
          <p:cNvSpPr txBox="1"/>
          <p:nvPr/>
        </p:nvSpPr>
        <p:spPr>
          <a:xfrm>
            <a:off x="2121801" y="669100"/>
            <a:ext cx="79483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Projected Scenarios – Franklin/Delaware County Region</a:t>
            </a:r>
          </a:p>
        </p:txBody>
      </p:sp>
    </p:spTree>
    <p:extLst>
      <p:ext uri="{BB962C8B-B14F-4D97-AF65-F5344CB8AC3E}">
        <p14:creationId xmlns:p14="http://schemas.microsoft.com/office/powerpoint/2010/main" val="31228036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 2007 - 2010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 2007 - 2010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 2007 - 2010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2.xml><?xml version="1.0" encoding="utf-8"?>
<a:themeOverride xmlns:a="http://schemas.openxmlformats.org/drawingml/2006/main">
  <a:clrScheme name="Office 2007 - 2010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 2007 - 2010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 2007 - 2010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3.xml><?xml version="1.0" encoding="utf-8"?>
<a:themeOverride xmlns:a="http://schemas.openxmlformats.org/drawingml/2006/main">
  <a:clrScheme name="Office 2007 - 2010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 2007 - 2010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 2007 - 2010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4.xml><?xml version="1.0" encoding="utf-8"?>
<a:themeOverride xmlns:a="http://schemas.openxmlformats.org/drawingml/2006/main">
  <a:clrScheme name="Office 2007 - 2010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 2007 - 2010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 2007 - 2010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5.xml><?xml version="1.0" encoding="utf-8"?>
<a:themeOverride xmlns:a="http://schemas.openxmlformats.org/drawingml/2006/main">
  <a:clrScheme name="Office 2007 - 2010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 2007 - 2010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 2007 - 2010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6.xml><?xml version="1.0" encoding="utf-8"?>
<a:themeOverride xmlns:a="http://schemas.openxmlformats.org/drawingml/2006/main">
  <a:clrScheme name="Office 2007 - 2010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 2007 - 2010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 2007 - 2010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7.xml><?xml version="1.0" encoding="utf-8"?>
<a:themeOverride xmlns:a="http://schemas.openxmlformats.org/drawingml/2006/main">
  <a:clrScheme name="Office 2007 - 2010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 2007 - 2010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 2007 - 2010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8.xml><?xml version="1.0" encoding="utf-8"?>
<a:themeOverride xmlns:a="http://schemas.openxmlformats.org/drawingml/2006/main">
  <a:clrScheme name="Office 2007 - 2010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 2007 - 2010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 2007 - 2010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9.xml><?xml version="1.0" encoding="utf-8"?>
<a:themeOverride xmlns:a="http://schemas.openxmlformats.org/drawingml/2006/main">
  <a:clrScheme name="Office 2007 - 2010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 2007 - 2010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 2007 - 2010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10.xml><?xml version="1.0" encoding="utf-8"?>
<a:themeOverride xmlns:a="http://schemas.openxmlformats.org/drawingml/2006/main">
  <a:clrScheme name="Office 2007 - 2010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 2007 - 2010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 2007 - 2010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11.xml><?xml version="1.0" encoding="utf-8"?>
<a:themeOverride xmlns:a="http://schemas.openxmlformats.org/drawingml/2006/main">
  <a:clrScheme name="Office 2007 - 2010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 2007 - 2010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 2007 - 2010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12.xml><?xml version="1.0" encoding="utf-8"?>
<a:themeOverride xmlns:a="http://schemas.openxmlformats.org/drawingml/2006/main">
  <a:clrScheme name="Office 2007 - 2010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 2007 - 2010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 2007 - 2010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13.xml><?xml version="1.0" encoding="utf-8"?>
<a:themeOverride xmlns:a="http://schemas.openxmlformats.org/drawingml/2006/main">
  <a:clrScheme name="Office 2007 - 2010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 2007 - 2010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 2007 - 2010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14.xml><?xml version="1.0" encoding="utf-8"?>
<a:themeOverride xmlns:a="http://schemas.openxmlformats.org/drawingml/2006/main">
  <a:clrScheme name="Office 2007 - 2010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 2007 - 2010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 2007 - 2010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15.xml><?xml version="1.0" encoding="utf-8"?>
<a:themeOverride xmlns:a="http://schemas.openxmlformats.org/drawingml/2006/main">
  <a:clrScheme name="Office 2007 - 2010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 2007 - 2010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 2007 - 2010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16.xml><?xml version="1.0" encoding="utf-8"?>
<a:themeOverride xmlns:a="http://schemas.openxmlformats.org/drawingml/2006/main">
  <a:clrScheme name="Office 2007 - 2010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 2007 - 2010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 2007 - 2010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17.xml><?xml version="1.0" encoding="utf-8"?>
<a:themeOverride xmlns:a="http://schemas.openxmlformats.org/drawingml/2006/main">
  <a:clrScheme name="Office 2007 - 2010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 2007 - 2010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 2007 - 2010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18.xml><?xml version="1.0" encoding="utf-8"?>
<a:themeOverride xmlns:a="http://schemas.openxmlformats.org/drawingml/2006/main">
  <a:clrScheme name="Office 2007 - 2010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 2007 - 2010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 2007 - 2010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19.xml><?xml version="1.0" encoding="utf-8"?>
<a:themeOverride xmlns:a="http://schemas.openxmlformats.org/drawingml/2006/main">
  <a:clrScheme name="Office 2007 - 2010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 2007 - 2010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 2007 - 2010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20.xml><?xml version="1.0" encoding="utf-8"?>
<a:themeOverride xmlns:a="http://schemas.openxmlformats.org/drawingml/2006/main">
  <a:clrScheme name="Office 2007 - 2010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 2007 - 2010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 2007 - 2010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21.xml><?xml version="1.0" encoding="utf-8"?>
<a:themeOverride xmlns:a="http://schemas.openxmlformats.org/drawingml/2006/main">
  <a:clrScheme name="Office 2007 - 2010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 2007 - 2010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 2007 - 2010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22.xml><?xml version="1.0" encoding="utf-8"?>
<a:themeOverride xmlns:a="http://schemas.openxmlformats.org/drawingml/2006/main">
  <a:clrScheme name="Office 2007 - 2010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 2007 - 2010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 2007 - 2010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23.xml><?xml version="1.0" encoding="utf-8"?>
<a:themeOverride xmlns:a="http://schemas.openxmlformats.org/drawingml/2006/main">
  <a:clrScheme name="Office 2007 - 2010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 2007 - 2010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 2007 - 2010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lcf76f155ced4ddcb4097134ff3c332f xmlns="139bf121-f5d0-417a-9e1c-b25445c1fc7d">
      <Terms xmlns="http://schemas.microsoft.com/office/infopath/2007/PartnerControls"/>
    </lcf76f155ced4ddcb4097134ff3c332f>
    <TaxCatchAll xmlns="22afcdeb-4134-4951-b09b-a3d97d2ba793" xsi:nil="true"/>
    <_ip_UnifiedCompliancePolicyProperties xmlns="http://schemas.microsoft.com/sharepoint/v3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A9DB740079409419F628B1184AB8CF6" ma:contentTypeVersion="20" ma:contentTypeDescription="Create a new document." ma:contentTypeScope="" ma:versionID="1ba0bfcee5e4cd82751a7496c3e8aa1a">
  <xsd:schema xmlns:xsd="http://www.w3.org/2001/XMLSchema" xmlns:xs="http://www.w3.org/2001/XMLSchema" xmlns:p="http://schemas.microsoft.com/office/2006/metadata/properties" xmlns:ns1="http://schemas.microsoft.com/sharepoint/v3" xmlns:ns2="139bf121-f5d0-417a-9e1c-b25445c1fc7d" xmlns:ns3="22afcdeb-4134-4951-b09b-a3d97d2ba793" targetNamespace="http://schemas.microsoft.com/office/2006/metadata/properties" ma:root="true" ma:fieldsID="a7c1c2869825d5d0ddd2461f34c6de11" ns1:_="" ns2:_="" ns3:_="">
    <xsd:import namespace="http://schemas.microsoft.com/sharepoint/v3"/>
    <xsd:import namespace="139bf121-f5d0-417a-9e1c-b25445c1fc7d"/>
    <xsd:import namespace="22afcdeb-4134-4951-b09b-a3d97d2ba79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bjectDetectorVersions" minOccurs="0"/>
                <xsd:element ref="ns2:MediaLengthInSeconds" minOccurs="0"/>
                <xsd:element ref="ns2:MediaServiceLocation" minOccurs="0"/>
                <xsd:element ref="ns2:MediaServiceSearchProperties" minOccurs="0"/>
                <xsd:element ref="ns2:MediaServiceBillingMetadata" minOccurs="0"/>
                <xsd:element ref="ns1:_ip_UnifiedCompliancePolicyProperties" minOccurs="0"/>
                <xsd:element ref="ns1:_ip_UnifiedCompliancePolicyUIAc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6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7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39bf121-f5d0-417a-9e1c-b25445c1fc7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6efb5800-55b3-49b1-8deb-cdf767c9957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2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3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2afcdeb-4134-4951-b09b-a3d97d2ba793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35124f2d-f8a9-4124-ab35-ff047e948287}" ma:internalName="TaxCatchAll" ma:showField="CatchAllData" ma:web="22afcdeb-4134-4951-b09b-a3d97d2ba79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D9C955C-8DB5-4642-B39E-A1B09EF541F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6E10CEC-EC74-43D9-9EB5-86724E3FB47E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139bf121-f5d0-417a-9e1c-b25445c1fc7d"/>
    <ds:schemaRef ds:uri="22afcdeb-4134-4951-b09b-a3d97d2ba793"/>
  </ds:schemaRefs>
</ds:datastoreItem>
</file>

<file path=customXml/itemProps3.xml><?xml version="1.0" encoding="utf-8"?>
<ds:datastoreItem xmlns:ds="http://schemas.openxmlformats.org/officeDocument/2006/customXml" ds:itemID="{37F36BC7-EFAA-4C34-9AB8-D6BB9F18A89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139bf121-f5d0-417a-9e1c-b25445c1fc7d"/>
    <ds:schemaRef ds:uri="22afcdeb-4134-4951-b09b-a3d97d2ba79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147</TotalTime>
  <Words>3540</Words>
  <Application>Microsoft Office PowerPoint</Application>
  <PresentationFormat>Widescreen</PresentationFormat>
  <Paragraphs>2516</Paragraphs>
  <Slides>93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93</vt:i4>
      </vt:variant>
    </vt:vector>
  </HeadingPairs>
  <TitlesOfParts>
    <vt:vector size="100" baseType="lpstr">
      <vt:lpstr>Aptos</vt:lpstr>
      <vt:lpstr>Aptos Display</vt:lpstr>
      <vt:lpstr>Aptos Narrow</vt:lpstr>
      <vt:lpstr>Arial</vt:lpstr>
      <vt:lpstr>Arial Black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Adam Porr</dc:creator>
  <cp:lastModifiedBy>Adam Porr</cp:lastModifiedBy>
  <cp:revision>30</cp:revision>
  <dcterms:created xsi:type="dcterms:W3CDTF">2026-07-30T14:55:01Z</dcterms:created>
  <dcterms:modified xsi:type="dcterms:W3CDTF">2026-10-29T19:40:05Z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0x010100CA9DB740079409419F628B1184AB8CF6</vt:lpwstr>
  </property>
  <property fmtid="{D5CDD505-2E9C-101B-9397-08002B2CF9AE}" pid="3" name="MediaServiceImageTags">
    <vt:lpwstr/>
  </property>
</Properties>
</file>