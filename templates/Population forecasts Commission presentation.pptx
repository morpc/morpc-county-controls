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handoutMasterIdLst>
    <p:handoutMasterId r:id="rId12"/>
  </p:handoutMasterIdLst>
  <p:sldIdLst>
    <p:sldId id="258" r:id="rId5"/>
    <p:sldId id="307" r:id="rId6"/>
    <p:sldId id="306" r:id="rId7"/>
    <p:sldId id="309" r:id="rId8"/>
    <p:sldId id="308" r:id="rId9"/>
    <p:sldId id="27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z Whelan" initials="LW" lastIdx="5" clrIdx="0">
    <p:extLst>
      <p:ext uri="{19B8F6BF-5375-455C-9EA6-DF929625EA0E}">
        <p15:presenceInfo xmlns:p15="http://schemas.microsoft.com/office/powerpoint/2012/main" userId="S::lwhelan@morpc.org::263741af-1c06-4b56-9409-b416fddbf73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7F67"/>
    <a:srgbClr val="0075BF"/>
    <a:srgbClr val="365072"/>
    <a:srgbClr val="00B2BF"/>
    <a:srgbClr val="34617A"/>
    <a:srgbClr val="5AB6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296BCB-06E9-29F1-6ECB-A8595A60A239}" v="6" dt="2023-01-27T20:33:59.445"/>
    <p1510:client id="{AB7FBC8D-E6B8-4D4A-9BE9-14168A4F38F1}" v="11" dt="2023-01-27T21:14:02.726"/>
    <p1510:client id="{AD04F0AB-1BDA-7905-092A-3CA20711D19F}" v="2" dt="2023-01-30T15:44:59.9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3549" autoAdjust="0"/>
  </p:normalViewPr>
  <p:slideViewPr>
    <p:cSldViewPr snapToGrid="0">
      <p:cViewPr varScale="1">
        <p:scale>
          <a:sx n="95" d="100"/>
          <a:sy n="95" d="100"/>
        </p:scale>
        <p:origin x="1518" y="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5" d="100"/>
          <a:sy n="85" d="100"/>
        </p:scale>
        <p:origin x="3804"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rstin Carr" userId="S::kcarr@morpc.org::0a75b278-7a86-4941-a63f-822a1b662736" providerId="AD" clId="Web-{16296BCB-06E9-29F1-6ECB-A8595A60A239}"/>
    <pc:docChg chg="addSld delSld">
      <pc:chgData name="Kerstin Carr" userId="S::kcarr@morpc.org::0a75b278-7a86-4941-a63f-822a1b662736" providerId="AD" clId="Web-{16296BCB-06E9-29F1-6ECB-A8595A60A239}" dt="2023-01-27T20:33:59.445" v="5"/>
      <pc:docMkLst>
        <pc:docMk/>
      </pc:docMkLst>
      <pc:sldChg chg="del">
        <pc:chgData name="Kerstin Carr" userId="S::kcarr@morpc.org::0a75b278-7a86-4941-a63f-822a1b662736" providerId="AD" clId="Web-{16296BCB-06E9-29F1-6ECB-A8595A60A239}" dt="2023-01-27T20:33:40.460" v="2"/>
        <pc:sldMkLst>
          <pc:docMk/>
          <pc:sldMk cId="2178723479" sldId="301"/>
        </pc:sldMkLst>
      </pc:sldChg>
      <pc:sldChg chg="del">
        <pc:chgData name="Kerstin Carr" userId="S::kcarr@morpc.org::0a75b278-7a86-4941-a63f-822a1b662736" providerId="AD" clId="Web-{16296BCB-06E9-29F1-6ECB-A8595A60A239}" dt="2023-01-27T20:33:59.445" v="5"/>
        <pc:sldMkLst>
          <pc:docMk/>
          <pc:sldMk cId="297705023" sldId="305"/>
        </pc:sldMkLst>
      </pc:sldChg>
      <pc:sldChg chg="add">
        <pc:chgData name="Kerstin Carr" userId="S::kcarr@morpc.org::0a75b278-7a86-4941-a63f-822a1b662736" providerId="AD" clId="Web-{16296BCB-06E9-29F1-6ECB-A8595A60A239}" dt="2023-01-27T20:33:38.397" v="0"/>
        <pc:sldMkLst>
          <pc:docMk/>
          <pc:sldMk cId="2694863690" sldId="306"/>
        </pc:sldMkLst>
      </pc:sldChg>
      <pc:sldChg chg="add">
        <pc:chgData name="Kerstin Carr" userId="S::kcarr@morpc.org::0a75b278-7a86-4941-a63f-822a1b662736" providerId="AD" clId="Web-{16296BCB-06E9-29F1-6ECB-A8595A60A239}" dt="2023-01-27T20:33:38.647" v="1"/>
        <pc:sldMkLst>
          <pc:docMk/>
          <pc:sldMk cId="3822858665" sldId="307"/>
        </pc:sldMkLst>
      </pc:sldChg>
      <pc:sldChg chg="add">
        <pc:chgData name="Kerstin Carr" userId="S::kcarr@morpc.org::0a75b278-7a86-4941-a63f-822a1b662736" providerId="AD" clId="Web-{16296BCB-06E9-29F1-6ECB-A8595A60A239}" dt="2023-01-27T20:33:57.320" v="3"/>
        <pc:sldMkLst>
          <pc:docMk/>
          <pc:sldMk cId="4221590265" sldId="308"/>
        </pc:sldMkLst>
      </pc:sldChg>
      <pc:sldChg chg="add">
        <pc:chgData name="Kerstin Carr" userId="S::kcarr@morpc.org::0a75b278-7a86-4941-a63f-822a1b662736" providerId="AD" clId="Web-{16296BCB-06E9-29F1-6ECB-A8595A60A239}" dt="2023-01-27T20:33:57.460" v="4"/>
        <pc:sldMkLst>
          <pc:docMk/>
          <pc:sldMk cId="1119955049" sldId="309"/>
        </pc:sldMkLst>
      </pc:sldChg>
    </pc:docChg>
  </pc:docChgLst>
  <pc:docChgLst>
    <pc:chgData name="Kerstin Carr" userId="S::kcarr@morpc.org::0a75b278-7a86-4941-a63f-822a1b662736" providerId="AD" clId="Web-{AD04F0AB-1BDA-7905-092A-3CA20711D19F}"/>
    <pc:docChg chg="modSld">
      <pc:chgData name="Kerstin Carr" userId="S::kcarr@morpc.org::0a75b278-7a86-4941-a63f-822a1b662736" providerId="AD" clId="Web-{AD04F0AB-1BDA-7905-092A-3CA20711D19F}" dt="2023-01-30T15:45:32.167" v="25"/>
      <pc:docMkLst>
        <pc:docMk/>
      </pc:docMkLst>
      <pc:sldChg chg="modNotes">
        <pc:chgData name="Kerstin Carr" userId="S::kcarr@morpc.org::0a75b278-7a86-4941-a63f-822a1b662736" providerId="AD" clId="Web-{AD04F0AB-1BDA-7905-092A-3CA20711D19F}" dt="2023-01-30T15:45:32.167" v="25"/>
        <pc:sldMkLst>
          <pc:docMk/>
          <pc:sldMk cId="2928470294" sldId="258"/>
        </pc:sldMkLst>
      </pc:sldChg>
      <pc:sldChg chg="modNotes">
        <pc:chgData name="Kerstin Carr" userId="S::kcarr@morpc.org::0a75b278-7a86-4941-a63f-822a1b662736" providerId="AD" clId="Web-{AD04F0AB-1BDA-7905-092A-3CA20711D19F}" dt="2023-01-30T15:45:08.448" v="23"/>
        <pc:sldMkLst>
          <pc:docMk/>
          <pc:sldMk cId="2694863690" sldId="306"/>
        </pc:sldMkLst>
      </pc:sldChg>
      <pc:sldChg chg="modNotes">
        <pc:chgData name="Kerstin Carr" userId="S::kcarr@morpc.org::0a75b278-7a86-4941-a63f-822a1b662736" providerId="AD" clId="Web-{AD04F0AB-1BDA-7905-092A-3CA20711D19F}" dt="2023-01-30T15:44:58.072" v="14"/>
        <pc:sldMkLst>
          <pc:docMk/>
          <pc:sldMk cId="3822858665" sldId="307"/>
        </pc:sldMkLst>
      </pc:sldChg>
      <pc:sldChg chg="modNotes">
        <pc:chgData name="Kerstin Carr" userId="S::kcarr@morpc.org::0a75b278-7a86-4941-a63f-822a1b662736" providerId="AD" clId="Web-{AD04F0AB-1BDA-7905-092A-3CA20711D19F}" dt="2023-01-30T15:44:48.166" v="1"/>
        <pc:sldMkLst>
          <pc:docMk/>
          <pc:sldMk cId="1119955049" sldId="309"/>
        </pc:sldMkLst>
      </pc:sldChg>
    </pc:docChg>
  </pc:docChgLst>
  <pc:docChgLst>
    <pc:chgData name="Adam Porr" userId="176b239e-e1e8-4fc8-9bbc-5d53f6ce273d" providerId="ADAL" clId="{AB7FBC8D-E6B8-4D4A-9BE9-14168A4F38F1}"/>
    <pc:docChg chg="undo custSel delSld modSld sldOrd">
      <pc:chgData name="Adam Porr" userId="176b239e-e1e8-4fc8-9bbc-5d53f6ce273d" providerId="ADAL" clId="{AB7FBC8D-E6B8-4D4A-9BE9-14168A4F38F1}" dt="2023-01-27T21:14:02.726" v="1105" actId="2085"/>
      <pc:docMkLst>
        <pc:docMk/>
      </pc:docMkLst>
      <pc:sldChg chg="modSp mod">
        <pc:chgData name="Adam Porr" userId="176b239e-e1e8-4fc8-9bbc-5d53f6ce273d" providerId="ADAL" clId="{AB7FBC8D-E6B8-4D4A-9BE9-14168A4F38F1}" dt="2023-01-27T16:44:49.322" v="11" actId="20577"/>
        <pc:sldMkLst>
          <pc:docMk/>
          <pc:sldMk cId="2928470294" sldId="258"/>
        </pc:sldMkLst>
        <pc:spChg chg="mod">
          <ac:chgData name="Adam Porr" userId="176b239e-e1e8-4fc8-9bbc-5d53f6ce273d" providerId="ADAL" clId="{AB7FBC8D-E6B8-4D4A-9BE9-14168A4F38F1}" dt="2023-01-27T16:44:49.322" v="11" actId="20577"/>
          <ac:spMkLst>
            <pc:docMk/>
            <pc:sldMk cId="2928470294" sldId="258"/>
            <ac:spMk id="3" creationId="{00000000-0000-0000-0000-000000000000}"/>
          </ac:spMkLst>
        </pc:spChg>
      </pc:sldChg>
      <pc:sldChg chg="modSp mod">
        <pc:chgData name="Adam Porr" userId="176b239e-e1e8-4fc8-9bbc-5d53f6ce273d" providerId="ADAL" clId="{AB7FBC8D-E6B8-4D4A-9BE9-14168A4F38F1}" dt="2023-01-27T16:47:00.618" v="50" actId="6549"/>
        <pc:sldMkLst>
          <pc:docMk/>
          <pc:sldMk cId="3709496645" sldId="271"/>
        </pc:sldMkLst>
        <pc:spChg chg="mod">
          <ac:chgData name="Adam Porr" userId="176b239e-e1e8-4fc8-9bbc-5d53f6ce273d" providerId="ADAL" clId="{AB7FBC8D-E6B8-4D4A-9BE9-14168A4F38F1}" dt="2023-01-27T16:47:00.618" v="50" actId="6549"/>
          <ac:spMkLst>
            <pc:docMk/>
            <pc:sldMk cId="3709496645" sldId="271"/>
            <ac:spMk id="2" creationId="{00000000-0000-0000-0000-000000000000}"/>
          </ac:spMkLst>
        </pc:spChg>
      </pc:sldChg>
      <pc:sldChg chg="modSp mod">
        <pc:chgData name="Adam Porr" userId="176b239e-e1e8-4fc8-9bbc-5d53f6ce273d" providerId="ADAL" clId="{AB7FBC8D-E6B8-4D4A-9BE9-14168A4F38F1}" dt="2023-01-27T16:50:05.533" v="51"/>
        <pc:sldMkLst>
          <pc:docMk/>
          <pc:sldMk cId="2178723479" sldId="301"/>
        </pc:sldMkLst>
        <pc:spChg chg="mod">
          <ac:chgData name="Adam Porr" userId="176b239e-e1e8-4fc8-9bbc-5d53f6ce273d" providerId="ADAL" clId="{AB7FBC8D-E6B8-4D4A-9BE9-14168A4F38F1}" dt="2023-01-27T16:50:05.533" v="51"/>
          <ac:spMkLst>
            <pc:docMk/>
            <pc:sldMk cId="2178723479" sldId="301"/>
            <ac:spMk id="3" creationId="{2C47F727-15DF-5E2F-573A-716C57E489F0}"/>
          </ac:spMkLst>
        </pc:spChg>
      </pc:sldChg>
      <pc:sldChg chg="del">
        <pc:chgData name="Adam Porr" userId="176b239e-e1e8-4fc8-9bbc-5d53f6ce273d" providerId="ADAL" clId="{AB7FBC8D-E6B8-4D4A-9BE9-14168A4F38F1}" dt="2023-01-27T16:45:42.002" v="14" actId="47"/>
        <pc:sldMkLst>
          <pc:docMk/>
          <pc:sldMk cId="557455654" sldId="302"/>
        </pc:sldMkLst>
      </pc:sldChg>
      <pc:sldChg chg="del">
        <pc:chgData name="Adam Porr" userId="176b239e-e1e8-4fc8-9bbc-5d53f6ce273d" providerId="ADAL" clId="{AB7FBC8D-E6B8-4D4A-9BE9-14168A4F38F1}" dt="2023-01-27T16:45:42.002" v="14" actId="47"/>
        <pc:sldMkLst>
          <pc:docMk/>
          <pc:sldMk cId="3048020481" sldId="303"/>
        </pc:sldMkLst>
      </pc:sldChg>
      <pc:sldChg chg="modSp mod ord">
        <pc:chgData name="Adam Porr" userId="176b239e-e1e8-4fc8-9bbc-5d53f6ce273d" providerId="ADAL" clId="{AB7FBC8D-E6B8-4D4A-9BE9-14168A4F38F1}" dt="2023-01-27T17:30:18.200" v="1089" actId="20577"/>
        <pc:sldMkLst>
          <pc:docMk/>
          <pc:sldMk cId="297705023" sldId="305"/>
        </pc:sldMkLst>
        <pc:spChg chg="mod">
          <ac:chgData name="Adam Porr" userId="176b239e-e1e8-4fc8-9bbc-5d53f6ce273d" providerId="ADAL" clId="{AB7FBC8D-E6B8-4D4A-9BE9-14168A4F38F1}" dt="2023-01-27T17:30:18.200" v="1089" actId="20577"/>
          <ac:spMkLst>
            <pc:docMk/>
            <pc:sldMk cId="297705023" sldId="305"/>
            <ac:spMk id="2" creationId="{CE56ABF1-7369-8BAB-1C64-23641D9A42FB}"/>
          </ac:spMkLst>
        </pc:spChg>
      </pc:sldChg>
      <pc:sldChg chg="del">
        <pc:chgData name="Adam Porr" userId="176b239e-e1e8-4fc8-9bbc-5d53f6ce273d" providerId="ADAL" clId="{AB7FBC8D-E6B8-4D4A-9BE9-14168A4F38F1}" dt="2023-01-27T16:45:42.002" v="14" actId="47"/>
        <pc:sldMkLst>
          <pc:docMk/>
          <pc:sldMk cId="1297760698" sldId="306"/>
        </pc:sldMkLst>
      </pc:sldChg>
      <pc:sldChg chg="addSp delSp modSp mod">
        <pc:chgData name="Adam Porr" userId="176b239e-e1e8-4fc8-9bbc-5d53f6ce273d" providerId="ADAL" clId="{AB7FBC8D-E6B8-4D4A-9BE9-14168A4F38F1}" dt="2023-01-27T21:14:02.726" v="1105" actId="2085"/>
        <pc:sldMkLst>
          <pc:docMk/>
          <pc:sldMk cId="2694863690" sldId="306"/>
        </pc:sldMkLst>
        <pc:spChg chg="del">
          <ac:chgData name="Adam Porr" userId="176b239e-e1e8-4fc8-9bbc-5d53f6ce273d" providerId="ADAL" clId="{AB7FBC8D-E6B8-4D4A-9BE9-14168A4F38F1}" dt="2023-01-27T21:13:08.848" v="1091" actId="478"/>
          <ac:spMkLst>
            <pc:docMk/>
            <pc:sldMk cId="2694863690" sldId="306"/>
            <ac:spMk id="2" creationId="{1BD9619E-C22D-3F2A-F117-B397F73692F2}"/>
          </ac:spMkLst>
        </pc:spChg>
        <pc:graphicFrameChg chg="add mod">
          <ac:chgData name="Adam Porr" userId="176b239e-e1e8-4fc8-9bbc-5d53f6ce273d" providerId="ADAL" clId="{AB7FBC8D-E6B8-4D4A-9BE9-14168A4F38F1}" dt="2023-01-27T21:14:02.726" v="1105" actId="2085"/>
          <ac:graphicFrameMkLst>
            <pc:docMk/>
            <pc:sldMk cId="2694863690" sldId="306"/>
            <ac:graphicFrameMk id="4" creationId="{7CC8C5DC-3743-9F4E-868B-4EC9E6C63D5E}"/>
          </ac:graphicFrameMkLst>
        </pc:graphicFrameChg>
        <pc:picChg chg="del">
          <ac:chgData name="Adam Porr" userId="176b239e-e1e8-4fc8-9bbc-5d53f6ce273d" providerId="ADAL" clId="{AB7FBC8D-E6B8-4D4A-9BE9-14168A4F38F1}" dt="2023-01-27T21:13:06.264" v="1090" actId="478"/>
          <ac:picMkLst>
            <pc:docMk/>
            <pc:sldMk cId="2694863690" sldId="306"/>
            <ac:picMk id="1026" creationId="{A4ED2A92-7688-51A2-772D-7F3CA7264002}"/>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aporr\Desktop\CountyControls_WEB%202023-01-24%20draf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oleObject" Target="https://morpc1-my.sharepoint.com/personal/aporr_morpc_org/Documents/2024-2050%20population%20forecast%20summary%20two-pager/County%20controls%20two-pager%20figure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r>
              <a:rPr lang="en-US"/>
              <a:t>15-County Region Population</a:t>
            </a:r>
          </a:p>
        </c:rich>
      </c:tx>
      <c:overlay val="0"/>
      <c:spPr>
        <a:noFill/>
        <a:ln>
          <a:noFill/>
        </a:ln>
        <a:effectLst/>
      </c:spPr>
      <c:txPr>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2"/>
          <c:order val="0"/>
          <c:tx>
            <c:strRef>
              <c:f>'Population Chart Data'!$B$4</c:f>
              <c:strCache>
                <c:ptCount val="1"/>
                <c:pt idx="0">
                  <c:v>Confidence limit</c:v>
                </c:pt>
              </c:strCache>
            </c:strRef>
          </c:tx>
          <c:spPr>
            <a:ln w="19050" cap="rnd">
              <a:solidFill>
                <a:srgbClr val="A6A6A6"/>
              </a:solidFill>
              <a:round/>
            </a:ln>
            <a:effectLst/>
          </c:spPr>
          <c:marker>
            <c:symbol val="circle"/>
            <c:size val="5"/>
            <c:spPr>
              <a:solidFill>
                <a:srgbClr val="A6A6A6"/>
              </a:solidFill>
              <a:ln w="9525">
                <a:solidFill>
                  <a:srgbClr val="A6A6A6"/>
                </a:solidFill>
              </a:ln>
              <a:effectLst/>
            </c:spPr>
          </c:marker>
          <c:xVal>
            <c:numRef>
              <c:f>'Population Chart Data'!$H$1:$N$1</c:f>
              <c:numCache>
                <c:formatCode>General</c:formatCode>
                <c:ptCount val="7"/>
                <c:pt idx="0">
                  <c:v>2021</c:v>
                </c:pt>
                <c:pt idx="1">
                  <c:v>2025</c:v>
                </c:pt>
                <c:pt idx="2">
                  <c:v>2030</c:v>
                </c:pt>
                <c:pt idx="3">
                  <c:v>2035</c:v>
                </c:pt>
                <c:pt idx="4">
                  <c:v>2040</c:v>
                </c:pt>
                <c:pt idx="5">
                  <c:v>2045</c:v>
                </c:pt>
                <c:pt idx="6">
                  <c:v>2050</c:v>
                </c:pt>
              </c:numCache>
            </c:numRef>
          </c:xVal>
          <c:yVal>
            <c:numRef>
              <c:f>'Population Chart Data'!$H$64:$N$64</c:f>
              <c:numCache>
                <c:formatCode>#,##0</c:formatCode>
                <c:ptCount val="7"/>
                <c:pt idx="0" formatCode="General">
                  <c:v>2431037</c:v>
                </c:pt>
                <c:pt idx="1">
                  <c:v>2597188</c:v>
                </c:pt>
                <c:pt idx="2">
                  <c:v>2816613</c:v>
                </c:pt>
                <c:pt idx="3">
                  <c:v>3068141</c:v>
                </c:pt>
                <c:pt idx="4">
                  <c:v>3345949</c:v>
                </c:pt>
                <c:pt idx="5">
                  <c:v>3646586</c:v>
                </c:pt>
                <c:pt idx="6">
                  <c:v>3967683</c:v>
                </c:pt>
              </c:numCache>
            </c:numRef>
          </c:yVal>
          <c:smooth val="0"/>
          <c:extLst>
            <c:ext xmlns:c16="http://schemas.microsoft.com/office/drawing/2014/chart" uri="{C3380CC4-5D6E-409C-BE32-E72D297353CC}">
              <c16:uniqueId val="{00000000-B0E0-4E7B-9B6A-DDC64D27BD57}"/>
            </c:ext>
          </c:extLst>
        </c:ser>
        <c:ser>
          <c:idx val="3"/>
          <c:order val="1"/>
          <c:tx>
            <c:strRef>
              <c:f>'Population Chart Data'!$B$5</c:f>
              <c:strCache>
                <c:ptCount val="1"/>
                <c:pt idx="0">
                  <c:v>Confidence limit</c:v>
                </c:pt>
              </c:strCache>
            </c:strRef>
          </c:tx>
          <c:spPr>
            <a:ln w="19050" cap="rnd">
              <a:solidFill>
                <a:srgbClr val="A6A6A6"/>
              </a:solidFill>
              <a:round/>
            </a:ln>
            <a:effectLst/>
          </c:spPr>
          <c:marker>
            <c:symbol val="circle"/>
            <c:size val="5"/>
            <c:spPr>
              <a:solidFill>
                <a:srgbClr val="A6A6A6"/>
              </a:solidFill>
              <a:ln w="9525">
                <a:solidFill>
                  <a:srgbClr val="A6A6A6"/>
                </a:solidFill>
              </a:ln>
              <a:effectLst/>
            </c:spPr>
          </c:marker>
          <c:xVal>
            <c:numRef>
              <c:f>'Population Chart Data'!$H$1:$N$1</c:f>
              <c:numCache>
                <c:formatCode>General</c:formatCode>
                <c:ptCount val="7"/>
                <c:pt idx="0">
                  <c:v>2021</c:v>
                </c:pt>
                <c:pt idx="1">
                  <c:v>2025</c:v>
                </c:pt>
                <c:pt idx="2">
                  <c:v>2030</c:v>
                </c:pt>
                <c:pt idx="3">
                  <c:v>2035</c:v>
                </c:pt>
                <c:pt idx="4">
                  <c:v>2040</c:v>
                </c:pt>
                <c:pt idx="5">
                  <c:v>2045</c:v>
                </c:pt>
                <c:pt idx="6">
                  <c:v>2050</c:v>
                </c:pt>
              </c:numCache>
            </c:numRef>
          </c:xVal>
          <c:yVal>
            <c:numRef>
              <c:f>'Population Chart Data'!$H$65:$N$65</c:f>
              <c:numCache>
                <c:formatCode>#,##0</c:formatCode>
                <c:ptCount val="7"/>
                <c:pt idx="0" formatCode="General">
                  <c:v>2431037</c:v>
                </c:pt>
                <c:pt idx="1">
                  <c:v>2445231</c:v>
                </c:pt>
                <c:pt idx="2">
                  <c:v>2428110</c:v>
                </c:pt>
                <c:pt idx="3">
                  <c:v>2378893</c:v>
                </c:pt>
                <c:pt idx="4">
                  <c:v>2303397</c:v>
                </c:pt>
                <c:pt idx="5">
                  <c:v>2205068</c:v>
                </c:pt>
                <c:pt idx="6">
                  <c:v>2086279</c:v>
                </c:pt>
              </c:numCache>
            </c:numRef>
          </c:yVal>
          <c:smooth val="0"/>
          <c:extLst>
            <c:ext xmlns:c16="http://schemas.microsoft.com/office/drawing/2014/chart" uri="{C3380CC4-5D6E-409C-BE32-E72D297353CC}">
              <c16:uniqueId val="{00000001-B0E0-4E7B-9B6A-DDC64D27BD57}"/>
            </c:ext>
          </c:extLst>
        </c:ser>
        <c:ser>
          <c:idx val="1"/>
          <c:order val="2"/>
          <c:tx>
            <c:strRef>
              <c:f>'Population Chart Data'!$B$3</c:f>
              <c:strCache>
                <c:ptCount val="1"/>
                <c:pt idx="0">
                  <c:v>Forecasted population</c:v>
                </c:pt>
              </c:strCache>
            </c:strRef>
          </c:tx>
          <c:spPr>
            <a:ln w="25400" cap="rnd">
              <a:solidFill>
                <a:srgbClr val="2A7F67"/>
              </a:solidFill>
              <a:round/>
            </a:ln>
            <a:effectLst/>
          </c:spPr>
          <c:marker>
            <c:symbol val="circle"/>
            <c:size val="5"/>
            <c:spPr>
              <a:solidFill>
                <a:srgbClr val="2A7F67"/>
              </a:solidFill>
              <a:ln w="9525">
                <a:solidFill>
                  <a:srgbClr val="2A7F67"/>
                </a:solidFill>
              </a:ln>
              <a:effectLst/>
            </c:spPr>
          </c:marker>
          <c:dLbls>
            <c:dLbl>
              <c:idx val="6"/>
              <c:layout>
                <c:manualLayout>
                  <c:x val="-7.096069868995647E-2"/>
                  <c:y val="7.52785305630834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0E0-4E7B-9B6A-DDC64D27BD57}"/>
                </c:ext>
              </c:extLst>
            </c:dLbl>
            <c:numFmt formatCode="#,##0" sourceLinked="0"/>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'Population Chart Data'!$H$1:$N$1</c:f>
              <c:numCache>
                <c:formatCode>General</c:formatCode>
                <c:ptCount val="7"/>
                <c:pt idx="0">
                  <c:v>2021</c:v>
                </c:pt>
                <c:pt idx="1">
                  <c:v>2025</c:v>
                </c:pt>
                <c:pt idx="2">
                  <c:v>2030</c:v>
                </c:pt>
                <c:pt idx="3">
                  <c:v>2035</c:v>
                </c:pt>
                <c:pt idx="4">
                  <c:v>2040</c:v>
                </c:pt>
                <c:pt idx="5">
                  <c:v>2045</c:v>
                </c:pt>
                <c:pt idx="6">
                  <c:v>2050</c:v>
                </c:pt>
              </c:numCache>
            </c:numRef>
          </c:xVal>
          <c:yVal>
            <c:numRef>
              <c:f>'Population Chart Data'!$H$63:$N$63</c:f>
              <c:numCache>
                <c:formatCode>General</c:formatCode>
                <c:ptCount val="7"/>
                <c:pt idx="0">
                  <c:v>2431037</c:v>
                </c:pt>
                <c:pt idx="1">
                  <c:v>2555315</c:v>
                </c:pt>
                <c:pt idx="2">
                  <c:v>2676926</c:v>
                </c:pt>
                <c:pt idx="3">
                  <c:v>2827180</c:v>
                </c:pt>
                <c:pt idx="4">
                  <c:v>2944699</c:v>
                </c:pt>
                <c:pt idx="5">
                  <c:v>3045854</c:v>
                </c:pt>
                <c:pt idx="6">
                  <c:v>3147011</c:v>
                </c:pt>
              </c:numCache>
            </c:numRef>
          </c:yVal>
          <c:smooth val="0"/>
          <c:extLst>
            <c:ext xmlns:c16="http://schemas.microsoft.com/office/drawing/2014/chart" uri="{C3380CC4-5D6E-409C-BE32-E72D297353CC}">
              <c16:uniqueId val="{00000003-B0E0-4E7B-9B6A-DDC64D27BD57}"/>
            </c:ext>
          </c:extLst>
        </c:ser>
        <c:ser>
          <c:idx val="0"/>
          <c:order val="3"/>
          <c:tx>
            <c:strRef>
              <c:f>'Population Chart Data'!$B$2</c:f>
              <c:strCache>
                <c:ptCount val="1"/>
                <c:pt idx="0">
                  <c:v>Historic population</c:v>
                </c:pt>
              </c:strCache>
            </c:strRef>
          </c:tx>
          <c:spPr>
            <a:ln w="25400" cap="rnd">
              <a:solidFill>
                <a:srgbClr val="0075BF"/>
              </a:solidFill>
              <a:round/>
            </a:ln>
            <a:effectLst/>
          </c:spPr>
          <c:marker>
            <c:symbol val="circle"/>
            <c:size val="5"/>
            <c:spPr>
              <a:solidFill>
                <a:srgbClr val="0075BF"/>
              </a:solidFill>
              <a:ln w="9525">
                <a:solidFill>
                  <a:srgbClr val="0075BF"/>
                </a:solidFill>
              </a:ln>
              <a:effectLst/>
            </c:spPr>
          </c:marker>
          <c:dLbls>
            <c:dLbl>
              <c:idx val="0"/>
              <c:layout>
                <c:manualLayout>
                  <c:x val="2.0014556040756915E-2"/>
                  <c:y val="-7.52785305630834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B0E0-4E7B-9B6A-DDC64D27BD57}"/>
                </c:ext>
              </c:extLst>
            </c:dLbl>
            <c:dLbl>
              <c:idx val="5"/>
              <c:layout>
                <c:manualLayout>
                  <c:x val="-0.14374090247452687"/>
                  <c:y val="-6.624510689551345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0E0-4E7B-9B6A-DDC64D27BD57}"/>
                </c:ext>
              </c:extLst>
            </c:dLbl>
            <c:numFmt formatCode="#,##0" sourceLinked="0"/>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'Population Chart Data'!$C$1:$H$1</c:f>
              <c:numCache>
                <c:formatCode>General</c:formatCode>
                <c:ptCount val="6"/>
                <c:pt idx="0">
                  <c:v>1980</c:v>
                </c:pt>
                <c:pt idx="1">
                  <c:v>1990</c:v>
                </c:pt>
                <c:pt idx="2">
                  <c:v>2000</c:v>
                </c:pt>
                <c:pt idx="3">
                  <c:v>2010</c:v>
                </c:pt>
                <c:pt idx="4">
                  <c:v>2020</c:v>
                </c:pt>
                <c:pt idx="5">
                  <c:v>2021</c:v>
                </c:pt>
              </c:numCache>
            </c:numRef>
          </c:xVal>
          <c:yVal>
            <c:numRef>
              <c:f>'Population Chart Data'!$C$62:$H$62</c:f>
              <c:numCache>
                <c:formatCode>General</c:formatCode>
                <c:ptCount val="6"/>
                <c:pt idx="0">
                  <c:v>1571547</c:v>
                </c:pt>
                <c:pt idx="1">
                  <c:v>1719508</c:v>
                </c:pt>
                <c:pt idx="2">
                  <c:v>1950805</c:v>
                </c:pt>
                <c:pt idx="3">
                  <c:v>2186769</c:v>
                </c:pt>
                <c:pt idx="4">
                  <c:v>2421159</c:v>
                </c:pt>
                <c:pt idx="5">
                  <c:v>2431037</c:v>
                </c:pt>
              </c:numCache>
            </c:numRef>
          </c:yVal>
          <c:smooth val="0"/>
          <c:extLst>
            <c:ext xmlns:c16="http://schemas.microsoft.com/office/drawing/2014/chart" uri="{C3380CC4-5D6E-409C-BE32-E72D297353CC}">
              <c16:uniqueId val="{00000006-B0E0-4E7B-9B6A-DDC64D27BD57}"/>
            </c:ext>
          </c:extLst>
        </c:ser>
        <c:dLbls>
          <c:showLegendKey val="0"/>
          <c:showVal val="0"/>
          <c:showCatName val="0"/>
          <c:showSerName val="0"/>
          <c:showPercent val="0"/>
          <c:showBubbleSize val="0"/>
        </c:dLbls>
        <c:axId val="1903336224"/>
        <c:axId val="1903339136"/>
      </c:scatterChart>
      <c:valAx>
        <c:axId val="1903336224"/>
        <c:scaling>
          <c:orientation val="minMax"/>
          <c:max val="2050"/>
          <c:min val="1980"/>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903339136"/>
        <c:crosses val="autoZero"/>
        <c:crossBetween val="midCat"/>
      </c:valAx>
      <c:valAx>
        <c:axId val="1903339136"/>
        <c:scaling>
          <c:orientation val="minMax"/>
        </c:scaling>
        <c:delete val="0"/>
        <c:axPos val="l"/>
        <c:majorGridlines>
          <c:spPr>
            <a:ln w="9525" cap="flat" cmpd="sng" algn="ctr">
              <a:solidFill>
                <a:schemeClr val="tx1">
                  <a:lumMod val="15000"/>
                  <a:lumOff val="85000"/>
                </a:schemeClr>
              </a:solidFill>
              <a:round/>
            </a:ln>
            <a:effectLst/>
          </c:spPr>
        </c:majorGridlines>
        <c:numFmt formatCode="#,##0,\K"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903336224"/>
        <c:crosses val="autoZero"/>
        <c:crossBetween val="midCat"/>
      </c:valAx>
      <c:spPr>
        <a:noFill/>
        <a:ln>
          <a:noFill/>
        </a:ln>
        <a:effectLst/>
      </c:spPr>
    </c:plotArea>
    <c:legend>
      <c:legendPos val="b"/>
      <c:legendEntry>
        <c:idx val="1"/>
        <c:delete val="1"/>
      </c:legendEntry>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6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stacked"/>
        <c:varyColors val="0"/>
        <c:ser>
          <c:idx val="0"/>
          <c:order val="0"/>
          <c:tx>
            <c:strRef>
              <c:f>'Other chart data'!$A$2</c:f>
              <c:strCache>
                <c:ptCount val="1"/>
                <c:pt idx="0">
                  <c:v>2020 Total</c:v>
                </c:pt>
              </c:strCache>
            </c:strRef>
          </c:tx>
          <c:spPr>
            <a:solidFill>
              <a:srgbClr val="2E5072"/>
            </a:solidFill>
            <a:ln>
              <a:noFill/>
            </a:ln>
            <a:effectLst/>
          </c:spPr>
          <c:invertIfNegative val="0"/>
          <c:dLbls>
            <c:dLbl>
              <c:idx val="0"/>
              <c:tx>
                <c:rich>
                  <a:bodyPr/>
                  <a:lstStyle/>
                  <a:p>
                    <a:fld id="{024E5EAE-D620-4BD8-8D7D-97652BF900C8}" type="CELLRANGE">
                      <a:rPr lang="en-US"/>
                      <a:pPr/>
                      <a:t>[CELLRANGE]</a:t>
                    </a:fld>
                    <a:endParaRPr lang="en-US"/>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0AC5-4CDA-A5B3-258853C43365}"/>
                </c:ext>
              </c:extLst>
            </c:dLbl>
            <c:dLbl>
              <c:idx val="1"/>
              <c:tx>
                <c:rich>
                  <a:bodyPr/>
                  <a:lstStyle/>
                  <a:p>
                    <a:fld id="{57288F46-47D9-45E8-B65D-4651DB35CB7A}" type="CELLRANGE">
                      <a:rPr lang="en-US"/>
                      <a:pPr/>
                      <a:t>[CELLRANGE]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1-0AC5-4CDA-A5B3-258853C43365}"/>
                </c:ext>
              </c:extLst>
            </c:dLbl>
            <c:dLbl>
              <c:idx val="2"/>
              <c:tx>
                <c:rich>
                  <a:bodyPr/>
                  <a:lstStyle/>
                  <a:p>
                    <a:fld id="{87ACFA30-3359-498C-9615-AB164C491912}" type="CELLRANGE">
                      <a:rPr lang="en-US"/>
                      <a:pPr/>
                      <a:t>[CELLRANGE]</a:t>
                    </a:fld>
                    <a:endParaRPr lang="en-US"/>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2-0AC5-4CDA-A5B3-258853C43365}"/>
                </c:ext>
              </c:extLst>
            </c:dLbl>
            <c:spPr>
              <a:noFill/>
              <a:ln>
                <a:noFill/>
              </a:ln>
              <a:effectLst/>
            </c:spPr>
            <c:txPr>
              <a:bodyPr rot="0" spcFirstLastPara="1" vertOverflow="ellipsis" vert="horz" wrap="none" lIns="38100" tIns="19050" rIns="38100" bIns="19050" anchor="ctr" anchorCtr="1">
                <a:spAutoFit/>
              </a:bodyPr>
              <a:lstStyle/>
              <a:p>
                <a:pPr>
                  <a:defRPr sz="1600" b="0" i="0" u="none" strike="noStrike" kern="1200" baseline="0">
                    <a:solidFill>
                      <a:schemeClr val="bg1"/>
                    </a:solidFill>
                    <a:latin typeface="+mn-lt"/>
                    <a:ea typeface="+mn-ea"/>
                    <a:cs typeface="+mn-cs"/>
                  </a:defRPr>
                </a:pPr>
                <a:endParaRPr lang="en-US"/>
              </a:p>
            </c:txPr>
            <c:showLegendKey val="0"/>
            <c:showVal val="0"/>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DataLabelsRange val="1"/>
                <c15:showLeaderLines val="0"/>
              </c:ext>
            </c:extLst>
          </c:dLbls>
          <c:cat>
            <c:strRef>
              <c:f>'Other chart data'!$B$1:$D$1</c:f>
              <c:strCache>
                <c:ptCount val="3"/>
                <c:pt idx="0">
                  <c:v>Population</c:v>
                </c:pt>
                <c:pt idx="1">
                  <c:v>Households</c:v>
                </c:pt>
                <c:pt idx="2">
                  <c:v>Labor force</c:v>
                </c:pt>
              </c:strCache>
            </c:strRef>
          </c:cat>
          <c:val>
            <c:numRef>
              <c:f>'Other chart data'!$E$2:$G$2</c:f>
              <c:numCache>
                <c:formatCode>_(* #,##0_);_(* \(#,##0\);_(* "-"??_);_(@_)</c:formatCode>
                <c:ptCount val="3"/>
                <c:pt idx="0">
                  <c:v>2421000</c:v>
                </c:pt>
                <c:pt idx="1">
                  <c:v>928000</c:v>
                </c:pt>
                <c:pt idx="2">
                  <c:v>1263000</c:v>
                </c:pt>
              </c:numCache>
            </c:numRef>
          </c:val>
          <c:extLst>
            <c:ext xmlns:c15="http://schemas.microsoft.com/office/drawing/2012/chart" uri="{02D57815-91ED-43cb-92C2-25804820EDAC}">
              <c15:datalabelsRange>
                <c15:f>'Other chart data'!$H$2:$J$2</c15:f>
                <c15:dlblRangeCache>
                  <c:ptCount val="3"/>
                  <c:pt idx="0">
                    <c:v>  2,421,000 in 2020 </c:v>
                  </c:pt>
                  <c:pt idx="1">
                    <c:v> 928,000 in 2020</c:v>
                  </c:pt>
                  <c:pt idx="2">
                    <c:v> 1,263,000 in 2020</c:v>
                  </c:pt>
                </c15:dlblRangeCache>
              </c15:datalabelsRange>
            </c:ext>
            <c:ext xmlns:c16="http://schemas.microsoft.com/office/drawing/2014/chart" uri="{C3380CC4-5D6E-409C-BE32-E72D297353CC}">
              <c16:uniqueId val="{00000003-0AC5-4CDA-A5B3-258853C43365}"/>
            </c:ext>
          </c:extLst>
        </c:ser>
        <c:ser>
          <c:idx val="1"/>
          <c:order val="1"/>
          <c:tx>
            <c:strRef>
              <c:f>'Other chart data'!$A$4</c:f>
              <c:strCache>
                <c:ptCount val="1"/>
                <c:pt idx="0">
                  <c:v>Change 2020-2050</c:v>
                </c:pt>
              </c:strCache>
            </c:strRef>
          </c:tx>
          <c:spPr>
            <a:solidFill>
              <a:srgbClr val="00B2BF"/>
            </a:solidFill>
            <a:ln>
              <a:noFill/>
            </a:ln>
            <a:effectLst/>
          </c:spPr>
          <c:invertIfNegative val="0"/>
          <c:dLbls>
            <c:dLbl>
              <c:idx val="0"/>
              <c:tx>
                <c:rich>
                  <a:bodyPr/>
                  <a:lstStyle/>
                  <a:p>
                    <a:fld id="{6CEE815F-AFEC-46AB-A772-1D83A389EBE6}" type="CELLRANGE">
                      <a:rPr lang="en-US"/>
                      <a:pPr/>
                      <a:t>[CELLRANGE]</a:t>
                    </a:fld>
                    <a:endParaRPr 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4-0AC5-4CDA-A5B3-258853C43365}"/>
                </c:ext>
              </c:extLst>
            </c:dLbl>
            <c:dLbl>
              <c:idx val="1"/>
              <c:tx>
                <c:rich>
                  <a:bodyPr/>
                  <a:lstStyle/>
                  <a:p>
                    <a:fld id="{01F1C579-900D-4758-AFCD-1BD2C982B082}" type="CELLRANGE">
                      <a:rPr lang="en-US"/>
                      <a:pPr/>
                      <a:t>[CELLRANGE]</a:t>
                    </a:fld>
                    <a:endParaRPr 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5-0AC5-4CDA-A5B3-258853C43365}"/>
                </c:ext>
              </c:extLst>
            </c:dLbl>
            <c:dLbl>
              <c:idx val="2"/>
              <c:tx>
                <c:rich>
                  <a:bodyPr/>
                  <a:lstStyle/>
                  <a:p>
                    <a:fld id="{6FC246B5-AFC6-420A-AE9D-5E8D0929B5A7}" type="CELLRANGE">
                      <a:rPr lang="en-US"/>
                      <a:pPr/>
                      <a:t>[CELLRANGE]</a:t>
                    </a:fld>
                    <a:endParaRPr 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6-0AC5-4CDA-A5B3-258853C43365}"/>
                </c:ext>
              </c:extLst>
            </c:dLbl>
            <c:spPr>
              <a:noFill/>
              <a:ln>
                <a:noFill/>
              </a:ln>
              <a:effectLst/>
            </c:spPr>
            <c:txPr>
              <a:bodyPr rot="0" spcFirstLastPara="1" vertOverflow="ellipsis" vert="horz" wrap="non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DataLabelsRange val="1"/>
                <c15:showLeaderLines val="0"/>
              </c:ext>
            </c:extLst>
          </c:dLbls>
          <c:cat>
            <c:strRef>
              <c:f>'Other chart data'!$B$1:$D$1</c:f>
              <c:strCache>
                <c:ptCount val="3"/>
                <c:pt idx="0">
                  <c:v>Population</c:v>
                </c:pt>
                <c:pt idx="1">
                  <c:v>Households</c:v>
                </c:pt>
                <c:pt idx="2">
                  <c:v>Labor force</c:v>
                </c:pt>
              </c:strCache>
            </c:strRef>
          </c:cat>
          <c:val>
            <c:numRef>
              <c:f>'Other chart data'!$E$4:$G$4</c:f>
              <c:numCache>
                <c:formatCode>_(* #,##0_);_(* \(#,##0\);_(* "-"??_);_(@_)</c:formatCode>
                <c:ptCount val="3"/>
                <c:pt idx="0">
                  <c:v>726000</c:v>
                </c:pt>
                <c:pt idx="1">
                  <c:v>272000</c:v>
                </c:pt>
                <c:pt idx="2">
                  <c:v>357000</c:v>
                </c:pt>
              </c:numCache>
            </c:numRef>
          </c:val>
          <c:extLst>
            <c:ext xmlns:c15="http://schemas.microsoft.com/office/drawing/2012/chart" uri="{02D57815-91ED-43cb-92C2-25804820EDAC}">
              <c15:datalabelsRange>
                <c15:f>'Other chart data'!$H$4:$J$4</c15:f>
                <c15:dlblRangeCache>
                  <c:ptCount val="3"/>
                  <c:pt idx="0">
                    <c:v> + 726,000 (30%) by 2050 </c:v>
                  </c:pt>
                  <c:pt idx="1">
                    <c:v> + 272,000 (29%) by 2050 </c:v>
                  </c:pt>
                  <c:pt idx="2">
                    <c:v> + 357,000 (28%) by 2050 </c:v>
                  </c:pt>
                </c15:dlblRangeCache>
              </c15:datalabelsRange>
            </c:ext>
            <c:ext xmlns:c16="http://schemas.microsoft.com/office/drawing/2014/chart" uri="{C3380CC4-5D6E-409C-BE32-E72D297353CC}">
              <c16:uniqueId val="{00000007-0AC5-4CDA-A5B3-258853C43365}"/>
            </c:ext>
          </c:extLst>
        </c:ser>
        <c:dLbls>
          <c:showLegendKey val="0"/>
          <c:showVal val="0"/>
          <c:showCatName val="0"/>
          <c:showSerName val="0"/>
          <c:showPercent val="0"/>
          <c:showBubbleSize val="0"/>
        </c:dLbls>
        <c:gapWidth val="13"/>
        <c:overlap val="100"/>
        <c:axId val="361345935"/>
        <c:axId val="361344687"/>
      </c:barChart>
      <c:catAx>
        <c:axId val="361345935"/>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361344687"/>
        <c:crosses val="autoZero"/>
        <c:auto val="1"/>
        <c:lblAlgn val="ctr"/>
        <c:lblOffset val="100"/>
        <c:noMultiLvlLbl val="0"/>
      </c:catAx>
      <c:valAx>
        <c:axId val="361344687"/>
        <c:scaling>
          <c:orientation val="minMax"/>
          <c:max val="3200000"/>
        </c:scaling>
        <c:delete val="1"/>
        <c:axPos val="l"/>
        <c:numFmt formatCode="_(* #,##0_);_(* \(#,##0\);_(* &quot;-&quot;??_);_(@_)" sourceLinked="1"/>
        <c:majorTickMark val="out"/>
        <c:minorTickMark val="none"/>
        <c:tickLblPos val="nextTo"/>
        <c:crossAx val="36134593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4DEF058-5C89-45FD-8DD6-D88B38BDAF6F}" type="datetimeFigureOut">
              <a:rPr lang="en-US" smtClean="0"/>
              <a:t>1/30/2023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A33FBB3-CAB3-428D-A3E1-91113D13E9D7}" type="slidenum">
              <a:rPr lang="en-US" smtClean="0"/>
              <a:t>‹#›</a:t>
            </a:fld>
            <a:endParaRPr lang="en-US"/>
          </a:p>
        </p:txBody>
      </p:sp>
    </p:spTree>
    <p:extLst>
      <p:ext uri="{BB962C8B-B14F-4D97-AF65-F5344CB8AC3E}">
        <p14:creationId xmlns:p14="http://schemas.microsoft.com/office/powerpoint/2010/main" val="21702273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BA7550-391D-4B07-A39F-01BDF8FD1EEB}" type="datetimeFigureOut">
              <a:rPr lang="en-US" smtClean="0"/>
              <a:t>1/30/2023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4067E1-A49F-46DB-B4A5-10A088313D44}" type="slidenum">
              <a:rPr lang="en-US" smtClean="0"/>
              <a:t>‹#›</a:t>
            </a:fld>
            <a:endParaRPr lang="en-US"/>
          </a:p>
        </p:txBody>
      </p:sp>
    </p:spTree>
    <p:extLst>
      <p:ext uri="{BB962C8B-B14F-4D97-AF65-F5344CB8AC3E}">
        <p14:creationId xmlns:p14="http://schemas.microsoft.com/office/powerpoint/2010/main" val="2727646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 you might have seen, we just released our updated forecasts out to 2050 and I wanted to take this opportunity to walk you through it in more detail.</a:t>
            </a:r>
          </a:p>
          <a:p>
            <a:endParaRPr lang="en-US" dirty="0">
              <a:cs typeface="Calibri"/>
            </a:endParaRPr>
          </a:p>
        </p:txBody>
      </p:sp>
      <p:sp>
        <p:nvSpPr>
          <p:cNvPr id="4" name="Slide Number Placeholder 3"/>
          <p:cNvSpPr>
            <a:spLocks noGrp="1"/>
          </p:cNvSpPr>
          <p:nvPr>
            <p:ph type="sldNum" sz="quarter" idx="5"/>
          </p:nvPr>
        </p:nvSpPr>
        <p:spPr/>
        <p:txBody>
          <a:bodyPr/>
          <a:lstStyle/>
          <a:p>
            <a:fld id="{AA4067E1-A49F-46DB-B4A5-10A088313D44}" type="slidenum">
              <a:rPr lang="en-US" smtClean="0"/>
              <a:t>1</a:t>
            </a:fld>
            <a:endParaRPr lang="en-US"/>
          </a:p>
        </p:txBody>
      </p:sp>
    </p:spTree>
    <p:extLst>
      <p:ext uri="{BB962C8B-B14F-4D97-AF65-F5344CB8AC3E}">
        <p14:creationId xmlns:p14="http://schemas.microsoft.com/office/powerpoint/2010/main" val="1768826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buFont typeface="Arial" panose="020B0604020202020204" pitchFamily="34" charset="0"/>
              <a:buNone/>
            </a:pPr>
            <a:r>
              <a:rPr lang="en-US" sz="1800" b="0" i="0" dirty="0">
                <a:solidFill>
                  <a:srgbClr val="000000"/>
                </a:solidFill>
                <a:effectLst/>
                <a:latin typeface="Arial" panose="020B0604020202020204" pitchFamily="34" charset="0"/>
              </a:rPr>
              <a:t>The short version is that our 15-county Central Ohio region is on track to reach nearly 3.15 million residents by 2050, which is a small uptick from previous projections. </a:t>
            </a:r>
            <a:r>
              <a:rPr lang="en-US" sz="1800" b="0" i="0" baseline="30000" dirty="0">
                <a:solidFill>
                  <a:srgbClr val="000000"/>
                </a:solidFill>
                <a:effectLst/>
                <a:latin typeface="Arial" panose="020B0604020202020204" pitchFamily="34" charset="0"/>
              </a:rPr>
              <a:t>i</a:t>
            </a:r>
            <a:r>
              <a:rPr lang="en-US" sz="1800" b="0" i="0" dirty="0">
                <a:solidFill>
                  <a:srgbClr val="000000"/>
                </a:solidFill>
                <a:effectLst/>
                <a:latin typeface="Arial" panose="020B0604020202020204" pitchFamily="34" charset="0"/>
              </a:rPr>
              <a:t>  </a:t>
            </a:r>
          </a:p>
          <a:p>
            <a:pPr algn="l" rtl="0" fontAlgn="base">
              <a:buFont typeface="Arial" panose="020B0604020202020204" pitchFamily="34" charset="0"/>
              <a:buNone/>
            </a:pPr>
            <a:r>
              <a:rPr lang="en-US" sz="1800" b="0" i="0" dirty="0">
                <a:solidFill>
                  <a:srgbClr val="000000"/>
                </a:solidFill>
                <a:effectLst/>
                <a:latin typeface="Arial" panose="020B0604020202020204" pitchFamily="34" charset="0"/>
              </a:rPr>
              <a:t>Our recent growth places us among the fastest-growing large metros in the country. We are growing faster than any other region in the state, but at an estimated 0.89% annually, it is a much more manageable rate than metros, such as Austin or Boise, which have been growing at twice the rate of Central Ohio </a:t>
            </a:r>
            <a:r>
              <a:rPr lang="en-US" sz="1800" b="0" i="0" baseline="30000" dirty="0">
                <a:solidFill>
                  <a:srgbClr val="000000"/>
                </a:solidFill>
                <a:effectLst/>
                <a:latin typeface="Arial" panose="020B0604020202020204" pitchFamily="34" charset="0"/>
              </a:rPr>
              <a:t>vii</a:t>
            </a:r>
            <a:r>
              <a:rPr lang="en-US" sz="1800" b="0" i="0" dirty="0">
                <a:solidFill>
                  <a:srgbClr val="000000"/>
                </a:solidFill>
                <a:effectLst/>
                <a:latin typeface="Arial" panose="020B0604020202020204" pitchFamily="34" charset="0"/>
              </a:rPr>
              <a:t>. </a:t>
            </a:r>
          </a:p>
          <a:p>
            <a:pPr algn="l" rtl="0" fontAlgn="base">
              <a:buFont typeface="Arial" panose="020B0604020202020204" pitchFamily="34" charset="0"/>
              <a:buNone/>
            </a:pPr>
            <a:endParaRPr lang="en-US" sz="1800" b="0" i="0" dirty="0">
              <a:solidFill>
                <a:srgbClr val="000000"/>
              </a:solidFill>
              <a:effectLst/>
              <a:latin typeface="Arial" panose="020B0604020202020204" pitchFamily="34" charset="0"/>
            </a:endParaRPr>
          </a:p>
          <a:p>
            <a:pPr algn="l" rtl="0" fontAlgn="base">
              <a:buFont typeface="Arial" panose="020B0604020202020204" pitchFamily="34" charset="0"/>
              <a:buNone/>
            </a:pPr>
            <a:r>
              <a:rPr lang="en-US" sz="1800" b="0" i="0" dirty="0">
                <a:solidFill>
                  <a:srgbClr val="000000"/>
                </a:solidFill>
                <a:effectLst/>
                <a:latin typeface="Arial"/>
                <a:cs typeface="Arial"/>
              </a:rPr>
              <a:t>Our region’s strong growth can be attributed, in part, to continued strong economic development. Although MORPC does not attempt to predict which firms will choose to establish operations in Central Ohio, our forecasting process anticipates development-induced growth, and plans for it. Communities must work to attract, retain, and develop firms that amplify existing industry clusters, add diversity to the region’s economy, and produce jobs in a variety of pay ranges and requiring an increasingly diversified talent pool. </a:t>
            </a:r>
          </a:p>
          <a:p>
            <a:pPr algn="l" rtl="0" fontAlgn="base"/>
            <a:endParaRPr lang="en-US" sz="1800" b="0" i="0" dirty="0">
              <a:solidFill>
                <a:srgbClr val="000000"/>
              </a:solidFill>
              <a:effectLst/>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AA4067E1-A49F-46DB-B4A5-10A088313D44}" type="slidenum">
              <a:rPr lang="en-US" smtClean="0"/>
              <a:t>2</a:t>
            </a:fld>
            <a:endParaRPr lang="en-US"/>
          </a:p>
        </p:txBody>
      </p:sp>
    </p:spTree>
    <p:extLst>
      <p:ext uri="{BB962C8B-B14F-4D97-AF65-F5344CB8AC3E}">
        <p14:creationId xmlns:p14="http://schemas.microsoft.com/office/powerpoint/2010/main" val="21575373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buFont typeface="Arial" panose="020B0604020202020204" pitchFamily="34" charset="0"/>
            </a:pPr>
            <a:r>
              <a:rPr lang="en-US" sz="1800" b="0" i="0" dirty="0">
                <a:solidFill>
                  <a:srgbClr val="000000"/>
                </a:solidFill>
                <a:effectLst/>
                <a:latin typeface="Arial"/>
                <a:cs typeface="Arial"/>
              </a:rPr>
              <a:t>More</a:t>
            </a:r>
            <a:r>
              <a:rPr lang="en-US" sz="1800" dirty="0">
                <a:solidFill>
                  <a:srgbClr val="000000"/>
                </a:solidFill>
                <a:latin typeface="Arial"/>
                <a:cs typeface="Arial"/>
              </a:rPr>
              <a:t> specifically, over the course of the next 25+ years, Central Ohio will see a growth of 726,000</a:t>
            </a:r>
            <a:r>
              <a:rPr lang="en-US" sz="1800" b="1" dirty="0">
                <a:solidFill>
                  <a:srgbClr val="000000"/>
                </a:solidFill>
                <a:latin typeface="Arial"/>
                <a:cs typeface="Arial"/>
              </a:rPr>
              <a:t> </a:t>
            </a:r>
            <a:r>
              <a:rPr lang="en-US" sz="1800" dirty="0">
                <a:solidFill>
                  <a:srgbClr val="000000"/>
                </a:solidFill>
                <a:latin typeface="Arial"/>
                <a:cs typeface="Arial"/>
              </a:rPr>
              <a:t>people, which equates to 272,000 additional households and 357,000 additional workers.   </a:t>
            </a:r>
            <a:endParaRPr lang="en-US">
              <a:solidFill>
                <a:srgbClr val="000000"/>
              </a:solidFill>
              <a:latin typeface="Arial"/>
              <a:cs typeface="Arial"/>
            </a:endParaRPr>
          </a:p>
          <a:p>
            <a:r>
              <a:rPr lang="en-US" sz="1800" dirty="0">
                <a:solidFill>
                  <a:srgbClr val="000000"/>
                </a:solidFill>
                <a:latin typeface="Arial"/>
                <a:cs typeface="Arial"/>
              </a:rPr>
              <a:t> </a:t>
            </a:r>
            <a:endParaRPr lang="en-US">
              <a:solidFill>
                <a:srgbClr val="000000"/>
              </a:solidFill>
              <a:latin typeface="Arial"/>
              <a:cs typeface="Arial"/>
            </a:endParaRPr>
          </a:p>
          <a:p>
            <a:r>
              <a:rPr lang="en-US" sz="1800" dirty="0">
                <a:solidFill>
                  <a:srgbClr val="000000"/>
                </a:solidFill>
                <a:latin typeface="Arial"/>
                <a:cs typeface="Arial"/>
              </a:rPr>
              <a:t> </a:t>
            </a:r>
            <a:endParaRPr lang="en-US">
              <a:solidFill>
                <a:srgbClr val="000000"/>
              </a:solidFill>
              <a:latin typeface="Arial"/>
              <a:cs typeface="Arial"/>
            </a:endParaRPr>
          </a:p>
          <a:p>
            <a:endParaRPr lang="en-US"/>
          </a:p>
        </p:txBody>
      </p:sp>
      <p:sp>
        <p:nvSpPr>
          <p:cNvPr id="4" name="Slide Number Placeholder 3"/>
          <p:cNvSpPr>
            <a:spLocks noGrp="1"/>
          </p:cNvSpPr>
          <p:nvPr>
            <p:ph type="sldNum" sz="quarter" idx="5"/>
          </p:nvPr>
        </p:nvSpPr>
        <p:spPr/>
        <p:txBody>
          <a:bodyPr/>
          <a:lstStyle/>
          <a:p>
            <a:fld id="{AA4067E1-A49F-46DB-B4A5-10A088313D44}" type="slidenum">
              <a:rPr lang="en-US" smtClean="0"/>
              <a:t>3</a:t>
            </a:fld>
            <a:endParaRPr lang="en-US"/>
          </a:p>
        </p:txBody>
      </p:sp>
    </p:spTree>
    <p:extLst>
      <p:ext uri="{BB962C8B-B14F-4D97-AF65-F5344CB8AC3E}">
        <p14:creationId xmlns:p14="http://schemas.microsoft.com/office/powerpoint/2010/main" val="32553899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dirty="0">
                <a:solidFill>
                  <a:srgbClr val="000000"/>
                </a:solidFill>
                <a:effectLst/>
                <a:latin typeface="Arial"/>
                <a:cs typeface="Arial"/>
              </a:rPr>
              <a:t>Births and people moving to Central Ohio (in-migration) were almost equally contributing to the region’s growth in the past. However, Central Ohio, like the nation, is showing a continued trend of increased death rates and lower birth rates. This trend is in part due to our aging population, making it even more important to welcome new people to our </a:t>
            </a:r>
            <a:r>
              <a:rPr lang="en-US" sz="1800" dirty="0">
                <a:solidFill>
                  <a:srgbClr val="000000"/>
                </a:solidFill>
                <a:latin typeface="Arial"/>
                <a:cs typeface="Arial"/>
              </a:rPr>
              <a:t>region</a:t>
            </a:r>
            <a:r>
              <a:rPr lang="en-US" sz="1800" b="0" i="0" dirty="0">
                <a:solidFill>
                  <a:srgbClr val="000000"/>
                </a:solidFill>
                <a:effectLst/>
                <a:latin typeface="Arial"/>
                <a:cs typeface="Arial"/>
              </a:rPr>
              <a:t>. Luckily, Central Ohio is one of the only parts of the state that is currently benefitting from </a:t>
            </a:r>
            <a:r>
              <a:rPr lang="en-US" sz="1800" dirty="0">
                <a:solidFill>
                  <a:srgbClr val="000000"/>
                </a:solidFill>
                <a:latin typeface="Arial"/>
                <a:cs typeface="Arial"/>
              </a:rPr>
              <a:t>in-migration</a:t>
            </a:r>
            <a:r>
              <a:rPr lang="en-US" sz="1800" b="0" i="0" dirty="0">
                <a:solidFill>
                  <a:srgbClr val="000000"/>
                </a:solidFill>
                <a:effectLst/>
                <a:latin typeface="Arial"/>
                <a:cs typeface="Arial"/>
              </a:rPr>
              <a:t>.  </a:t>
            </a:r>
            <a:endParaRPr lang="en-US" dirty="0">
              <a:latin typeface="Arial"/>
              <a:cs typeface="Arial"/>
            </a:endParaRPr>
          </a:p>
        </p:txBody>
      </p:sp>
      <p:sp>
        <p:nvSpPr>
          <p:cNvPr id="4" name="Slide Number Placeholder 3"/>
          <p:cNvSpPr>
            <a:spLocks noGrp="1"/>
          </p:cNvSpPr>
          <p:nvPr>
            <p:ph type="sldNum" sz="quarter" idx="5"/>
          </p:nvPr>
        </p:nvSpPr>
        <p:spPr/>
        <p:txBody>
          <a:bodyPr/>
          <a:lstStyle/>
          <a:p>
            <a:fld id="{AA4067E1-A49F-46DB-B4A5-10A088313D44}" type="slidenum">
              <a:rPr lang="en-US" smtClean="0"/>
              <a:t>4</a:t>
            </a:fld>
            <a:endParaRPr lang="en-US"/>
          </a:p>
        </p:txBody>
      </p:sp>
    </p:spTree>
    <p:extLst>
      <p:ext uri="{BB962C8B-B14F-4D97-AF65-F5344CB8AC3E}">
        <p14:creationId xmlns:p14="http://schemas.microsoft.com/office/powerpoint/2010/main" val="26944694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rial"/>
                <a:ea typeface="Calibri" panose="020F0502020204030204" pitchFamily="34" charset="0"/>
                <a:cs typeface="Arial"/>
              </a:rPr>
              <a:t>Over 100,000 new housing units will be required in th</a:t>
            </a:r>
            <a:r>
              <a:rPr lang="en-US" dirty="0">
                <a:latin typeface="Arial"/>
                <a:ea typeface="Calibri" panose="020F0502020204030204" pitchFamily="34" charset="0"/>
                <a:cs typeface="Arial"/>
              </a:rPr>
              <a:t>e next decade. </a:t>
            </a:r>
            <a:r>
              <a:rPr lang="en-US" sz="1200" dirty="0">
                <a:effectLst/>
                <a:latin typeface="Arial"/>
                <a:ea typeface="Calibri" panose="020F0502020204030204" pitchFamily="34" charset="0"/>
                <a:cs typeface="Arial"/>
              </a:rPr>
              <a:t>According to the Building Industry Association (BIA) of Central Ohio, housing permitting must increase approximately two-fold from recent trends to meet anticipated demand. A variety of housing options will be needed to satisfy the diverse needs of </a:t>
            </a:r>
            <a:r>
              <a:rPr lang="en-US" dirty="0">
                <a:latin typeface="Arial"/>
                <a:ea typeface="Calibri" panose="020F0502020204030204" pitchFamily="34" charset="0"/>
                <a:cs typeface="Arial"/>
              </a:rPr>
              <a:t>the region’s families and workers.</a:t>
            </a:r>
            <a:endParaRPr lang="en-US" sz="1200" dirty="0">
              <a:effectLst/>
              <a:latin typeface="Arial"/>
              <a:ea typeface="Calibri" panose="020F0502020204030204" pitchFamily="34" charset="0"/>
              <a:cs typeface="Arial"/>
            </a:endParaRPr>
          </a:p>
        </p:txBody>
      </p:sp>
      <p:sp>
        <p:nvSpPr>
          <p:cNvPr id="4" name="Slide Number Placeholder 3"/>
          <p:cNvSpPr>
            <a:spLocks noGrp="1"/>
          </p:cNvSpPr>
          <p:nvPr>
            <p:ph type="sldNum" sz="quarter" idx="5"/>
          </p:nvPr>
        </p:nvSpPr>
        <p:spPr/>
        <p:txBody>
          <a:bodyPr/>
          <a:lstStyle/>
          <a:p>
            <a:fld id="{AA4067E1-A49F-46DB-B4A5-10A088313D44}" type="slidenum">
              <a:rPr lang="en-US" smtClean="0"/>
              <a:t>5</a:t>
            </a:fld>
            <a:endParaRPr lang="en-US"/>
          </a:p>
        </p:txBody>
      </p:sp>
    </p:spTree>
    <p:extLst>
      <p:ext uri="{BB962C8B-B14F-4D97-AF65-F5344CB8AC3E}">
        <p14:creationId xmlns:p14="http://schemas.microsoft.com/office/powerpoint/2010/main" val="8891447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3">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753235" y="-6689"/>
            <a:ext cx="7438766" cy="5579076"/>
          </a:xfrm>
          <a:prstGeom prst="rect">
            <a:avLst/>
          </a:prstGeom>
        </p:spPr>
      </p:pic>
      <p:sp>
        <p:nvSpPr>
          <p:cNvPr id="4" name="Title 1"/>
          <p:cNvSpPr>
            <a:spLocks noGrp="1"/>
          </p:cNvSpPr>
          <p:nvPr>
            <p:ph type="title" hasCustomPrompt="1"/>
          </p:nvPr>
        </p:nvSpPr>
        <p:spPr>
          <a:xfrm>
            <a:off x="265942" y="3832657"/>
            <a:ext cx="5525258" cy="1746421"/>
          </a:xfrm>
          <a:prstGeom prst="rect">
            <a:avLst/>
          </a:prstGeom>
        </p:spPr>
        <p:txBody>
          <a:bodyPr>
            <a:noAutofit/>
          </a:bodyPr>
          <a:lstStyle>
            <a:lvl1pPr>
              <a:defRPr sz="6000" b="1" baseline="0">
                <a:solidFill>
                  <a:srgbClr val="0075BF"/>
                </a:solidFill>
                <a:latin typeface="Arial" panose="020B0604020202020204" pitchFamily="34" charset="0"/>
                <a:cs typeface="Arial" panose="020B0604020202020204" pitchFamily="34" charset="0"/>
              </a:defRPr>
            </a:lvl1pPr>
          </a:lstStyle>
          <a:p>
            <a:r>
              <a:rPr lang="en-US" dirty="0"/>
              <a:t>TITLE TEXT </a:t>
            </a:r>
            <a:br>
              <a:rPr lang="en-US" dirty="0"/>
            </a:br>
            <a:r>
              <a:rPr lang="en-US" dirty="0"/>
              <a:t>GOES HERE</a:t>
            </a:r>
          </a:p>
        </p:txBody>
      </p:sp>
      <p:sp>
        <p:nvSpPr>
          <p:cNvPr id="6" name="Content Placeholder 3"/>
          <p:cNvSpPr>
            <a:spLocks noGrp="1"/>
          </p:cNvSpPr>
          <p:nvPr>
            <p:ph sz="half" idx="2" hasCustomPrompt="1"/>
          </p:nvPr>
        </p:nvSpPr>
        <p:spPr>
          <a:xfrm>
            <a:off x="265942" y="5668363"/>
            <a:ext cx="7436436" cy="980816"/>
          </a:xfrm>
          <a:prstGeom prst="rect">
            <a:avLst/>
          </a:prstGeom>
        </p:spPr>
        <p:txBody>
          <a:bodyPr>
            <a:normAutofit/>
          </a:bodyPr>
          <a:lstStyle>
            <a:lvl1pPr marL="0" indent="0">
              <a:buFontTx/>
              <a:buNone/>
              <a:defRPr sz="2800" baseline="0">
                <a:solidFill>
                  <a:schemeClr val="bg1">
                    <a:lumMod val="50000"/>
                  </a:schemeClr>
                </a:solidFill>
                <a:latin typeface="Arial" panose="020B0604020202020204" pitchFamily="34" charset="0"/>
                <a:cs typeface="Arial" panose="020B0604020202020204" pitchFamily="34" charset="0"/>
              </a:defRPr>
            </a:lvl1pPr>
            <a:lvl2pPr>
              <a:defRPr sz="2000">
                <a:solidFill>
                  <a:srgbClr val="34617A"/>
                </a:solidFill>
                <a:latin typeface="Arial" panose="020B0604020202020204" pitchFamily="34" charset="0"/>
                <a:cs typeface="Arial" panose="020B0604020202020204" pitchFamily="34" charset="0"/>
              </a:defRPr>
            </a:lvl2pPr>
            <a:lvl3pPr>
              <a:defRPr sz="2000">
                <a:solidFill>
                  <a:srgbClr val="2A7F67"/>
                </a:solidFill>
                <a:latin typeface="Arial" panose="020B0604020202020204" pitchFamily="34" charset="0"/>
                <a:cs typeface="Arial" panose="020B0604020202020204" pitchFamily="34" charset="0"/>
              </a:defRPr>
            </a:lvl3pPr>
            <a:lvl4pPr>
              <a:defRPr sz="2000">
                <a:solidFill>
                  <a:schemeClr val="bg2">
                    <a:lumMod val="50000"/>
                  </a:schemeClr>
                </a:solidFill>
                <a:latin typeface="Arial" panose="020B0604020202020204" pitchFamily="34" charset="0"/>
                <a:cs typeface="Arial" panose="020B0604020202020204" pitchFamily="34" charset="0"/>
              </a:defRPr>
            </a:lvl4pPr>
            <a:lvl5pPr>
              <a:defRPr sz="1800">
                <a:solidFill>
                  <a:schemeClr val="bg2">
                    <a:lumMod val="25000"/>
                  </a:schemeClr>
                </a:solidFill>
                <a:latin typeface="Arial" panose="020B0604020202020204" pitchFamily="34" charset="0"/>
                <a:cs typeface="Arial" panose="020B0604020202020204" pitchFamily="34" charset="0"/>
              </a:defRPr>
            </a:lvl5pPr>
          </a:lstStyle>
          <a:p>
            <a:pPr lvl="0"/>
            <a:r>
              <a:rPr lang="en-US" dirty="0"/>
              <a:t>Sub-text goes here</a:t>
            </a:r>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114269" y="5407621"/>
            <a:ext cx="3842790" cy="1329878"/>
          </a:xfrm>
          <a:prstGeom prst="rect">
            <a:avLst/>
          </a:prstGeom>
        </p:spPr>
      </p:pic>
    </p:spTree>
    <p:extLst>
      <p:ext uri="{BB962C8B-B14F-4D97-AF65-F5344CB8AC3E}">
        <p14:creationId xmlns:p14="http://schemas.microsoft.com/office/powerpoint/2010/main" val="410346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Slide_Bottom Graphic_1">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200150"/>
            <a:ext cx="12192000" cy="5657850"/>
          </a:xfrm>
          <a:prstGeom prst="rect">
            <a:avLst/>
          </a:prstGeom>
        </p:spPr>
      </p:pic>
      <p:sp>
        <p:nvSpPr>
          <p:cNvPr id="4" name="Content Placeholder 3"/>
          <p:cNvSpPr>
            <a:spLocks noGrp="1"/>
          </p:cNvSpPr>
          <p:nvPr>
            <p:ph sz="half" idx="2"/>
          </p:nvPr>
        </p:nvSpPr>
        <p:spPr>
          <a:xfrm>
            <a:off x="193591" y="1087407"/>
            <a:ext cx="11785528" cy="4712031"/>
          </a:xfrm>
          <a:prstGeom prst="rect">
            <a:avLst/>
          </a:prstGeom>
        </p:spPr>
        <p:txBody>
          <a:bodyPr>
            <a:normAutofit/>
          </a:bodyPr>
          <a:lstStyle>
            <a:lvl1pPr>
              <a:defRPr sz="1800">
                <a:solidFill>
                  <a:schemeClr val="bg1">
                    <a:lumMod val="50000"/>
                  </a:schemeClr>
                </a:solidFill>
                <a:latin typeface="Arial" panose="020B0604020202020204" pitchFamily="34" charset="0"/>
                <a:cs typeface="Arial" panose="020B0604020202020204" pitchFamily="34" charset="0"/>
              </a:defRPr>
            </a:lvl1pPr>
            <a:lvl2pPr>
              <a:defRPr sz="1600">
                <a:solidFill>
                  <a:srgbClr val="34617A"/>
                </a:solidFill>
                <a:latin typeface="Arial" panose="020B0604020202020204" pitchFamily="34" charset="0"/>
                <a:cs typeface="Arial" panose="020B0604020202020204" pitchFamily="34" charset="0"/>
              </a:defRPr>
            </a:lvl2pPr>
            <a:lvl3pPr>
              <a:defRPr sz="1600">
                <a:solidFill>
                  <a:srgbClr val="2A7F67"/>
                </a:solidFill>
                <a:latin typeface="Arial" panose="020B0604020202020204" pitchFamily="34" charset="0"/>
                <a:cs typeface="Arial" panose="020B0604020202020204" pitchFamily="34" charset="0"/>
              </a:defRPr>
            </a:lvl3pPr>
            <a:lvl4pPr>
              <a:defRPr sz="1600">
                <a:solidFill>
                  <a:schemeClr val="bg2">
                    <a:lumMod val="50000"/>
                  </a:schemeClr>
                </a:solidFill>
                <a:latin typeface="Arial" panose="020B0604020202020204" pitchFamily="34" charset="0"/>
                <a:cs typeface="Arial" panose="020B0604020202020204" pitchFamily="34" charset="0"/>
              </a:defRPr>
            </a:lvl4pPr>
            <a:lvl5pPr>
              <a:defRPr sz="1800">
                <a:solidFill>
                  <a:schemeClr val="bg2">
                    <a:lumMod val="25000"/>
                  </a:schemeClr>
                </a:solidFill>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p:txBody>
      </p:sp>
      <p:sp>
        <p:nvSpPr>
          <p:cNvPr id="6" name="Title 1"/>
          <p:cNvSpPr>
            <a:spLocks noGrp="1"/>
          </p:cNvSpPr>
          <p:nvPr>
            <p:ph type="title" hasCustomPrompt="1"/>
          </p:nvPr>
        </p:nvSpPr>
        <p:spPr>
          <a:xfrm>
            <a:off x="193597" y="357167"/>
            <a:ext cx="8900983" cy="496923"/>
          </a:xfrm>
          <a:prstGeom prst="rect">
            <a:avLst/>
          </a:prstGeom>
        </p:spPr>
        <p:txBody>
          <a:bodyPr>
            <a:normAutofit/>
          </a:bodyPr>
          <a:lstStyle>
            <a:lvl1pPr>
              <a:defRPr sz="3200" b="1" baseline="0">
                <a:solidFill>
                  <a:srgbClr val="2A7F67"/>
                </a:solidFill>
                <a:latin typeface="Arial" panose="020B0604020202020204" pitchFamily="34" charset="0"/>
                <a:cs typeface="Arial" panose="020B0604020202020204" pitchFamily="34" charset="0"/>
              </a:defRPr>
            </a:lvl1pPr>
          </a:lstStyle>
          <a:p>
            <a:r>
              <a:rPr lang="en-US" dirty="0"/>
              <a:t>TITLE TEXT GOES HERE</a:t>
            </a:r>
          </a:p>
        </p:txBody>
      </p:sp>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324982" y="103811"/>
            <a:ext cx="2654137" cy="917585"/>
          </a:xfrm>
          <a:prstGeom prst="rect">
            <a:avLst/>
          </a:prstGeom>
        </p:spPr>
      </p:pic>
    </p:spTree>
    <p:extLst>
      <p:ext uri="{BB962C8B-B14F-4D97-AF65-F5344CB8AC3E}">
        <p14:creationId xmlns:p14="http://schemas.microsoft.com/office/powerpoint/2010/main" val="1900412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d Slide_Two Names">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4141" y="-16991"/>
            <a:ext cx="12266141" cy="6899704"/>
          </a:xfrm>
          <a:prstGeom prst="rect">
            <a:avLst/>
          </a:prstGeom>
        </p:spPr>
      </p:pic>
    </p:spTree>
    <p:extLst>
      <p:ext uri="{BB962C8B-B14F-4D97-AF65-F5344CB8AC3E}">
        <p14:creationId xmlns:p14="http://schemas.microsoft.com/office/powerpoint/2010/main" val="130134471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1223340"/>
      </p:ext>
    </p:extLst>
  </p:cSld>
  <p:clrMap bg1="lt1" tx1="dk1" bg2="lt2" tx2="dk2" accent1="accent1" accent2="accent2" accent3="accent3" accent4="accent4" accent5="accent5" accent6="accent6" hlink="hlink" folHlink="folHlink"/>
  <p:sldLayoutIdLst>
    <p:sldLayoutId id="2147483651" r:id="rId1"/>
    <p:sldLayoutId id="2147483653" r:id="rId2"/>
    <p:sldLayoutId id="2147483671" r:id="rId3"/>
  </p:sldLayoutIdLst>
  <p:txStyles>
    <p:titleStyle>
      <a:lvl1pPr algn="l" defTabSz="9143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mailto:ddixon@morpc.org"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942" y="4362690"/>
            <a:ext cx="7696239" cy="989509"/>
          </a:xfrm>
        </p:spPr>
        <p:txBody>
          <a:bodyPr/>
          <a:lstStyle/>
          <a:p>
            <a:r>
              <a:rPr lang="en-US" sz="4400" dirty="0"/>
              <a:t>2024-2050 POPULATION FORECASTS</a:t>
            </a:r>
            <a:endParaRPr lang="en-US" sz="4400" dirty="0">
              <a:solidFill>
                <a:srgbClr val="34617A"/>
              </a:solidFill>
            </a:endParaRPr>
          </a:p>
        </p:txBody>
      </p:sp>
      <p:sp>
        <p:nvSpPr>
          <p:cNvPr id="3" name="Content Placeholder 2"/>
          <p:cNvSpPr>
            <a:spLocks noGrp="1"/>
          </p:cNvSpPr>
          <p:nvPr>
            <p:ph sz="half" idx="2"/>
          </p:nvPr>
        </p:nvSpPr>
        <p:spPr/>
        <p:txBody>
          <a:bodyPr>
            <a:normAutofit lnSpcReduction="10000"/>
          </a:bodyPr>
          <a:lstStyle/>
          <a:p>
            <a:r>
              <a:rPr lang="en-US" dirty="0"/>
              <a:t>Commission</a:t>
            </a:r>
          </a:p>
          <a:p>
            <a:r>
              <a:rPr lang="en-US" dirty="0"/>
              <a:t>February 9, 2023</a:t>
            </a:r>
          </a:p>
        </p:txBody>
      </p:sp>
    </p:spTree>
    <p:extLst>
      <p:ext uri="{BB962C8B-B14F-4D97-AF65-F5344CB8AC3E}">
        <p14:creationId xmlns:p14="http://schemas.microsoft.com/office/powerpoint/2010/main" val="2928470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47F727-15DF-5E2F-573A-716C57E489F0}"/>
              </a:ext>
            </a:extLst>
          </p:cNvPr>
          <p:cNvSpPr>
            <a:spLocks noGrp="1"/>
          </p:cNvSpPr>
          <p:nvPr>
            <p:ph type="title"/>
          </p:nvPr>
        </p:nvSpPr>
        <p:spPr/>
        <p:txBody>
          <a:bodyPr>
            <a:normAutofit fontScale="90000"/>
          </a:bodyPr>
          <a:lstStyle/>
          <a:p>
            <a:r>
              <a:rPr lang="en-US" dirty="0"/>
              <a:t>15-COUNTY REGION (0.89% CAGR)</a:t>
            </a:r>
          </a:p>
        </p:txBody>
      </p:sp>
      <p:graphicFrame>
        <p:nvGraphicFramePr>
          <p:cNvPr id="5" name="Chart 4">
            <a:extLst>
              <a:ext uri="{FF2B5EF4-FFF2-40B4-BE49-F238E27FC236}">
                <a16:creationId xmlns:a16="http://schemas.microsoft.com/office/drawing/2014/main" id="{950E6B9F-6DB3-45E6-8B53-6A1EF5C0C20D}"/>
              </a:ext>
            </a:extLst>
          </p:cNvPr>
          <p:cNvGraphicFramePr>
            <a:graphicFrameLocks/>
          </p:cNvGraphicFramePr>
          <p:nvPr>
            <p:extLst>
              <p:ext uri="{D42A27DB-BD31-4B8C-83A1-F6EECF244321}">
                <p14:modId xmlns:p14="http://schemas.microsoft.com/office/powerpoint/2010/main" val="3272848492"/>
              </p:ext>
            </p:extLst>
          </p:nvPr>
        </p:nvGraphicFramePr>
        <p:xfrm>
          <a:off x="1938528" y="1042416"/>
          <a:ext cx="8321040" cy="512064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22858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47F727-15DF-5E2F-573A-716C57E489F0}"/>
              </a:ext>
            </a:extLst>
          </p:cNvPr>
          <p:cNvSpPr>
            <a:spLocks noGrp="1"/>
          </p:cNvSpPr>
          <p:nvPr>
            <p:ph type="title"/>
          </p:nvPr>
        </p:nvSpPr>
        <p:spPr/>
        <p:txBody>
          <a:bodyPr>
            <a:normAutofit fontScale="90000"/>
          </a:bodyPr>
          <a:lstStyle/>
          <a:p>
            <a:r>
              <a:rPr lang="en-US" dirty="0"/>
              <a:t>15-COUNTY REGION GROWTH</a:t>
            </a:r>
          </a:p>
        </p:txBody>
      </p:sp>
      <p:graphicFrame>
        <p:nvGraphicFramePr>
          <p:cNvPr id="4" name="Chart 3">
            <a:extLst>
              <a:ext uri="{FF2B5EF4-FFF2-40B4-BE49-F238E27FC236}">
                <a16:creationId xmlns:a16="http://schemas.microsoft.com/office/drawing/2014/main" id="{7CC8C5DC-3743-9F4E-868B-4EC9E6C63D5E}"/>
              </a:ext>
            </a:extLst>
          </p:cNvPr>
          <p:cNvGraphicFramePr>
            <a:graphicFrameLocks/>
          </p:cNvGraphicFramePr>
          <p:nvPr>
            <p:extLst>
              <p:ext uri="{D42A27DB-BD31-4B8C-83A1-F6EECF244321}">
                <p14:modId xmlns:p14="http://schemas.microsoft.com/office/powerpoint/2010/main" val="185466884"/>
              </p:ext>
            </p:extLst>
          </p:nvPr>
        </p:nvGraphicFramePr>
        <p:xfrm>
          <a:off x="552771" y="1185707"/>
          <a:ext cx="11086457" cy="471267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694863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D6490A-6C71-4675-E9AE-D347BC1B9035}"/>
              </a:ext>
            </a:extLst>
          </p:cNvPr>
          <p:cNvSpPr>
            <a:spLocks noGrp="1"/>
          </p:cNvSpPr>
          <p:nvPr>
            <p:ph type="title"/>
          </p:nvPr>
        </p:nvSpPr>
        <p:spPr/>
        <p:txBody>
          <a:bodyPr>
            <a:normAutofit fontScale="90000"/>
          </a:bodyPr>
          <a:lstStyle/>
          <a:p>
            <a:r>
              <a:rPr lang="en-US" dirty="0"/>
              <a:t>POPULATION GROWTH</a:t>
            </a:r>
          </a:p>
        </p:txBody>
      </p:sp>
      <p:pic>
        <p:nvPicPr>
          <p:cNvPr id="2050" name="Picture 2" descr="2,475 Diverse Family Moving Boxes Stock Photos, Pictures &amp; Royalty-Free  Images - iStock">
            <a:extLst>
              <a:ext uri="{FF2B5EF4-FFF2-40B4-BE49-F238E27FC236}">
                <a16:creationId xmlns:a16="http://schemas.microsoft.com/office/drawing/2014/main" id="{0B2B1967-1798-B882-DA13-4FB9E62C6E5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0341" b="13544"/>
          <a:stretch/>
        </p:blipFill>
        <p:spPr bwMode="auto">
          <a:xfrm>
            <a:off x="1206854" y="1208652"/>
            <a:ext cx="4062876" cy="463869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Baby Clothes | Carter's | Free Shipping">
            <a:extLst>
              <a:ext uri="{FF2B5EF4-FFF2-40B4-BE49-F238E27FC236}">
                <a16:creationId xmlns:a16="http://schemas.microsoft.com/office/drawing/2014/main" id="{5E994B8B-3137-D34F-5ECA-B928C8838B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1482128"/>
            <a:ext cx="4372315" cy="4091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9955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1DD474E-F6F5-669D-173E-4F27F67F2FE2}"/>
              </a:ext>
            </a:extLst>
          </p:cNvPr>
          <p:cNvSpPr>
            <a:spLocks noGrp="1"/>
          </p:cNvSpPr>
          <p:nvPr>
            <p:ph type="title"/>
          </p:nvPr>
        </p:nvSpPr>
        <p:spPr/>
        <p:txBody>
          <a:bodyPr>
            <a:normAutofit fontScale="90000"/>
          </a:bodyPr>
          <a:lstStyle/>
          <a:p>
            <a:r>
              <a:rPr lang="en-US" dirty="0"/>
              <a:t>HOUSING NEED CONTINUES</a:t>
            </a:r>
          </a:p>
        </p:txBody>
      </p:sp>
      <p:pic>
        <p:nvPicPr>
          <p:cNvPr id="3074" name="Picture 2" descr="Affordable Housing - RISE Healthy Housing and Support Services">
            <a:extLst>
              <a:ext uri="{FF2B5EF4-FFF2-40B4-BE49-F238E27FC236}">
                <a16:creationId xmlns:a16="http://schemas.microsoft.com/office/drawing/2014/main" id="{324485B9-FFE6-1DCA-F138-28E0BFDC78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749" y="2085725"/>
            <a:ext cx="11344501" cy="2955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1590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2796" y="1560553"/>
            <a:ext cx="6434659" cy="2123658"/>
          </a:xfrm>
          <a:prstGeom prst="rect">
            <a:avLst/>
          </a:prstGeom>
          <a:noFill/>
        </p:spPr>
        <p:txBody>
          <a:bodyPr wrap="square" rtlCol="0">
            <a:spAutoFit/>
          </a:bodyPr>
          <a:lstStyle/>
          <a:p>
            <a:r>
              <a:rPr lang="en-US" sz="2400" b="1" dirty="0">
                <a:solidFill>
                  <a:srgbClr val="046782"/>
                </a:solidFill>
                <a:latin typeface="Arial" panose="020B0604020202020204" pitchFamily="34" charset="0"/>
                <a:cs typeface="Arial" panose="020B0604020202020204" pitchFamily="34" charset="0"/>
              </a:rPr>
              <a:t>Dave Dixon</a:t>
            </a:r>
          </a:p>
          <a:p>
            <a:r>
              <a:rPr lang="en-US" i="1" dirty="0">
                <a:solidFill>
                  <a:schemeClr val="bg1">
                    <a:lumMod val="50000"/>
                  </a:schemeClr>
                </a:solidFill>
                <a:latin typeface="Arial" panose="020B0604020202020204" pitchFamily="34" charset="0"/>
                <a:cs typeface="Arial" panose="020B0604020202020204" pitchFamily="34" charset="0"/>
              </a:rPr>
              <a:t>Director of Data Analytics &amp; Strategy</a:t>
            </a:r>
          </a:p>
          <a:p>
            <a:r>
              <a:rPr lang="en-US" b="1" dirty="0">
                <a:solidFill>
                  <a:schemeClr val="bg1">
                    <a:lumMod val="50000"/>
                  </a:schemeClr>
                </a:solidFill>
                <a:latin typeface="Arial" panose="020B0604020202020204" pitchFamily="34" charset="0"/>
                <a:cs typeface="Arial" panose="020B0604020202020204" pitchFamily="34" charset="0"/>
              </a:rPr>
              <a:t>Mid-Ohio Regional Planning Commission</a:t>
            </a:r>
            <a:br>
              <a:rPr lang="en-US" dirty="0">
                <a:solidFill>
                  <a:schemeClr val="bg1">
                    <a:lumMod val="50000"/>
                  </a:schemeClr>
                </a:solidFill>
                <a:latin typeface="Arial" panose="020B0604020202020204" pitchFamily="34" charset="0"/>
                <a:cs typeface="Arial" panose="020B0604020202020204" pitchFamily="34" charset="0"/>
              </a:rPr>
            </a:br>
            <a:r>
              <a:rPr lang="en-US" b="1" dirty="0">
                <a:solidFill>
                  <a:srgbClr val="459B48"/>
                </a:solidFill>
                <a:latin typeface="Arial" panose="020B0604020202020204" pitchFamily="34" charset="0"/>
                <a:cs typeface="Arial" panose="020B0604020202020204" pitchFamily="34" charset="0"/>
              </a:rPr>
              <a:t>T</a:t>
            </a:r>
            <a:r>
              <a:rPr lang="en-US" dirty="0">
                <a:solidFill>
                  <a:srgbClr val="459B48"/>
                </a:solidFill>
                <a:latin typeface="Arial" panose="020B0604020202020204" pitchFamily="34" charset="0"/>
                <a:cs typeface="Arial" panose="020B0604020202020204" pitchFamily="34" charset="0"/>
              </a:rPr>
              <a:t>: </a:t>
            </a:r>
            <a:r>
              <a:rPr lang="en-US" dirty="0">
                <a:solidFill>
                  <a:schemeClr val="bg1">
                    <a:lumMod val="50000"/>
                  </a:schemeClr>
                </a:solidFill>
                <a:latin typeface="Arial" panose="020B0604020202020204" pitchFamily="34" charset="0"/>
                <a:cs typeface="Arial" panose="020B0604020202020204" pitchFamily="34" charset="0"/>
              </a:rPr>
              <a:t>614.233.4147</a:t>
            </a:r>
          </a:p>
          <a:p>
            <a:r>
              <a:rPr lang="en-US" dirty="0">
                <a:solidFill>
                  <a:schemeClr val="bg1">
                    <a:lumMod val="50000"/>
                  </a:schemeClr>
                </a:solidFill>
                <a:latin typeface="Arial" panose="020B0604020202020204" pitchFamily="34" charset="0"/>
                <a:cs typeface="Arial" panose="020B0604020202020204" pitchFamily="34" charset="0"/>
                <a:hlinkClick r:id="rId2"/>
              </a:rPr>
              <a:t>ddixon@morpc.org</a:t>
            </a:r>
            <a:endParaRPr lang="en-US" dirty="0">
              <a:solidFill>
                <a:schemeClr val="bg1">
                  <a:lumMod val="50000"/>
                </a:schemeClr>
              </a:solidFill>
              <a:latin typeface="Arial" panose="020B0604020202020204" pitchFamily="34" charset="0"/>
              <a:cs typeface="Arial" panose="020B0604020202020204" pitchFamily="34" charset="0"/>
            </a:endParaRPr>
          </a:p>
          <a:p>
            <a:r>
              <a:rPr lang="en-US" dirty="0">
                <a:solidFill>
                  <a:schemeClr val="bg1">
                    <a:lumMod val="50000"/>
                  </a:schemeClr>
                </a:solidFill>
                <a:latin typeface="Arial" panose="020B0604020202020204" pitchFamily="34" charset="0"/>
                <a:cs typeface="Arial" panose="020B0604020202020204" pitchFamily="34" charset="0"/>
              </a:rPr>
              <a:t>111 Liberty Street, Suite 100</a:t>
            </a:r>
          </a:p>
          <a:p>
            <a:r>
              <a:rPr lang="en-US" dirty="0">
                <a:solidFill>
                  <a:schemeClr val="bg1">
                    <a:lumMod val="50000"/>
                  </a:schemeClr>
                </a:solidFill>
                <a:latin typeface="Arial" panose="020B0604020202020204" pitchFamily="34" charset="0"/>
                <a:cs typeface="Arial" panose="020B0604020202020204" pitchFamily="34" charset="0"/>
              </a:rPr>
              <a:t>Columbus, OH 43215 </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2796" y="3961210"/>
            <a:ext cx="2366906" cy="819117"/>
          </a:xfrm>
          <a:prstGeom prst="rect">
            <a:avLst/>
          </a:prstGeom>
        </p:spPr>
      </p:pic>
    </p:spTree>
    <p:extLst>
      <p:ext uri="{BB962C8B-B14F-4D97-AF65-F5344CB8AC3E}">
        <p14:creationId xmlns:p14="http://schemas.microsoft.com/office/powerpoint/2010/main" val="3709496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526F5E1730EC8468E227597D8DF024F" ma:contentTypeVersion="11" ma:contentTypeDescription="Create a new document." ma:contentTypeScope="" ma:versionID="72782e500d8fbfcf92202ba2cc8b3497">
  <xsd:schema xmlns:xsd="http://www.w3.org/2001/XMLSchema" xmlns:xs="http://www.w3.org/2001/XMLSchema" xmlns:p="http://schemas.microsoft.com/office/2006/metadata/properties" xmlns:ns2="c31f3489-9407-47a6-b6bf-042d71feffea" xmlns:ns3="404c7e58-8a52-409c-9a84-2587b77960a1" targetNamespace="http://schemas.microsoft.com/office/2006/metadata/properties" ma:root="true" ma:fieldsID="d173d8a2f4b95442fdfcac27bd1e5051" ns2:_="" ns3:_="">
    <xsd:import namespace="c31f3489-9407-47a6-b6bf-042d71feffea"/>
    <xsd:import namespace="404c7e58-8a52-409c-9a84-2587b77960a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31f3489-9407-47a6-b6bf-042d71feffe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04c7e58-8a52-409c-9a84-2587b77960a1"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F554EAD-43FC-4991-B99A-4270001921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31f3489-9407-47a6-b6bf-042d71feffea"/>
    <ds:schemaRef ds:uri="404c7e58-8a52-409c-9a84-2587b77960a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8DBF31A-CA65-4C94-857F-4ED7E0B3546C}">
  <ds:schemaRefs>
    <ds:schemaRef ds:uri="http://schemas.microsoft.com/sharepoint/v3/contenttype/forms"/>
  </ds:schemaRefs>
</ds:datastoreItem>
</file>

<file path=customXml/itemProps3.xml><?xml version="1.0" encoding="utf-8"?>
<ds:datastoreItem xmlns:ds="http://schemas.openxmlformats.org/officeDocument/2006/customXml" ds:itemID="{E5A84BFE-65DE-43AE-9367-4343C9C926C3}">
  <ds:schemaRefs>
    <ds:schemaRef ds:uri="http://schemas.openxmlformats.org/package/2006/metadata/core-properties"/>
    <ds:schemaRef ds:uri="http://purl.org/dc/dcmitype/"/>
    <ds:schemaRef ds:uri="http://schemas.microsoft.com/office/2006/documentManagement/types"/>
    <ds:schemaRef ds:uri="http://purl.org/dc/terms/"/>
    <ds:schemaRef ds:uri="http://purl.org/dc/elements/1.1/"/>
    <ds:schemaRef ds:uri="http://schemas.microsoft.com/office/infopath/2007/PartnerControls"/>
    <ds:schemaRef ds:uri="http://www.w3.org/XML/1998/namespace"/>
    <ds:schemaRef ds:uri="404c7e58-8a52-409c-9a84-2587b77960a1"/>
    <ds:schemaRef ds:uri="c31f3489-9407-47a6-b6bf-042d71feffea"/>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Office Theme</Template>
  <TotalTime>9025</TotalTime>
  <Words>541</Words>
  <Application>Microsoft Office PowerPoint</Application>
  <PresentationFormat>Widescreen</PresentationFormat>
  <Paragraphs>53</Paragraphs>
  <Slides>6</Slides>
  <Notes>5</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2024-2050 POPULATION FORECASTS</vt:lpstr>
      <vt:lpstr>15-COUNTY REGION (0.89% CAGR)</vt:lpstr>
      <vt:lpstr>15-COUNTY REGION GROWTH</vt:lpstr>
      <vt:lpstr>POPULATION GROWTH</vt:lpstr>
      <vt:lpstr>HOUSING NEED CONTINUES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Hannah Schumick</dc:creator>
  <cp:lastModifiedBy>Adam Porr</cp:lastModifiedBy>
  <cp:revision>256</cp:revision>
  <dcterms:created xsi:type="dcterms:W3CDTF">2019-01-28T15:35:07Z</dcterms:created>
  <dcterms:modified xsi:type="dcterms:W3CDTF">2023-01-30T15:45:34Z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0x010100A526F5E1730EC8468E227597D8DF024F</vt:lpwstr>
  </property>
</Properties>
</file>